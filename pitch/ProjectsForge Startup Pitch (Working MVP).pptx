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Default Extension="png" ContentType="image/png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Montserrat Bold" charset="1" panose="00000800000000000000"/>
      <p:regular r:id="rId27"/>
    </p:embeddedFont>
    <p:embeddedFont>
      <p:font typeface="Open San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910" Type="http://schemas.openxmlformats.org/officeDocument/2006/relationships/image" Target="../media/image101.png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910" Type="http://schemas.openxmlformats.org/officeDocument/2006/relationships/image" Target="../media/image102.png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910" Type="http://schemas.openxmlformats.org/officeDocument/2006/relationships/image" Target="../media/image103.png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1143000"/>
            <a:ext cx="5905500" cy="5905500"/>
            <a:chOff x="0" y="0"/>
            <a:chExt cx="7874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3937000" y="0"/>
                  </a:moveTo>
                  <a:cubicBezTo>
                    <a:pt x="6111345" y="0"/>
                    <a:pt x="7874000" y="1762655"/>
                    <a:pt x="7874000" y="3937000"/>
                  </a:cubicBezTo>
                  <a:cubicBezTo>
                    <a:pt x="7874000" y="6111345"/>
                    <a:pt x="6111345" y="7874000"/>
                    <a:pt x="3937000" y="7874000"/>
                  </a:cubicBezTo>
                  <a:cubicBezTo>
                    <a:pt x="1762655" y="7874000"/>
                    <a:pt x="0" y="6111345"/>
                    <a:pt x="0" y="3937000"/>
                  </a:cubicBezTo>
                  <a:cubicBezTo>
                    <a:pt x="0" y="1762655"/>
                    <a:pt x="1762655" y="0"/>
                    <a:pt x="3937000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06250" y="2000250"/>
            <a:ext cx="4191000" cy="4191000"/>
            <a:chOff x="0" y="0"/>
            <a:chExt cx="5588000" cy="558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4337083" y="0"/>
                    <a:pt x="5588000" y="1250916"/>
                    <a:pt x="5588000" y="2794000"/>
                  </a:cubicBezTo>
                  <a:cubicBezTo>
                    <a:pt x="5588000" y="4337083"/>
                    <a:pt x="4337083" y="5588000"/>
                    <a:pt x="2794000" y="5588000"/>
                  </a:cubicBezTo>
                  <a:cubicBezTo>
                    <a:pt x="1250916" y="5588000"/>
                    <a:pt x="0" y="4337083"/>
                    <a:pt x="0" y="2794000"/>
                  </a:cubicBezTo>
                  <a:cubicBezTo>
                    <a:pt x="0" y="1250916"/>
                    <a:pt x="1250916" y="0"/>
                    <a:pt x="2794000" y="0"/>
                  </a:cubicBezTo>
                  <a:close/>
                </a:path>
              </a:pathLst>
            </a:custGeom>
            <a:ln w="19050" cap="sq">
              <a:solidFill>
                <a:srgbClr val="27486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68250" y="2762250"/>
            <a:ext cx="2667000" cy="2667000"/>
            <a:chOff x="0" y="0"/>
            <a:chExt cx="3556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1778000" y="0"/>
                  </a:moveTo>
                  <a:cubicBezTo>
                    <a:pt x="2759962" y="0"/>
                    <a:pt x="3556000" y="796038"/>
                    <a:pt x="3556000" y="1778000"/>
                  </a:cubicBezTo>
                  <a:cubicBezTo>
                    <a:pt x="3556000" y="2759962"/>
                    <a:pt x="2759962" y="3556000"/>
                    <a:pt x="1778000" y="3556000"/>
                  </a:cubicBezTo>
                  <a:cubicBezTo>
                    <a:pt x="796038" y="3556000"/>
                    <a:pt x="0" y="2759962"/>
                    <a:pt x="0" y="1778000"/>
                  </a:cubicBezTo>
                  <a:cubicBezTo>
                    <a:pt x="0" y="796038"/>
                    <a:pt x="796038" y="0"/>
                    <a:pt x="1778000" y="0"/>
                  </a:cubicBezTo>
                  <a:close/>
                </a:path>
              </a:pathLst>
            </a:custGeom>
            <a:ln w="19050" cap="sq">
              <a:solidFill>
                <a:srgbClr val="27486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5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30250" y="3524250"/>
            <a:ext cx="1143000" cy="1143000"/>
            <a:chOff x="0" y="0"/>
            <a:chExt cx="1524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18A66A"/>
            </a:solidFill>
            <a:ln w="19050" cap="sq">
              <a:solidFill>
                <a:srgbClr val="75AA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7750" y="14859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75AA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→ SKILL → CAREER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2628900"/>
            <a:ext cx="10001250" cy="231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PROJECTS</a:t>
            </a:r>
          </a:p>
          <a:p>
            <a:pPr algn="l">
              <a:lnSpc>
                <a:spcPts val="8712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950" y="5153025"/>
            <a:ext cx="8572500" cy="4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Project Ideas to Career-Ready Skills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950" y="6153150"/>
            <a:ext cx="7620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Helping engineering students discover, build, document and explain the right projects.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" y="7524750"/>
            <a:ext cx="1714500" cy="95250"/>
            <a:chOff x="0" y="0"/>
            <a:chExt cx="2286000" cy="12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286000">
                  <a:moveTo>
                    <a:pt x="63500" y="0"/>
                  </a:moveTo>
                  <a:lnTo>
                    <a:pt x="2222500" y="0"/>
                  </a:lnTo>
                  <a:cubicBezTo>
                    <a:pt x="2257570" y="0"/>
                    <a:pt x="2286000" y="28430"/>
                    <a:pt x="2286000" y="63500"/>
                  </a:cubicBezTo>
                  <a:lnTo>
                    <a:pt x="2286000" y="63500"/>
                  </a:lnTo>
                  <a:cubicBezTo>
                    <a:pt x="2286000" y="98570"/>
                    <a:pt x="2257570" y="127000"/>
                    <a:pt x="22225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86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problem: a fragmented search path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3143250"/>
            <a:ext cx="1666875" cy="1047750"/>
            <a:chOff x="0" y="0"/>
            <a:chExt cx="22225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needs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project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524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2952750" y="3143250"/>
            <a:ext cx="1666875" cy="1047750"/>
            <a:chOff x="0" y="0"/>
            <a:chExt cx="22225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19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048250" y="3143250"/>
            <a:ext cx="1666875" cy="1047750"/>
            <a:chOff x="0" y="0"/>
            <a:chExt cx="22225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Google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715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7143750" y="3143250"/>
            <a:ext cx="1666875" cy="1047750"/>
            <a:chOff x="0" y="0"/>
            <a:chExt cx="22225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YouTube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810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239250" y="3143250"/>
            <a:ext cx="1666875" cy="1047750"/>
            <a:chOff x="0" y="0"/>
            <a:chExt cx="22225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ChatGPT / AI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906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334750" y="3143250"/>
            <a:ext cx="1666875" cy="1047750"/>
            <a:chOff x="0" y="0"/>
            <a:chExt cx="2222500" cy="139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001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3430250" y="3143250"/>
            <a:ext cx="1666875" cy="1047750"/>
            <a:chOff x="0" y="0"/>
            <a:chExt cx="22225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097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5525750" y="3143250"/>
            <a:ext cx="1666875" cy="1047750"/>
            <a:chOff x="0" y="0"/>
            <a:chExt cx="22225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Still unsure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7250" y="5429250"/>
            <a:ext cx="5048250" cy="838200"/>
            <a:chOff x="0" y="0"/>
            <a:chExt cx="6731000" cy="11176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Too many choices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86500" y="5429250"/>
            <a:ext cx="5048250" cy="838200"/>
            <a:chOff x="0" y="0"/>
            <a:chExt cx="6731000" cy="11176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Skill mismatch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15750" y="5429250"/>
            <a:ext cx="5048250" cy="838200"/>
            <a:chOff x="0" y="0"/>
            <a:chExt cx="6731000" cy="11176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Poor planning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7250" y="6619875"/>
            <a:ext cx="5048250" cy="838200"/>
            <a:chOff x="0" y="0"/>
            <a:chExt cx="6731000" cy="11176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Unreliable resources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86500" y="6619875"/>
            <a:ext cx="5048250" cy="838200"/>
            <a:chOff x="0" y="0"/>
            <a:chExt cx="6731000" cy="1117600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Documentation friction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715750" y="6619875"/>
            <a:ext cx="5048250" cy="838200"/>
            <a:chOff x="0" y="0"/>
            <a:chExt cx="6731000" cy="11176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Hard to explain work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57250" y="8201025"/>
            <a:ext cx="8572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HYPOTHESES TO VALIDATE — not proven facts</a:t>
            </a:r>
          </a:p>
        </p:txBody>
      </p:sp>
      <p:sp>
        <p:nvSpPr>
          <p:cNvPr name="AutoShape 67" id="6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students currently solve 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762250"/>
            <a:ext cx="5143500" cy="1619250"/>
            <a:chOff x="0" y="0"/>
            <a:chExt cx="6858000" cy="2159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YT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YouTube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Tutorials &amp; walkthroughs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7000" y="2762250"/>
            <a:ext cx="5143500" cy="1619250"/>
            <a:chOff x="0" y="0"/>
            <a:chExt cx="6858000" cy="2159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AI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ChatGPT / AI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Ideas &amp; explanations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96750" y="2762250"/>
            <a:ext cx="5143500" cy="1619250"/>
            <a:chOff x="0" y="0"/>
            <a:chExt cx="6858000" cy="2159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GH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GitHub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Code &amp; examples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7250" y="4953000"/>
            <a:ext cx="5143500" cy="1619250"/>
            <a:chOff x="0" y="0"/>
            <a:chExt cx="6858000" cy="2159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Professors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Domain guidance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77000" y="4953000"/>
            <a:ext cx="5143500" cy="1619250"/>
            <a:chOff x="0" y="0"/>
            <a:chExt cx="6858000" cy="2159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SR</a:t>
                </a: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Seniors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Lived experience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96750" y="4953000"/>
            <a:ext cx="5143500" cy="1619250"/>
            <a:chOff x="0" y="0"/>
            <a:chExt cx="6858000" cy="2159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WEB</a:t>
                </a: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sites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Browsable idea lists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714500" y="7848600"/>
            <a:ext cx="1485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Students have many resources — but the project journey remains fragmented.</a:t>
            </a:r>
          </a:p>
        </p:txBody>
      </p:sp>
      <p:sp>
        <p:nvSpPr>
          <p:cNvPr name="AutoShape 60" id="6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6000" y="838200"/>
            <a:ext cx="60960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14">
                <a:solidFill>
                  <a:srgbClr val="75AA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KEY QUESTION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6000" y="1638300"/>
            <a:ext cx="13716000" cy="12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3"/>
              </a:lnSpc>
            </a:pPr>
            <a:r>
              <a:rPr lang="en-US" sz="45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If ChatGPT can give students project ideas, why would they need ProjectsForge?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86250" y="8010525"/>
            <a:ext cx="9715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ProjectsForge complements existing tools with a structured workflow.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9250" y="5429250"/>
            <a:ext cx="2095500" cy="1143000"/>
            <a:chOff x="0" y="0"/>
            <a:chExt cx="2794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7147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4857750" y="5429250"/>
            <a:ext cx="2095500" cy="1143000"/>
            <a:chOff x="0" y="0"/>
            <a:chExt cx="27940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YouTube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9532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8096250" y="5429250"/>
            <a:ext cx="2095500" cy="1143000"/>
            <a:chOff x="0" y="0"/>
            <a:chExt cx="279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Examples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1917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1334750" y="5429250"/>
            <a:ext cx="2095500" cy="1143000"/>
            <a:chOff x="0" y="0"/>
            <a:chExt cx="2794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Guidance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4302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4573250" y="5429250"/>
            <a:ext cx="2095500" cy="1143000"/>
            <a:chOff x="0" y="0"/>
            <a:chExt cx="2794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ProjectsForge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Connects journey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067752"/>
            <a:chOff x="0" y="0"/>
            <a:chExt cx="19050000" cy="14236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747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existing platforms provide — and what to test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571750"/>
            <a:ext cx="3429000" cy="666750"/>
            <a:chOff x="0" y="0"/>
            <a:chExt cx="4572000" cy="88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572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PLATFORM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76750" y="2571750"/>
            <a:ext cx="5334000" cy="666750"/>
            <a:chOff x="0" y="0"/>
            <a:chExt cx="7112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112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PROVIDES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01250" y="2571750"/>
            <a:ext cx="7429500" cy="666750"/>
            <a:chOff x="0" y="0"/>
            <a:chExt cx="9906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9906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POTENTIAL GAP PROJECTSFORGE WILL TEST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" y="3333750"/>
            <a:ext cx="16573500" cy="914400"/>
            <a:chOff x="0" y="0"/>
            <a:chExt cx="2209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6800" y="35528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YouTube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6300" y="34956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Tutorials, demos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0800" y="34956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Continuity from idea to evidence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4400550"/>
            <a:ext cx="16573500" cy="914400"/>
            <a:chOff x="0" y="0"/>
            <a:chExt cx="220980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6800" y="46196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ChatGPT /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86300" y="45624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Ideas, explanations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0800" y="45624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Structured ownership &amp; checkpoints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7250" y="5467350"/>
            <a:ext cx="16573500" cy="914400"/>
            <a:chOff x="0" y="0"/>
            <a:chExt cx="220980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6800" y="56864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86300" y="56292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Code, repositories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10800" y="56292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Skill-fit and guided progression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7250" y="6534150"/>
            <a:ext cx="16573500" cy="914400"/>
            <a:chOff x="0" y="0"/>
            <a:chExt cx="220980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66800" y="67532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Professors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86300" y="66960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Expert guidance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10800" y="66960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Scalable follow-through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57250" y="7600950"/>
            <a:ext cx="16573500" cy="914400"/>
            <a:chOff x="0" y="0"/>
            <a:chExt cx="220980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66800" y="78200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Generic project sites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86300" y="77628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Idea lists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10800" y="77628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Personalized execution support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250" y="8848725"/>
            <a:ext cx="8572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Neutral comparison • gaps are hypotheses for validation</a:t>
            </a:r>
          </a:p>
        </p:txBody>
      </p:sp>
      <p:sp>
        <p:nvSpPr>
          <p:cNvPr name="AutoShape 45" id="45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structured journey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2286000"/>
            <a:ext cx="5524500" cy="723900"/>
            <a:chOff x="0" y="0"/>
            <a:chExt cx="7366000" cy="96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  Profile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6096000" y="30099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9429750" y="2286000"/>
            <a:ext cx="5524500" cy="723900"/>
            <a:chOff x="0" y="0"/>
            <a:chExt cx="736600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  Personalized recommendations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6096000" y="30099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3333750" y="3409950"/>
            <a:ext cx="5524500" cy="723900"/>
            <a:chOff x="0" y="0"/>
            <a:chExt cx="7366000" cy="96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   Prerequisites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096000" y="41338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9429750" y="3409950"/>
            <a:ext cx="5524500" cy="723900"/>
            <a:chOff x="0" y="0"/>
            <a:chExt cx="7366000" cy="96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  Learning resources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H="true">
            <a:off x="6096000" y="41338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3333750" y="4533900"/>
            <a:ext cx="5524500" cy="723900"/>
            <a:chOff x="0" y="0"/>
            <a:chExt cx="7366000" cy="96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   Project roadmap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6096000" y="52578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9429750" y="4533900"/>
            <a:ext cx="5524500" cy="723900"/>
            <a:chOff x="0" y="0"/>
            <a:chExt cx="7366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   Milestones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6096000" y="52578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3333750" y="5657850"/>
            <a:ext cx="5524500" cy="723900"/>
            <a:chOff x="0" y="0"/>
            <a:chExt cx="7366000" cy="96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   Build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6096000" y="63817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9429750" y="5657850"/>
            <a:ext cx="5524500" cy="723900"/>
            <a:chOff x="0" y="0"/>
            <a:chExt cx="7366000" cy="965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  GitHub / demo / evidence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6096000" y="63817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3333750" y="6781800"/>
            <a:ext cx="5524500" cy="723900"/>
            <a:chOff x="0" y="0"/>
            <a:chExt cx="7366000" cy="965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   Documentation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6096000" y="75057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0">
            <a:off x="9429750" y="6781800"/>
            <a:ext cx="5524500" cy="723900"/>
            <a:chOff x="0" y="0"/>
            <a:chExt cx="7366000" cy="965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   Viva &amp; presentation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>
            <a:off x="6096000" y="75057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5" id="45"/>
          <p:cNvGrpSpPr/>
          <p:nvPr/>
        </p:nvGrpSpPr>
        <p:grpSpPr>
          <a:xfrm rot="0">
            <a:off x="3333750" y="7905750"/>
            <a:ext cx="5524500" cy="723900"/>
            <a:chOff x="0" y="0"/>
            <a:chExt cx="7366000" cy="965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   Interview preparation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Personalized project discovery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428875"/>
            <a:ext cx="4762500" cy="6191250"/>
            <a:chOff x="0" y="0"/>
            <a:chExt cx="6350000" cy="825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0" cy="8255000"/>
              <a:chOff x="0" y="0"/>
              <a:chExt cx="6350000" cy="825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08000" y="542925"/>
              <a:ext cx="508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PROFILE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08000" y="1301750"/>
              <a:ext cx="4953000" cy="2734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3rd year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Electronics &amp; Communication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Arduino, C, basic electronics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IoT &amp; Embedded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8 weeks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286500" y="2552700"/>
            <a:ext cx="8572500" cy="38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77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Recommended for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6500" y="8623221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 SCREENSHOT — WORKING APP, LOCAL LLM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86500" y="3286125"/>
            <a:ext cx="10763250" cy="1381125"/>
            <a:chOff x="0" y="0"/>
            <a:chExt cx="14351000" cy="1841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Waste Classification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Intermediate • 6 weeks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Matches Python interest; introduces computer vision with a clear demo.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86500" y="4857750"/>
            <a:ext cx="10763250" cy="1381125"/>
            <a:chOff x="0" y="0"/>
            <a:chExt cx="14351000" cy="1841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Smart Energy Monitor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Beginner • 4 weeks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Builds embedded fundamentals around a sustainability use case.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86500" y="6429375"/>
            <a:ext cx="10763250" cy="1381125"/>
            <a:chOff x="0" y="0"/>
            <a:chExt cx="14351000" cy="1841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Campus Water Audit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Beginner • 3 weeks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Low-cost data project with measurable field evidence.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pic xmlns:r="http://schemas.openxmlformats.org/officeDocument/2006/relationships">
        <p:nvPicPr>
          <p:cNvPr id="970" name="Real app screenshot 7"/>
          <p:cNvPicPr>
            <a:picLocks noChangeAspect="1"/>
          </p:cNvPicPr>
          <p:nvPr/>
        </p:nvPicPr>
        <p:blipFill>
          <a:blip r:embed="rId910"/>
          <a:stretch>
            <a:fillRect/>
          </a:stretch>
        </p:blipFill>
        <p:spPr>
          <a:xfrm>
            <a:off x="6291072" y="3108960"/>
            <a:ext cx="10762488" cy="53679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Skill-gap analysis — built and working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333625"/>
            <a:ext cx="3238500" cy="6667500"/>
            <a:chOff x="0" y="0"/>
            <a:chExt cx="4318000" cy="889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318000" cy="8890000"/>
              <a:chOff x="0" y="0"/>
              <a:chExt cx="4318000" cy="889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3180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3180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600075"/>
              <a:ext cx="3429000" cy="815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WASTE</a:t>
              </a:r>
            </a:p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CLASSIFICATION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4500" y="2263775"/>
              <a:ext cx="3175000" cy="135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Intermediate</a:t>
              </a:r>
            </a:p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 weeks</a:t>
              </a:r>
            </a:p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• Vision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67250" y="2476500"/>
            <a:ext cx="95250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Turn a real problem into a build plan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67250" y="3124200"/>
            <a:ext cx="1190625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Classify common waste categories and explain model decisions.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667250" y="4572000"/>
            <a:ext cx="5619750" cy="590550"/>
            <a:chOff x="0" y="0"/>
            <a:chExt cx="7493000" cy="78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Skills required / learned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68000" y="4572000"/>
            <a:ext cx="5619750" cy="590550"/>
            <a:chOff x="0" y="0"/>
            <a:chExt cx="74930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Tech stack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67250" y="5410200"/>
            <a:ext cx="5619750" cy="590550"/>
            <a:chOff x="0" y="0"/>
            <a:chExt cx="7493000" cy="787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Prerequisites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8000" y="5410200"/>
            <a:ext cx="5619750" cy="590550"/>
            <a:chOff x="0" y="0"/>
            <a:chExt cx="7493000" cy="7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Architecture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67250" y="6248400"/>
            <a:ext cx="5619750" cy="590550"/>
            <a:chOff x="0" y="0"/>
            <a:chExt cx="7493000" cy="787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Milestones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68000" y="6248400"/>
            <a:ext cx="5619750" cy="590550"/>
            <a:chOff x="0" y="0"/>
            <a:chExt cx="7493000" cy="787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 resources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7250" y="7086600"/>
            <a:ext cx="5619750" cy="590550"/>
            <a:chOff x="0" y="0"/>
            <a:chExt cx="7493000" cy="787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Deliverables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68000" y="7086600"/>
            <a:ext cx="5619750" cy="590550"/>
            <a:chOff x="0" y="0"/>
            <a:chExt cx="7493000" cy="787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 + demo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667250" y="7924800"/>
            <a:ext cx="5619750" cy="590550"/>
            <a:chOff x="0" y="0"/>
            <a:chExt cx="7493000" cy="787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68000" y="7924800"/>
            <a:ext cx="5619750" cy="590550"/>
            <a:chOff x="0" y="0"/>
            <a:chExt cx="7493000" cy="787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Viva + interview questions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pic xmlns:r="http://schemas.openxmlformats.org/officeDocument/2006/relationships">
        <p:nvPicPr>
          <p:cNvPr id="980" name="Real app screenshot 8"/>
          <p:cNvPicPr>
            <a:picLocks noChangeAspect="1"/>
          </p:cNvPicPr>
          <p:nvPr/>
        </p:nvPicPr>
        <p:blipFill>
          <a:blip r:embed="rId910"/>
          <a:stretch>
            <a:fillRect/>
          </a:stretch>
        </p:blipFill>
        <p:spPr>
          <a:xfrm>
            <a:off x="859536" y="2240280"/>
            <a:ext cx="16194024" cy="6850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Week-by-week roadmap — built and working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500" y="2800350"/>
            <a:ext cx="8620125" cy="476250"/>
            <a:chOff x="0" y="0"/>
            <a:chExt cx="11493500" cy="63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categories &amp; dataset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3667125"/>
            <a:ext cx="8620125" cy="476250"/>
            <a:chOff x="0" y="0"/>
            <a:chExt cx="11493500" cy="635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Clean and label images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500" y="4533900"/>
            <a:ext cx="8620125" cy="476250"/>
            <a:chOff x="0" y="0"/>
            <a:chExt cx="11493500" cy="63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 baseline model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3500" y="5400675"/>
            <a:ext cx="8620125" cy="476250"/>
            <a:chOff x="0" y="0"/>
            <a:chExt cx="11493500" cy="635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Evaluate errors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3500" y="6267450"/>
            <a:ext cx="8620125" cy="476250"/>
            <a:chOff x="0" y="0"/>
            <a:chExt cx="11493500" cy="63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 demo interface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3500" y="7134225"/>
            <a:ext cx="8620125" cy="476250"/>
            <a:chOff x="0" y="0"/>
            <a:chExt cx="11493500" cy="63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Record evidence &amp; reflection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06250" y="2857500"/>
            <a:ext cx="3429000" cy="3429000"/>
            <a:chOff x="0" y="0"/>
            <a:chExt cx="4572000" cy="457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2286000" y="0"/>
                  </a:moveTo>
                  <a:cubicBezTo>
                    <a:pt x="3548523" y="0"/>
                    <a:pt x="4572000" y="1023477"/>
                    <a:pt x="4572000" y="2286000"/>
                  </a:cubicBezTo>
                  <a:cubicBezTo>
                    <a:pt x="4572000" y="3548523"/>
                    <a:pt x="3548523" y="4572000"/>
                    <a:pt x="2286000" y="4572000"/>
                  </a:cubicBezTo>
                  <a:cubicBezTo>
                    <a:pt x="1023477" y="4572000"/>
                    <a:pt x="0" y="3548523"/>
                    <a:pt x="0" y="2286000"/>
                  </a:cubicBezTo>
                  <a:cubicBezTo>
                    <a:pt x="0" y="1023477"/>
                    <a:pt x="1023477" y="0"/>
                    <a:pt x="2286000" y="0"/>
                  </a:cubicBezTo>
                  <a:close/>
                </a:path>
              </a:pathLst>
            </a:custGeom>
            <a:solidFill>
              <a:srgbClr val="EAF2FF"/>
            </a:solidFill>
            <a:ln w="228600" cap="sq">
              <a:solidFill>
                <a:srgbClr val="2F7DF6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572000" cy="461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/ 6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39500" y="7429500"/>
            <a:ext cx="1809750" cy="666750"/>
            <a:chOff x="0" y="0"/>
            <a:chExt cx="2413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I’m stuck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39750" y="7429500"/>
            <a:ext cx="1809750" cy="666750"/>
            <a:chOff x="0" y="0"/>
            <a:chExt cx="2413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Ask for guidance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40000" y="7429500"/>
            <a:ext cx="1809750" cy="666750"/>
            <a:chOff x="0" y="0"/>
            <a:chExt cx="2413000" cy="889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Upload evidence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  <p:pic xmlns:r="http://schemas.openxmlformats.org/officeDocument/2006/relationships">
        <p:nvPicPr>
          <p:cNvPr id="990" name="Real app screenshot 9"/>
          <p:cNvPicPr>
            <a:picLocks noChangeAspect="1"/>
          </p:cNvPicPr>
          <p:nvPr/>
        </p:nvPicPr>
        <p:blipFill>
          <a:blip r:embed="rId910"/>
          <a:stretch>
            <a:fillRect/>
          </a:stretch>
        </p:blipFill>
        <p:spPr>
          <a:xfrm>
            <a:off x="859536" y="2240280"/>
            <a:ext cx="16194024" cy="6850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Validate before scaling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3000375"/>
            <a:ext cx="3143250" cy="1238250"/>
            <a:chOff x="0" y="0"/>
            <a:chExt cx="4191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09575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5238750" y="3000375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38200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9525000" y="3000375"/>
            <a:ext cx="3143250" cy="1238250"/>
            <a:chOff x="0" y="0"/>
            <a:chExt cx="4191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66825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3811250" y="3000375"/>
            <a:ext cx="3143250" cy="1238250"/>
            <a:chOff x="0" y="0"/>
            <a:chExt cx="4191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Find repeated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problems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6954500" y="4238625"/>
            <a:ext cx="0" cy="1000125"/>
          </a:xfrm>
          <a:prstGeom prst="line">
            <a:avLst/>
          </a:prstGeom>
          <a:ln cap="rnd" w="38100">
            <a:solidFill>
              <a:srgbClr val="2F7D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52500" y="5381625"/>
            <a:ext cx="3143250" cy="1238250"/>
            <a:chOff x="0" y="0"/>
            <a:chExt cx="4191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Manual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09575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5238750" y="5381625"/>
            <a:ext cx="3143250" cy="1238250"/>
            <a:chOff x="0" y="0"/>
            <a:chExt cx="4191000" cy="165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Collect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838200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9525000" y="5381625"/>
            <a:ext cx="3143250" cy="1238250"/>
            <a:chOff x="0" y="0"/>
            <a:chExt cx="4191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prototype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66825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3811250" y="5381625"/>
            <a:ext cx="3143250" cy="1238250"/>
            <a:chOff x="0" y="0"/>
            <a:chExt cx="4191000" cy="165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MVP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381500" y="8067675"/>
            <a:ext cx="95250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75AAFF"/>
                </a:solidFill>
                <a:latin typeface="Open Sans"/>
                <a:ea typeface="Open Sans"/>
                <a:cs typeface="Open Sans"/>
                <a:sym typeface="Open Sans"/>
              </a:rPr>
              <a:t>Evidence-driven development. No premature large platform.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Ask about behavior, not approval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524125"/>
            <a:ext cx="7620000" cy="765810"/>
            <a:chOff x="0" y="0"/>
            <a:chExt cx="10160000" cy="10210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889000" y="234950"/>
              <a:ext cx="9271000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“When you need a college project, where do you usually find the idea?”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53500" y="2524125"/>
            <a:ext cx="7620000" cy="495300"/>
            <a:chOff x="0" y="0"/>
            <a:chExt cx="10160000" cy="660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was difficult after selecting the project?”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4191000"/>
            <a:ext cx="7620000" cy="495300"/>
            <a:chOff x="0" y="0"/>
            <a:chExt cx="10160000" cy="660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“How did you know the project matched your skill level?”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53500" y="4191000"/>
            <a:ext cx="7620000" cy="495300"/>
            <a:chOff x="0" y="0"/>
            <a:chExt cx="10160000" cy="660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4</a:t>
                </a: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did you use ChatGPT for?”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5857875"/>
            <a:ext cx="7620000" cy="495300"/>
            <a:chOff x="0" y="0"/>
            <a:chExt cx="10160000" cy="660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5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was still difficult after using those tools?”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53500" y="5857875"/>
            <a:ext cx="7620000" cy="495300"/>
            <a:chOff x="0" y="0"/>
            <a:chExt cx="10160000" cy="6604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6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would you change about your project experience?”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53000" y="7810500"/>
            <a:ext cx="8382000" cy="723900"/>
            <a:chOff x="0" y="0"/>
            <a:chExt cx="11176000" cy="965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7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11176000">
                  <a:moveTo>
                    <a:pt x="17318" y="0"/>
                  </a:moveTo>
                  <a:lnTo>
                    <a:pt x="11158682" y="0"/>
                  </a:lnTo>
                  <a:cubicBezTo>
                    <a:pt x="11163275" y="0"/>
                    <a:pt x="11167680" y="1825"/>
                    <a:pt x="11170927" y="5072"/>
                  </a:cubicBezTo>
                  <a:cubicBezTo>
                    <a:pt x="11174175" y="8320"/>
                    <a:pt x="11176000" y="12725"/>
                    <a:pt x="11176000" y="17318"/>
                  </a:cubicBezTo>
                  <a:lnTo>
                    <a:pt x="11176000" y="947882"/>
                  </a:lnTo>
                  <a:cubicBezTo>
                    <a:pt x="11176000" y="952475"/>
                    <a:pt x="11174175" y="956880"/>
                    <a:pt x="11170927" y="960128"/>
                  </a:cubicBezTo>
                  <a:cubicBezTo>
                    <a:pt x="11167680" y="963375"/>
                    <a:pt x="11163275" y="965200"/>
                    <a:pt x="11158682" y="965200"/>
                  </a:cubicBezTo>
                  <a:lnTo>
                    <a:pt x="17318" y="965200"/>
                  </a:lnTo>
                  <a:cubicBezTo>
                    <a:pt x="12725" y="965200"/>
                    <a:pt x="8320" y="963375"/>
                    <a:pt x="5072" y="960128"/>
                  </a:cubicBezTo>
                  <a:cubicBezTo>
                    <a:pt x="1825" y="956880"/>
                    <a:pt x="0" y="952475"/>
                    <a:pt x="0" y="947882"/>
                  </a:cubicBezTo>
                  <a:lnTo>
                    <a:pt x="0" y="17318"/>
                  </a:lnTo>
                  <a:cubicBezTo>
                    <a:pt x="0" y="12725"/>
                    <a:pt x="1825" y="8320"/>
                    <a:pt x="5072" y="5072"/>
                  </a:cubicBezTo>
                  <a:cubicBezTo>
                    <a:pt x="8320" y="1825"/>
                    <a:pt x="12725" y="0"/>
                    <a:pt x="17318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1176000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AVOID: “Do you like ProjectsForge?”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MVP: only the essential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9536" y="2852928"/>
            <a:ext cx="5093208" cy="1619250"/>
            <a:chOff x="0" y="0"/>
            <a:chExt cx="4953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01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Profile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9944" y="2852928"/>
            <a:ext cx="5093208" cy="1619250"/>
            <a:chOff x="0" y="0"/>
            <a:chExt cx="4953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02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Database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60352" y="2852928"/>
            <a:ext cx="5093208" cy="1619250"/>
            <a:chOff x="0" y="0"/>
            <a:chExt cx="4953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03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Personalized Recommendations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9536" y="5047488"/>
            <a:ext cx="5093208" cy="1619250"/>
            <a:chOff x="0" y="0"/>
            <a:chExt cx="4953000" cy="215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04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Skill-Gap Analysis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9944" y="5047488"/>
            <a:ext cx="5093208" cy="1619250"/>
            <a:chOff x="0" y="0"/>
            <a:chExt cx="4953000" cy="215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05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Week-by-Week Roadmap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0352" y="5047488"/>
            <a:ext cx="5093208" cy="1619250"/>
            <a:chOff x="0" y="0"/>
            <a:chExt cx="4953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06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/ Export Report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200400" y="7848600"/>
            <a:ext cx="118872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 six are built and working today — profile to export, end to end.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layer — built today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3794760"/>
            <a:ext cx="5143500" cy="2148840"/>
            <a:chOff x="0" y="0"/>
            <a:chExt cx="6858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Project recommendation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0" y="3794760"/>
            <a:ext cx="5143500" cy="2148840"/>
            <a:chOff x="0" y="0"/>
            <a:chExt cx="6858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Skill-gap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92000" y="3794760"/>
            <a:ext cx="5143500" cy="2148840"/>
            <a:chOff x="0" y="0"/>
            <a:chExt cx="6858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✓ Personalized roadmap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828800" y="8115300"/>
            <a:ext cx="146304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75AAFF"/>
                </a:solidFill>
                <a:latin typeface="Open Sans"/>
                <a:ea typeface="Open Sans"/>
                <a:cs typeface="Open Sans"/>
                <a:sym typeface="Open Sans"/>
              </a:rPr>
              <a:t>Built: recommendation + skill gap + roadmap — local LLM (phi4-gpu), 16-project dataset, ~30 s per analysis. AI supports learning, not copying.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Professor &amp; industry contribution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9625" y="3857625"/>
            <a:ext cx="2047875" cy="1143000"/>
            <a:chOff x="0" y="0"/>
            <a:chExt cx="27305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857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3286125" y="3857625"/>
            <a:ext cx="2047875" cy="1143000"/>
            <a:chOff x="0" y="0"/>
            <a:chExt cx="27305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idea / challenge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334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762625" y="3857625"/>
            <a:ext cx="2047875" cy="1143000"/>
            <a:chOff x="0" y="0"/>
            <a:chExt cx="27305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ProjectsForge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7810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8239125" y="3857625"/>
            <a:ext cx="2047875" cy="1143000"/>
            <a:chOff x="0" y="0"/>
            <a:chExt cx="27305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Suitable students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287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0715625" y="3857625"/>
            <a:ext cx="2047875" cy="1143000"/>
            <a:chOff x="0" y="0"/>
            <a:chExt cx="27305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2763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3192125" y="3857625"/>
            <a:ext cx="2047875" cy="1143000"/>
            <a:chOff x="0" y="0"/>
            <a:chExt cx="27305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5240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5668625" y="3857625"/>
            <a:ext cx="2047875" cy="1143000"/>
            <a:chOff x="0" y="0"/>
            <a:chExt cx="27305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Verified evidence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762250" y="64484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ATTRIBUTION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76500" y="6972300"/>
            <a:ext cx="4857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Contributor identity stays visible.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63250" y="64484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PERMISSIONS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82250" y="6972300"/>
            <a:ext cx="50482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Publish, edit and review controls.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Evidence-based project verification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01000" y="2286000"/>
            <a:ext cx="2286000" cy="1047750"/>
            <a:chOff x="0" y="0"/>
            <a:chExt cx="30480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 / code evidence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5759" y="3308084"/>
            <a:ext cx="2286000" cy="1047750"/>
            <a:chOff x="0" y="0"/>
            <a:chExt cx="3048000" cy="139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 video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94127" y="5604686"/>
            <a:ext cx="2286000" cy="1047750"/>
            <a:chOff x="0" y="0"/>
            <a:chExt cx="3048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Screenshots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56663" y="7446418"/>
            <a:ext cx="2286000" cy="1047750"/>
            <a:chOff x="0" y="0"/>
            <a:chExt cx="3048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Architecture explanation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45337" y="7446418"/>
            <a:ext cx="2286000" cy="1047750"/>
            <a:chOff x="0" y="0"/>
            <a:chExt cx="3048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contribution statement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07873" y="5604686"/>
            <a:ext cx="2286000" cy="1047750"/>
            <a:chOff x="0" y="0"/>
            <a:chExt cx="304800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56241" y="3308084"/>
            <a:ext cx="2286000" cy="1047750"/>
            <a:chOff x="0" y="0"/>
            <a:chExt cx="3048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 / peer feedback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24750" y="3905250"/>
            <a:ext cx="3238500" cy="3238500"/>
            <a:chOff x="0" y="0"/>
            <a:chExt cx="4318000" cy="431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1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4318000">
                  <a:moveTo>
                    <a:pt x="2159000" y="0"/>
                  </a:moveTo>
                  <a:cubicBezTo>
                    <a:pt x="3351383" y="0"/>
                    <a:pt x="4318000" y="966617"/>
                    <a:pt x="4318000" y="2159000"/>
                  </a:cubicBezTo>
                  <a:cubicBezTo>
                    <a:pt x="4318000" y="3351383"/>
                    <a:pt x="3351383" y="4318000"/>
                    <a:pt x="2159000" y="4318000"/>
                  </a:cubicBezTo>
                  <a:cubicBezTo>
                    <a:pt x="966617" y="4318000"/>
                    <a:pt x="0" y="3351383"/>
                    <a:pt x="0" y="2159000"/>
                  </a:cubicBezTo>
                  <a:cubicBezTo>
                    <a:pt x="0" y="966617"/>
                    <a:pt x="966617" y="0"/>
                    <a:pt x="21590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318000" cy="436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VERIFIED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572000" y="8562975"/>
            <a:ext cx="914400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Verification means documented evidence — not absolute proof of originality.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Turn a project into career evidence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2000" y="4095750"/>
            <a:ext cx="1762125" cy="1095375"/>
            <a:chOff x="0" y="0"/>
            <a:chExt cx="2349500" cy="1460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52412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2905125" y="4095750"/>
            <a:ext cx="1762125" cy="1095375"/>
            <a:chOff x="0" y="0"/>
            <a:chExt cx="2349500" cy="146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6725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048250" y="4095750"/>
            <a:ext cx="1762125" cy="1095375"/>
            <a:chOff x="0" y="0"/>
            <a:chExt cx="2349500" cy="146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Portfolio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81037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7191375" y="4095750"/>
            <a:ext cx="1762125" cy="1095375"/>
            <a:chOff x="0" y="0"/>
            <a:chExt cx="2349500" cy="1460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Resume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5350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334500" y="4095750"/>
            <a:ext cx="1762125" cy="1095375"/>
            <a:chOff x="0" y="0"/>
            <a:chExt cx="2349500" cy="1460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09662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477625" y="4095750"/>
            <a:ext cx="1762125" cy="1095375"/>
            <a:chOff x="0" y="0"/>
            <a:chExt cx="2349500" cy="1460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Viva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23975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3620750" y="4095750"/>
            <a:ext cx="1762125" cy="1095375"/>
            <a:chOff x="0" y="0"/>
            <a:chExt cx="2349500" cy="1460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38287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5763875" y="4095750"/>
            <a:ext cx="1762125" cy="1095375"/>
            <a:chOff x="0" y="0"/>
            <a:chExt cx="2349500" cy="1460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Internship / job readiness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857500" y="6705600"/>
            <a:ext cx="12573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“A project should become evidence of what a student can actually do.”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Business model possibilities to validate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714625"/>
            <a:ext cx="4857750" cy="1238250"/>
            <a:chOff x="0" y="0"/>
            <a:chExt cx="6477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Freemium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81750" y="2714625"/>
            <a:ext cx="4857750" cy="1238250"/>
            <a:chOff x="0" y="0"/>
            <a:chExt cx="6477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Premium project workspace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6250" y="2714625"/>
            <a:ext cx="4857750" cy="1238250"/>
            <a:chOff x="0" y="0"/>
            <a:chExt cx="6477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/ project guidance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" y="4524375"/>
            <a:ext cx="4857750" cy="1238250"/>
            <a:chOff x="0" y="0"/>
            <a:chExt cx="6477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College / institution plans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81750" y="4524375"/>
            <a:ext cx="4857750" cy="1238250"/>
            <a:chOff x="0" y="0"/>
            <a:chExt cx="6477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 review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06250" y="4524375"/>
            <a:ext cx="4857750" cy="1238250"/>
            <a:chOff x="0" y="0"/>
            <a:chExt cx="6477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Industry challenge programs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34000" y="7429500"/>
            <a:ext cx="7620000" cy="1238250"/>
            <a:chOff x="0" y="0"/>
            <a:chExt cx="10160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160000">
                  <a:moveTo>
                    <a:pt x="19050" y="0"/>
                  </a:moveTo>
                  <a:lnTo>
                    <a:pt x="10140950" y="0"/>
                  </a:lnTo>
                  <a:cubicBezTo>
                    <a:pt x="10151471" y="0"/>
                    <a:pt x="10160000" y="8529"/>
                    <a:pt x="10160000" y="19050"/>
                  </a:cubicBezTo>
                  <a:lnTo>
                    <a:pt x="10160000" y="1631950"/>
                  </a:lnTo>
                  <a:cubicBezTo>
                    <a:pt x="10160000" y="1642471"/>
                    <a:pt x="10151471" y="1651000"/>
                    <a:pt x="10140950" y="1651000"/>
                  </a:cubicBezTo>
                  <a:lnTo>
                    <a:pt x="19050" y="1651000"/>
                  </a:lnTo>
                  <a:cubicBezTo>
                    <a:pt x="8529" y="1651000"/>
                    <a:pt x="0" y="1642471"/>
                    <a:pt x="0" y="1631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0160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Recruitment / internship partnerships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34000" y="88201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monetization only after proving user value.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18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90 days: learn, prototype, pilot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ln cap="rnd" w="76200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62125" y="4619625"/>
            <a:ext cx="666750" cy="666750"/>
            <a:chOff x="0" y="0"/>
            <a:chExt cx="889000" cy="88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2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1–2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Interviews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Students • seniors • professors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19625" y="4619625"/>
            <a:ext cx="666750" cy="666750"/>
            <a:chOff x="0" y="0"/>
            <a:chExt cx="889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19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3–4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9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 patterns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9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Repeated problems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77125" y="4619625"/>
            <a:ext cx="666750" cy="666750"/>
            <a:chOff x="0" y="0"/>
            <a:chExt cx="889000" cy="88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77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5–6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77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MVP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7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Human-led recommendations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334625" y="4619625"/>
            <a:ext cx="666750" cy="666750"/>
            <a:chOff x="0" y="0"/>
            <a:chExt cx="889000" cy="88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334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7–8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34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4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Test the workflow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192125" y="4619625"/>
            <a:ext cx="666750" cy="666750"/>
            <a:chOff x="0" y="0"/>
            <a:chExt cx="889000" cy="889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192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9–10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MVP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Essential loop only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49625" y="4619625"/>
            <a:ext cx="666750" cy="666750"/>
            <a:chOff x="0" y="0"/>
            <a:chExt cx="889000" cy="889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049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11–12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49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Pilot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049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Observe student use</a:t>
            </a:r>
          </a:p>
        </p:txBody>
      </p:sp>
      <p:sp>
        <p:nvSpPr>
          <p:cNvPr name="AutoShape 42" id="42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Success means evidence of value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619375"/>
            <a:ext cx="4972050" cy="1047750"/>
            <a:chOff x="0" y="0"/>
            <a:chExt cx="6629400" cy="139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Interviews completed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6477000" y="2619375"/>
            <a:ext cx="4972050" cy="1047750"/>
            <a:chOff x="0" y="0"/>
            <a:chExt cx="6629400" cy="1397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% reporting target problem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2096750" y="2619375"/>
            <a:ext cx="4972050" cy="1047750"/>
            <a:chOff x="0" y="0"/>
            <a:chExt cx="6629400" cy="1397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Testing recommendations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857250" y="4429125"/>
            <a:ext cx="4972050" cy="1047750"/>
            <a:chOff x="0" y="0"/>
            <a:chExt cx="6629400" cy="1397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4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Recommendation usefulness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6477000" y="4429125"/>
            <a:ext cx="4972050" cy="1047750"/>
            <a:chOff x="0" y="0"/>
            <a:chExt cx="6629400" cy="1397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5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Projects saved / started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2096750" y="4429125"/>
            <a:ext cx="4972050" cy="1047750"/>
            <a:chOff x="0" y="0"/>
            <a:chExt cx="6629400" cy="1397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6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Milestones completed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857250" y="6238875"/>
            <a:ext cx="4972050" cy="1047750"/>
            <a:chOff x="0" y="0"/>
            <a:chExt cx="6629400" cy="13970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7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Returning users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6477000" y="6238875"/>
            <a:ext cx="4972050" cy="1047750"/>
            <a:chOff x="0" y="0"/>
            <a:chExt cx="6629400" cy="13970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8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Professor / mentor contributors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12096750" y="6238875"/>
            <a:ext cx="4972050" cy="1047750"/>
            <a:chOff x="0" y="0"/>
            <a:chExt cx="6629400" cy="13970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9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Willingness to pay</a:t>
                </a:r>
              </a:p>
            </p:txBody>
          </p:sp>
        </p:grpSp>
      </p:grpSp>
      <p:sp>
        <p:nvSpPr>
          <p:cNvPr name="TextBox 68" id="68"/>
          <p:cNvSpPr txBox="true"/>
          <p:nvPr/>
        </p:nvSpPr>
        <p:spPr>
          <a:xfrm rot="0">
            <a:off x="5238750" y="8410575"/>
            <a:ext cx="781050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 learning signals first — not vanity metrics.</a:t>
            </a:r>
          </a:p>
        </p:txBody>
      </p:sp>
      <p:sp>
        <p:nvSpPr>
          <p:cNvPr name="AutoShape 69" id="69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9125" y="1095375"/>
            <a:ext cx="1809750" cy="857250"/>
            <a:chOff x="0" y="0"/>
            <a:chExt cx="2413000" cy="114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Students</a:t>
              </a: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144000" y="1524000"/>
            <a:ext cx="0" cy="314325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1912656" y="1830756"/>
            <a:ext cx="1809750" cy="857250"/>
            <a:chOff x="0" y="0"/>
            <a:chExt cx="24130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9144000" y="2259381"/>
            <a:ext cx="3673531" cy="240786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3867301" y="3692805"/>
            <a:ext cx="1809750" cy="857250"/>
            <a:chOff x="0" y="0"/>
            <a:chExt cx="24130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9144000" y="4121430"/>
            <a:ext cx="5628176" cy="54582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188460" y="5810250"/>
            <a:ext cx="1809750" cy="857250"/>
            <a:chOff x="0" y="0"/>
            <a:chExt cx="2413000" cy="114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Industry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9144000" y="4667250"/>
            <a:ext cx="4949335" cy="1571625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193770" y="7192314"/>
            <a:ext cx="1809750" cy="857250"/>
            <a:chOff x="0" y="0"/>
            <a:chExt cx="24130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144000" y="4667250"/>
            <a:ext cx="1954645" cy="295368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6284480" y="7192314"/>
            <a:ext cx="1809750" cy="857250"/>
            <a:chOff x="0" y="0"/>
            <a:chExt cx="2413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7189355" y="4667250"/>
            <a:ext cx="1954645" cy="295368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3289790" y="5810250"/>
            <a:ext cx="1809750" cy="857250"/>
            <a:chOff x="0" y="0"/>
            <a:chExt cx="24130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4194665" y="4667250"/>
            <a:ext cx="4949335" cy="1571625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2610949" y="3692805"/>
            <a:ext cx="1809750" cy="857250"/>
            <a:chOff x="0" y="0"/>
            <a:chExt cx="2413000" cy="114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Portfolios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 flipV="true">
            <a:off x="3515824" y="4121430"/>
            <a:ext cx="5628176" cy="54582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4565594" y="1830756"/>
            <a:ext cx="1809750" cy="857250"/>
            <a:chOff x="0" y="0"/>
            <a:chExt cx="2413000" cy="114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Internships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 flipV="true">
            <a:off x="5470469" y="2259381"/>
            <a:ext cx="3673531" cy="240786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7239000" y="2762250"/>
            <a:ext cx="3810000" cy="3810000"/>
            <a:chOff x="0" y="0"/>
            <a:chExt cx="5080000" cy="508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2540000" y="0"/>
                  </a:moveTo>
                  <a:cubicBezTo>
                    <a:pt x="3942803" y="0"/>
                    <a:pt x="5080000" y="1137197"/>
                    <a:pt x="5080000" y="2540000"/>
                  </a:cubicBezTo>
                  <a:cubicBezTo>
                    <a:pt x="5080000" y="3942803"/>
                    <a:pt x="3942803" y="5080000"/>
                    <a:pt x="2540000" y="5080000"/>
                  </a:cubicBezTo>
                  <a:cubicBezTo>
                    <a:pt x="1137197" y="5080000"/>
                    <a:pt x="0" y="3942803"/>
                    <a:pt x="0" y="2540000"/>
                  </a:cubicBezTo>
                  <a:cubicBezTo>
                    <a:pt x="0" y="1137197"/>
                    <a:pt x="1137197" y="0"/>
                    <a:pt x="25400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080000" cy="514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PROJECTS</a:t>
              </a:r>
            </a:p>
            <a:p>
              <a:pPr algn="ctr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FORGE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857500" y="7800975"/>
            <a:ext cx="125730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project discovery to career development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810000" y="8448675"/>
            <a:ext cx="1066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Helping engineering students turn project ideas into real skills and career evidence.</a:t>
            </a:r>
          </a:p>
        </p:txBody>
      </p:sp>
      <p:sp>
        <p:nvSpPr>
          <p:cNvPr name="AutoShape 43" id="4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DAHW4Gfze1U</dc:identifier>
  <dcterms:modified xsi:type="dcterms:W3CDTF">2011-08-01T06:04:30Z</dcterms:modified>
  <cp:revision>1</cp:revision>
  <dc:title>ProjectsForge Startup Pitch</dc:title>
</cp:coreProperties>
</file>