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8288000" cy="10287000"/>
  <p:notesSz cx="6858000" cy="9144000"/>
  <p:embeddedFontLst>
    <p:embeddedFont>
      <p:font typeface="Open Sans Bold" charset="1" panose="00000000000000000000"/>
      <p:regular r:id="rId26"/>
    </p:embeddedFont>
    <p:embeddedFont>
      <p:font typeface="Montserrat Bold" charset="1" panose="00000800000000000000"/>
      <p:regular r:id="rId27"/>
    </p:embeddedFont>
    <p:embeddedFont>
      <p:font typeface="Open Sans" charset="1" panose="0000000000000000000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049000" y="1143000"/>
            <a:ext cx="5905500" cy="5905500"/>
            <a:chOff x="0" y="0"/>
            <a:chExt cx="7874000" cy="787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874000" cy="7874000"/>
            </a:xfrm>
            <a:custGeom>
              <a:avLst/>
              <a:gdLst/>
              <a:ahLst/>
              <a:cxnLst/>
              <a:rect r="r" b="b" t="t" l="l"/>
              <a:pathLst>
                <a:path h="7874000" w="7874000">
                  <a:moveTo>
                    <a:pt x="3937000" y="0"/>
                  </a:moveTo>
                  <a:cubicBezTo>
                    <a:pt x="6111345" y="0"/>
                    <a:pt x="7874000" y="1762655"/>
                    <a:pt x="7874000" y="3937000"/>
                  </a:cubicBezTo>
                  <a:cubicBezTo>
                    <a:pt x="7874000" y="6111345"/>
                    <a:pt x="6111345" y="7874000"/>
                    <a:pt x="3937000" y="7874000"/>
                  </a:cubicBezTo>
                  <a:cubicBezTo>
                    <a:pt x="1762655" y="7874000"/>
                    <a:pt x="0" y="6111345"/>
                    <a:pt x="0" y="3937000"/>
                  </a:cubicBezTo>
                  <a:cubicBezTo>
                    <a:pt x="0" y="1762655"/>
                    <a:pt x="1762655" y="0"/>
                    <a:pt x="3937000" y="0"/>
                  </a:cubicBezTo>
                  <a:close/>
                </a:path>
              </a:pathLst>
            </a:custGeom>
            <a:solidFill>
              <a:srgbClr val="0E315D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874000" cy="791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906250" y="2000250"/>
            <a:ext cx="4191000" cy="4191000"/>
            <a:chOff x="0" y="0"/>
            <a:chExt cx="5588000" cy="5588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588000" cy="5588000"/>
            </a:xfrm>
            <a:custGeom>
              <a:avLst/>
              <a:gdLst/>
              <a:ahLst/>
              <a:cxnLst/>
              <a:rect r="r" b="b" t="t" l="l"/>
              <a:pathLst>
                <a:path h="5588000" w="5588000">
                  <a:moveTo>
                    <a:pt x="2794000" y="0"/>
                  </a:moveTo>
                  <a:cubicBezTo>
                    <a:pt x="4337083" y="0"/>
                    <a:pt x="5588000" y="1250916"/>
                    <a:pt x="5588000" y="2794000"/>
                  </a:cubicBezTo>
                  <a:cubicBezTo>
                    <a:pt x="5588000" y="4337083"/>
                    <a:pt x="4337083" y="5588000"/>
                    <a:pt x="2794000" y="5588000"/>
                  </a:cubicBezTo>
                  <a:cubicBezTo>
                    <a:pt x="1250916" y="5588000"/>
                    <a:pt x="0" y="4337083"/>
                    <a:pt x="0" y="2794000"/>
                  </a:cubicBezTo>
                  <a:cubicBezTo>
                    <a:pt x="0" y="1250916"/>
                    <a:pt x="1250916" y="0"/>
                    <a:pt x="2794000" y="0"/>
                  </a:cubicBezTo>
                  <a:close/>
                </a:path>
              </a:pathLst>
            </a:custGeom>
            <a:ln w="19050" cap="sq">
              <a:solidFill>
                <a:srgbClr val="27486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588000" cy="562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668250" y="2762250"/>
            <a:ext cx="2667000" cy="2667000"/>
            <a:chOff x="0" y="0"/>
            <a:chExt cx="3556000" cy="355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556000" cy="3556000"/>
            </a:xfrm>
            <a:custGeom>
              <a:avLst/>
              <a:gdLst/>
              <a:ahLst/>
              <a:cxnLst/>
              <a:rect r="r" b="b" t="t" l="l"/>
              <a:pathLst>
                <a:path h="3556000" w="3556000">
                  <a:moveTo>
                    <a:pt x="1778000" y="0"/>
                  </a:moveTo>
                  <a:cubicBezTo>
                    <a:pt x="2759962" y="0"/>
                    <a:pt x="3556000" y="796038"/>
                    <a:pt x="3556000" y="1778000"/>
                  </a:cubicBezTo>
                  <a:cubicBezTo>
                    <a:pt x="3556000" y="2759962"/>
                    <a:pt x="2759962" y="3556000"/>
                    <a:pt x="1778000" y="3556000"/>
                  </a:cubicBezTo>
                  <a:cubicBezTo>
                    <a:pt x="796038" y="3556000"/>
                    <a:pt x="0" y="2759962"/>
                    <a:pt x="0" y="1778000"/>
                  </a:cubicBezTo>
                  <a:cubicBezTo>
                    <a:pt x="0" y="796038"/>
                    <a:pt x="796038" y="0"/>
                    <a:pt x="1778000" y="0"/>
                  </a:cubicBezTo>
                  <a:close/>
                </a:path>
              </a:pathLst>
            </a:custGeom>
            <a:ln w="19050" cap="sq">
              <a:solidFill>
                <a:srgbClr val="27486F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556000" cy="359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430250" y="3524250"/>
            <a:ext cx="1143000" cy="1143000"/>
            <a:chOff x="0" y="0"/>
            <a:chExt cx="1524000" cy="1524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24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1524000">
                  <a:moveTo>
                    <a:pt x="762000" y="0"/>
                  </a:moveTo>
                  <a:cubicBezTo>
                    <a:pt x="1182841" y="0"/>
                    <a:pt x="1524000" y="341159"/>
                    <a:pt x="1524000" y="762000"/>
                  </a:cubicBezTo>
                  <a:cubicBezTo>
                    <a:pt x="1524000" y="1182841"/>
                    <a:pt x="1182841" y="1524000"/>
                    <a:pt x="762000" y="1524000"/>
                  </a:cubicBezTo>
                  <a:cubicBezTo>
                    <a:pt x="341159" y="1524000"/>
                    <a:pt x="0" y="1182841"/>
                    <a:pt x="0" y="762000"/>
                  </a:cubicBezTo>
                  <a:cubicBezTo>
                    <a:pt x="0" y="341159"/>
                    <a:pt x="341159" y="0"/>
                    <a:pt x="762000" y="0"/>
                  </a:cubicBezTo>
                  <a:close/>
                </a:path>
              </a:pathLst>
            </a:custGeom>
            <a:solidFill>
              <a:srgbClr val="18A66A"/>
            </a:solidFill>
            <a:ln w="19050" cap="sq">
              <a:solidFill>
                <a:srgbClr val="75AAFF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5240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047750" y="1485900"/>
            <a:ext cx="6667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32" b="true">
                <a:solidFill>
                  <a:srgbClr val="75AA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PROJECT → SKILL → CAREER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47750" y="2628900"/>
            <a:ext cx="10001250" cy="2316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12"/>
              </a:lnSpc>
            </a:pPr>
            <a:r>
              <a:rPr lang="en-US" sz="99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PROJECTS</a:t>
            </a:r>
          </a:p>
          <a:p>
            <a:pPr algn="l">
              <a:lnSpc>
                <a:spcPts val="8712"/>
              </a:lnSpc>
            </a:pPr>
            <a:r>
              <a:rPr lang="en-US" sz="99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FORGE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23950" y="5153025"/>
            <a:ext cx="8572500" cy="469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7"/>
              </a:lnSpc>
            </a:pPr>
            <a:r>
              <a:rPr lang="en-US" sz="285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From Project Ideas to Career-Ready Skills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23950" y="6153150"/>
            <a:ext cx="7620000" cy="685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B9C8DB"/>
                </a:solidFill>
                <a:latin typeface="Open Sans"/>
                <a:ea typeface="Open Sans"/>
                <a:cs typeface="Open Sans"/>
                <a:sym typeface="Open Sans"/>
              </a:rPr>
              <a:t>Helping engineering students discover, build, document and explain the right projects.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123950" y="7524750"/>
            <a:ext cx="1714500" cy="95250"/>
            <a:chOff x="0" y="0"/>
            <a:chExt cx="2286000" cy="127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86000" cy="127000"/>
            </a:xfrm>
            <a:custGeom>
              <a:avLst/>
              <a:gdLst/>
              <a:ahLst/>
              <a:cxnLst/>
              <a:rect r="r" b="b" t="t" l="l"/>
              <a:pathLst>
                <a:path h="127000" w="2286000">
                  <a:moveTo>
                    <a:pt x="63500" y="0"/>
                  </a:moveTo>
                  <a:lnTo>
                    <a:pt x="2222500" y="0"/>
                  </a:lnTo>
                  <a:cubicBezTo>
                    <a:pt x="2257570" y="0"/>
                    <a:pt x="2286000" y="28430"/>
                    <a:pt x="2286000" y="63500"/>
                  </a:cubicBezTo>
                  <a:lnTo>
                    <a:pt x="2286000" y="63500"/>
                  </a:lnTo>
                  <a:cubicBezTo>
                    <a:pt x="2286000" y="98570"/>
                    <a:pt x="2257570" y="127000"/>
                    <a:pt x="2222500" y="127000"/>
                  </a:cubicBezTo>
                  <a:lnTo>
                    <a:pt x="63500" y="127000"/>
                  </a:lnTo>
                  <a:cubicBezTo>
                    <a:pt x="28430" y="127000"/>
                    <a:pt x="0" y="98570"/>
                    <a:pt x="0" y="635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2F7DF6"/>
            </a:soli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2286000" cy="16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21" id="21"/>
          <p:cNvSpPr/>
          <p:nvPr/>
        </p:nvSpPr>
        <p:spPr>
          <a:xfrm>
            <a:off x="857250" y="9601200"/>
            <a:ext cx="16573500" cy="0"/>
          </a:xfrm>
          <a:prstGeom prst="line">
            <a:avLst/>
          </a:prstGeom>
          <a:ln cap="flat" w="9525">
            <a:solidFill>
              <a:srgbClr val="26364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2" id="22"/>
          <p:cNvSpPr txBox="true"/>
          <p:nvPr/>
        </p:nvSpPr>
        <p:spPr>
          <a:xfrm rot="0">
            <a:off x="857250" y="9772650"/>
            <a:ext cx="2857500" cy="196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PROJECTSFORGE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6764000" y="9772650"/>
            <a:ext cx="666750" cy="196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7250" y="571500"/>
            <a:ext cx="14287500" cy="1111568"/>
            <a:chOff x="0" y="0"/>
            <a:chExt cx="19050000" cy="148209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28575"/>
              <a:ext cx="8255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08" b="true">
                  <a:solidFill>
                    <a:srgbClr val="2F7DF6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02  /  PROJECTSFORGE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676275"/>
              <a:ext cx="19050000" cy="8058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67"/>
                </a:lnSpc>
              </a:pPr>
              <a:r>
                <a:rPr lang="en-US" sz="4350" b="true">
                  <a:solidFill>
                    <a:srgbClr val="101828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The problem: a fragmented search path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57250" y="3143250"/>
            <a:ext cx="1666875" cy="1047750"/>
            <a:chOff x="0" y="0"/>
            <a:chExt cx="2222500" cy="1397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225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2222500">
                  <a:moveTo>
                    <a:pt x="87086" y="0"/>
                  </a:moveTo>
                  <a:lnTo>
                    <a:pt x="2135414" y="0"/>
                  </a:lnTo>
                  <a:cubicBezTo>
                    <a:pt x="2183510" y="0"/>
                    <a:pt x="2222500" y="38990"/>
                    <a:pt x="2222500" y="87086"/>
                  </a:cubicBezTo>
                  <a:lnTo>
                    <a:pt x="2222500" y="1309914"/>
                  </a:lnTo>
                  <a:cubicBezTo>
                    <a:pt x="2222500" y="1358010"/>
                    <a:pt x="2183510" y="1397000"/>
                    <a:pt x="2135414" y="1397000"/>
                  </a:cubicBezTo>
                  <a:lnTo>
                    <a:pt x="87086" y="1397000"/>
                  </a:lnTo>
                  <a:cubicBezTo>
                    <a:pt x="38990" y="1397000"/>
                    <a:pt x="0" y="1358010"/>
                    <a:pt x="0" y="1309914"/>
                  </a:cubicBezTo>
                  <a:lnTo>
                    <a:pt x="0" y="87086"/>
                  </a:lnTo>
                  <a:cubicBezTo>
                    <a:pt x="0" y="38990"/>
                    <a:pt x="38990" y="0"/>
                    <a:pt x="87086" y="0"/>
                  </a:cubicBezTo>
                  <a:close/>
                </a:path>
              </a:pathLst>
            </a:custGeom>
            <a:solidFill>
              <a:srgbClr val="2F7DF6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9525"/>
              <a:ext cx="2222500" cy="1387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32"/>
                </a:lnSpc>
              </a:pPr>
              <a:r>
                <a:rPr lang="en-US" sz="157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Student needs</a:t>
              </a:r>
            </a:p>
            <a:p>
              <a:pPr algn="ctr">
                <a:lnSpc>
                  <a:spcPts val="1732"/>
                </a:lnSpc>
              </a:pPr>
              <a:r>
                <a:rPr lang="en-US" sz="157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 project</a:t>
              </a:r>
            </a:p>
          </p:txBody>
        </p:sp>
      </p:grpSp>
      <p:sp>
        <p:nvSpPr>
          <p:cNvPr name="AutoShape 8" id="8"/>
          <p:cNvSpPr/>
          <p:nvPr/>
        </p:nvSpPr>
        <p:spPr>
          <a:xfrm>
            <a:off x="2524125" y="3667125"/>
            <a:ext cx="381000" cy="0"/>
          </a:xfrm>
          <a:prstGeom prst="line">
            <a:avLst/>
          </a:prstGeom>
          <a:ln cap="rnd" w="38100">
            <a:solidFill>
              <a:srgbClr val="D9E1EC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9" id="9"/>
          <p:cNvGrpSpPr/>
          <p:nvPr/>
        </p:nvGrpSpPr>
        <p:grpSpPr>
          <a:xfrm rot="0">
            <a:off x="2952750" y="3143250"/>
            <a:ext cx="1666875" cy="1047750"/>
            <a:chOff x="0" y="0"/>
            <a:chExt cx="2222500" cy="1397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225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2222500">
                  <a:moveTo>
                    <a:pt x="87086" y="0"/>
                  </a:moveTo>
                  <a:lnTo>
                    <a:pt x="2135414" y="0"/>
                  </a:lnTo>
                  <a:cubicBezTo>
                    <a:pt x="2183510" y="0"/>
                    <a:pt x="2222500" y="38990"/>
                    <a:pt x="2222500" y="87086"/>
                  </a:cubicBezTo>
                  <a:lnTo>
                    <a:pt x="2222500" y="1309914"/>
                  </a:lnTo>
                  <a:cubicBezTo>
                    <a:pt x="2222500" y="1358010"/>
                    <a:pt x="2183510" y="1397000"/>
                    <a:pt x="2135414" y="1397000"/>
                  </a:cubicBezTo>
                  <a:lnTo>
                    <a:pt x="87086" y="1397000"/>
                  </a:lnTo>
                  <a:cubicBezTo>
                    <a:pt x="38990" y="1397000"/>
                    <a:pt x="0" y="1358010"/>
                    <a:pt x="0" y="1309914"/>
                  </a:cubicBezTo>
                  <a:lnTo>
                    <a:pt x="0" y="87086"/>
                  </a:lnTo>
                  <a:cubicBezTo>
                    <a:pt x="0" y="38990"/>
                    <a:pt x="38990" y="0"/>
                    <a:pt x="87086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9525"/>
              <a:ext cx="2222500" cy="1387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32"/>
                </a:lnSpc>
              </a:pPr>
              <a:r>
                <a:rPr lang="en-US" sz="1575" b="true">
                  <a:solidFill>
                    <a:srgbClr val="10182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Seniors</a:t>
              </a:r>
            </a:p>
          </p:txBody>
        </p:sp>
      </p:grpSp>
      <p:sp>
        <p:nvSpPr>
          <p:cNvPr name="AutoShape 12" id="12"/>
          <p:cNvSpPr/>
          <p:nvPr/>
        </p:nvSpPr>
        <p:spPr>
          <a:xfrm>
            <a:off x="4619625" y="3667125"/>
            <a:ext cx="381000" cy="0"/>
          </a:xfrm>
          <a:prstGeom prst="line">
            <a:avLst/>
          </a:prstGeom>
          <a:ln cap="rnd" w="38100">
            <a:solidFill>
              <a:srgbClr val="D9E1EC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3" id="13"/>
          <p:cNvGrpSpPr/>
          <p:nvPr/>
        </p:nvGrpSpPr>
        <p:grpSpPr>
          <a:xfrm rot="0">
            <a:off x="5048250" y="3143250"/>
            <a:ext cx="1666875" cy="1047750"/>
            <a:chOff x="0" y="0"/>
            <a:chExt cx="2222500" cy="1397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225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2222500">
                  <a:moveTo>
                    <a:pt x="87086" y="0"/>
                  </a:moveTo>
                  <a:lnTo>
                    <a:pt x="2135414" y="0"/>
                  </a:lnTo>
                  <a:cubicBezTo>
                    <a:pt x="2183510" y="0"/>
                    <a:pt x="2222500" y="38990"/>
                    <a:pt x="2222500" y="87086"/>
                  </a:cubicBezTo>
                  <a:lnTo>
                    <a:pt x="2222500" y="1309914"/>
                  </a:lnTo>
                  <a:cubicBezTo>
                    <a:pt x="2222500" y="1358010"/>
                    <a:pt x="2183510" y="1397000"/>
                    <a:pt x="2135414" y="1397000"/>
                  </a:cubicBezTo>
                  <a:lnTo>
                    <a:pt x="87086" y="1397000"/>
                  </a:lnTo>
                  <a:cubicBezTo>
                    <a:pt x="38990" y="1397000"/>
                    <a:pt x="0" y="1358010"/>
                    <a:pt x="0" y="1309914"/>
                  </a:cubicBezTo>
                  <a:lnTo>
                    <a:pt x="0" y="87086"/>
                  </a:lnTo>
                  <a:cubicBezTo>
                    <a:pt x="0" y="38990"/>
                    <a:pt x="38990" y="0"/>
                    <a:pt x="87086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9525"/>
              <a:ext cx="2222500" cy="1387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32"/>
                </a:lnSpc>
              </a:pPr>
              <a:r>
                <a:rPr lang="en-US" sz="1575" b="true">
                  <a:solidFill>
                    <a:srgbClr val="10182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Google</a:t>
              </a:r>
            </a:p>
          </p:txBody>
        </p:sp>
      </p:grpSp>
      <p:sp>
        <p:nvSpPr>
          <p:cNvPr name="AutoShape 16" id="16"/>
          <p:cNvSpPr/>
          <p:nvPr/>
        </p:nvSpPr>
        <p:spPr>
          <a:xfrm>
            <a:off x="6715125" y="3667125"/>
            <a:ext cx="381000" cy="0"/>
          </a:xfrm>
          <a:prstGeom prst="line">
            <a:avLst/>
          </a:prstGeom>
          <a:ln cap="rnd" w="38100">
            <a:solidFill>
              <a:srgbClr val="D9E1EC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7" id="17"/>
          <p:cNvGrpSpPr/>
          <p:nvPr/>
        </p:nvGrpSpPr>
        <p:grpSpPr>
          <a:xfrm rot="0">
            <a:off x="7143750" y="3143250"/>
            <a:ext cx="1666875" cy="1047750"/>
            <a:chOff x="0" y="0"/>
            <a:chExt cx="2222500" cy="1397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225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2222500">
                  <a:moveTo>
                    <a:pt x="87086" y="0"/>
                  </a:moveTo>
                  <a:lnTo>
                    <a:pt x="2135414" y="0"/>
                  </a:lnTo>
                  <a:cubicBezTo>
                    <a:pt x="2183510" y="0"/>
                    <a:pt x="2222500" y="38990"/>
                    <a:pt x="2222500" y="87086"/>
                  </a:cubicBezTo>
                  <a:lnTo>
                    <a:pt x="2222500" y="1309914"/>
                  </a:lnTo>
                  <a:cubicBezTo>
                    <a:pt x="2222500" y="1358010"/>
                    <a:pt x="2183510" y="1397000"/>
                    <a:pt x="2135414" y="1397000"/>
                  </a:cubicBezTo>
                  <a:lnTo>
                    <a:pt x="87086" y="1397000"/>
                  </a:lnTo>
                  <a:cubicBezTo>
                    <a:pt x="38990" y="1397000"/>
                    <a:pt x="0" y="1358010"/>
                    <a:pt x="0" y="1309914"/>
                  </a:cubicBezTo>
                  <a:lnTo>
                    <a:pt x="0" y="87086"/>
                  </a:lnTo>
                  <a:cubicBezTo>
                    <a:pt x="0" y="38990"/>
                    <a:pt x="38990" y="0"/>
                    <a:pt x="87086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9525"/>
              <a:ext cx="2222500" cy="1387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32"/>
                </a:lnSpc>
              </a:pPr>
              <a:r>
                <a:rPr lang="en-US" sz="1575" b="true">
                  <a:solidFill>
                    <a:srgbClr val="10182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YouTube</a:t>
              </a:r>
            </a:p>
          </p:txBody>
        </p:sp>
      </p:grpSp>
      <p:sp>
        <p:nvSpPr>
          <p:cNvPr name="AutoShape 20" id="20"/>
          <p:cNvSpPr/>
          <p:nvPr/>
        </p:nvSpPr>
        <p:spPr>
          <a:xfrm>
            <a:off x="8810625" y="3667125"/>
            <a:ext cx="381000" cy="0"/>
          </a:xfrm>
          <a:prstGeom prst="line">
            <a:avLst/>
          </a:prstGeom>
          <a:ln cap="rnd" w="38100">
            <a:solidFill>
              <a:srgbClr val="D9E1EC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1" id="21"/>
          <p:cNvGrpSpPr/>
          <p:nvPr/>
        </p:nvGrpSpPr>
        <p:grpSpPr>
          <a:xfrm rot="0">
            <a:off x="9239250" y="3143250"/>
            <a:ext cx="1666875" cy="1047750"/>
            <a:chOff x="0" y="0"/>
            <a:chExt cx="2222500" cy="1397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2225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2222500">
                  <a:moveTo>
                    <a:pt x="87086" y="0"/>
                  </a:moveTo>
                  <a:lnTo>
                    <a:pt x="2135414" y="0"/>
                  </a:lnTo>
                  <a:cubicBezTo>
                    <a:pt x="2183510" y="0"/>
                    <a:pt x="2222500" y="38990"/>
                    <a:pt x="2222500" y="87086"/>
                  </a:cubicBezTo>
                  <a:lnTo>
                    <a:pt x="2222500" y="1309914"/>
                  </a:lnTo>
                  <a:cubicBezTo>
                    <a:pt x="2222500" y="1358010"/>
                    <a:pt x="2183510" y="1397000"/>
                    <a:pt x="2135414" y="1397000"/>
                  </a:cubicBezTo>
                  <a:lnTo>
                    <a:pt x="87086" y="1397000"/>
                  </a:lnTo>
                  <a:cubicBezTo>
                    <a:pt x="38990" y="1397000"/>
                    <a:pt x="0" y="1358010"/>
                    <a:pt x="0" y="1309914"/>
                  </a:cubicBezTo>
                  <a:lnTo>
                    <a:pt x="0" y="87086"/>
                  </a:lnTo>
                  <a:cubicBezTo>
                    <a:pt x="0" y="38990"/>
                    <a:pt x="38990" y="0"/>
                    <a:pt x="87086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9525"/>
              <a:ext cx="2222500" cy="1387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32"/>
                </a:lnSpc>
              </a:pPr>
              <a:r>
                <a:rPr lang="en-US" sz="1575" b="true">
                  <a:solidFill>
                    <a:srgbClr val="10182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ChatGPT / AI</a:t>
              </a:r>
            </a:p>
          </p:txBody>
        </p:sp>
      </p:grpSp>
      <p:sp>
        <p:nvSpPr>
          <p:cNvPr name="AutoShape 24" id="24"/>
          <p:cNvSpPr/>
          <p:nvPr/>
        </p:nvSpPr>
        <p:spPr>
          <a:xfrm>
            <a:off x="10906125" y="3667125"/>
            <a:ext cx="381000" cy="0"/>
          </a:xfrm>
          <a:prstGeom prst="line">
            <a:avLst/>
          </a:prstGeom>
          <a:ln cap="rnd" w="38100">
            <a:solidFill>
              <a:srgbClr val="D9E1EC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5" id="25"/>
          <p:cNvGrpSpPr/>
          <p:nvPr/>
        </p:nvGrpSpPr>
        <p:grpSpPr>
          <a:xfrm rot="0">
            <a:off x="11334750" y="3143250"/>
            <a:ext cx="1666875" cy="1047750"/>
            <a:chOff x="0" y="0"/>
            <a:chExt cx="2222500" cy="13970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2225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2222500">
                  <a:moveTo>
                    <a:pt x="87086" y="0"/>
                  </a:moveTo>
                  <a:lnTo>
                    <a:pt x="2135414" y="0"/>
                  </a:lnTo>
                  <a:cubicBezTo>
                    <a:pt x="2183510" y="0"/>
                    <a:pt x="2222500" y="38990"/>
                    <a:pt x="2222500" y="87086"/>
                  </a:cubicBezTo>
                  <a:lnTo>
                    <a:pt x="2222500" y="1309914"/>
                  </a:lnTo>
                  <a:cubicBezTo>
                    <a:pt x="2222500" y="1358010"/>
                    <a:pt x="2183510" y="1397000"/>
                    <a:pt x="2135414" y="1397000"/>
                  </a:cubicBezTo>
                  <a:lnTo>
                    <a:pt x="87086" y="1397000"/>
                  </a:lnTo>
                  <a:cubicBezTo>
                    <a:pt x="38990" y="1397000"/>
                    <a:pt x="0" y="1358010"/>
                    <a:pt x="0" y="1309914"/>
                  </a:cubicBezTo>
                  <a:lnTo>
                    <a:pt x="0" y="87086"/>
                  </a:lnTo>
                  <a:cubicBezTo>
                    <a:pt x="0" y="38990"/>
                    <a:pt x="38990" y="0"/>
                    <a:pt x="87086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9525"/>
              <a:ext cx="2222500" cy="1387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32"/>
                </a:lnSpc>
              </a:pPr>
              <a:r>
                <a:rPr lang="en-US" sz="1575" b="true">
                  <a:solidFill>
                    <a:srgbClr val="10182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GitHub</a:t>
              </a:r>
            </a:p>
          </p:txBody>
        </p:sp>
      </p:grpSp>
      <p:sp>
        <p:nvSpPr>
          <p:cNvPr name="AutoShape 28" id="28"/>
          <p:cNvSpPr/>
          <p:nvPr/>
        </p:nvSpPr>
        <p:spPr>
          <a:xfrm>
            <a:off x="13001625" y="3667125"/>
            <a:ext cx="381000" cy="0"/>
          </a:xfrm>
          <a:prstGeom prst="line">
            <a:avLst/>
          </a:prstGeom>
          <a:ln cap="rnd" w="38100">
            <a:solidFill>
              <a:srgbClr val="D9E1EC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9" id="29"/>
          <p:cNvGrpSpPr/>
          <p:nvPr/>
        </p:nvGrpSpPr>
        <p:grpSpPr>
          <a:xfrm rot="0">
            <a:off x="13430250" y="3143250"/>
            <a:ext cx="1666875" cy="1047750"/>
            <a:chOff x="0" y="0"/>
            <a:chExt cx="2222500" cy="1397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2225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2222500">
                  <a:moveTo>
                    <a:pt x="87086" y="0"/>
                  </a:moveTo>
                  <a:lnTo>
                    <a:pt x="2135414" y="0"/>
                  </a:lnTo>
                  <a:cubicBezTo>
                    <a:pt x="2183510" y="0"/>
                    <a:pt x="2222500" y="38990"/>
                    <a:pt x="2222500" y="87086"/>
                  </a:cubicBezTo>
                  <a:lnTo>
                    <a:pt x="2222500" y="1309914"/>
                  </a:lnTo>
                  <a:cubicBezTo>
                    <a:pt x="2222500" y="1358010"/>
                    <a:pt x="2183510" y="1397000"/>
                    <a:pt x="2135414" y="1397000"/>
                  </a:cubicBezTo>
                  <a:lnTo>
                    <a:pt x="87086" y="1397000"/>
                  </a:lnTo>
                  <a:cubicBezTo>
                    <a:pt x="38990" y="1397000"/>
                    <a:pt x="0" y="1358010"/>
                    <a:pt x="0" y="1309914"/>
                  </a:cubicBezTo>
                  <a:lnTo>
                    <a:pt x="0" y="87086"/>
                  </a:lnTo>
                  <a:cubicBezTo>
                    <a:pt x="0" y="38990"/>
                    <a:pt x="38990" y="0"/>
                    <a:pt x="87086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9525"/>
              <a:ext cx="2222500" cy="1387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32"/>
                </a:lnSpc>
              </a:pPr>
              <a:r>
                <a:rPr lang="en-US" sz="1575" b="true">
                  <a:solidFill>
                    <a:srgbClr val="10182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Professor</a:t>
              </a:r>
            </a:p>
          </p:txBody>
        </p:sp>
      </p:grpSp>
      <p:sp>
        <p:nvSpPr>
          <p:cNvPr name="AutoShape 32" id="32"/>
          <p:cNvSpPr/>
          <p:nvPr/>
        </p:nvSpPr>
        <p:spPr>
          <a:xfrm>
            <a:off x="15097125" y="3667125"/>
            <a:ext cx="381000" cy="0"/>
          </a:xfrm>
          <a:prstGeom prst="line">
            <a:avLst/>
          </a:prstGeom>
          <a:ln cap="rnd" w="38100">
            <a:solidFill>
              <a:srgbClr val="D9E1EC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33" id="33"/>
          <p:cNvGrpSpPr/>
          <p:nvPr/>
        </p:nvGrpSpPr>
        <p:grpSpPr>
          <a:xfrm rot="0">
            <a:off x="15525750" y="3143250"/>
            <a:ext cx="1666875" cy="1047750"/>
            <a:chOff x="0" y="0"/>
            <a:chExt cx="2222500" cy="13970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2225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2222500">
                  <a:moveTo>
                    <a:pt x="87086" y="0"/>
                  </a:moveTo>
                  <a:lnTo>
                    <a:pt x="2135414" y="0"/>
                  </a:lnTo>
                  <a:cubicBezTo>
                    <a:pt x="2183510" y="0"/>
                    <a:pt x="2222500" y="38990"/>
                    <a:pt x="2222500" y="87086"/>
                  </a:cubicBezTo>
                  <a:lnTo>
                    <a:pt x="2222500" y="1309914"/>
                  </a:lnTo>
                  <a:cubicBezTo>
                    <a:pt x="2222500" y="1358010"/>
                    <a:pt x="2183510" y="1397000"/>
                    <a:pt x="2135414" y="1397000"/>
                  </a:cubicBezTo>
                  <a:lnTo>
                    <a:pt x="87086" y="1397000"/>
                  </a:lnTo>
                  <a:cubicBezTo>
                    <a:pt x="38990" y="1397000"/>
                    <a:pt x="0" y="1358010"/>
                    <a:pt x="0" y="1309914"/>
                  </a:cubicBezTo>
                  <a:lnTo>
                    <a:pt x="0" y="87086"/>
                  </a:lnTo>
                  <a:cubicBezTo>
                    <a:pt x="0" y="38990"/>
                    <a:pt x="38990" y="0"/>
                    <a:pt x="87086" y="0"/>
                  </a:cubicBezTo>
                  <a:close/>
                </a:path>
              </a:pathLst>
            </a:custGeom>
            <a:solidFill>
              <a:srgbClr val="101828"/>
            </a:solidFill>
            <a:ln cap="sq">
              <a:noFill/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9525"/>
              <a:ext cx="2222500" cy="1387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32"/>
                </a:lnSpc>
              </a:pPr>
              <a:r>
                <a:rPr lang="en-US" sz="157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Still unsure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857250" y="5429250"/>
            <a:ext cx="5048250" cy="838200"/>
            <a:chOff x="0" y="0"/>
            <a:chExt cx="6731000" cy="1117600"/>
          </a:xfrm>
        </p:grpSpPr>
        <p:grpSp>
          <p:nvGrpSpPr>
            <p:cNvPr name="Group 37" id="37"/>
            <p:cNvGrpSpPr/>
            <p:nvPr/>
          </p:nvGrpSpPr>
          <p:grpSpPr>
            <a:xfrm rot="0">
              <a:off x="0" y="0"/>
              <a:ext cx="6731000" cy="1117600"/>
              <a:chOff x="0" y="0"/>
              <a:chExt cx="6731000" cy="1117600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6731000" cy="1117600"/>
              </a:xfrm>
              <a:custGeom>
                <a:avLst/>
                <a:gdLst/>
                <a:ahLst/>
                <a:cxnLst/>
                <a:rect r="r" b="b" t="t" l="l"/>
                <a:pathLst>
                  <a:path h="1117600" w="6731000">
                    <a:moveTo>
                      <a:pt x="0" y="0"/>
                    </a:moveTo>
                    <a:lnTo>
                      <a:pt x="6731000" y="0"/>
                    </a:lnTo>
                    <a:lnTo>
                      <a:pt x="6731000" y="1117600"/>
                    </a:lnTo>
                    <a:lnTo>
                      <a:pt x="0" y="11176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-38100"/>
                <a:ext cx="6731000" cy="1155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0" id="40"/>
            <p:cNvSpPr txBox="true"/>
            <p:nvPr/>
          </p:nvSpPr>
          <p:spPr>
            <a:xfrm rot="0">
              <a:off x="254000" y="225425"/>
              <a:ext cx="6350000" cy="400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101828"/>
                  </a:solidFill>
                  <a:latin typeface="Open Sans"/>
                  <a:ea typeface="Open Sans"/>
                  <a:cs typeface="Open Sans"/>
                  <a:sym typeface="Open Sans"/>
                </a:rPr>
                <a:t>Too many choices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6286500" y="5429250"/>
            <a:ext cx="5048250" cy="838200"/>
            <a:chOff x="0" y="0"/>
            <a:chExt cx="6731000" cy="1117600"/>
          </a:xfrm>
        </p:grpSpPr>
        <p:grpSp>
          <p:nvGrpSpPr>
            <p:cNvPr name="Group 42" id="42"/>
            <p:cNvGrpSpPr/>
            <p:nvPr/>
          </p:nvGrpSpPr>
          <p:grpSpPr>
            <a:xfrm rot="0">
              <a:off x="0" y="0"/>
              <a:ext cx="6731000" cy="1117600"/>
              <a:chOff x="0" y="0"/>
              <a:chExt cx="6731000" cy="1117600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6731000" cy="1117600"/>
              </a:xfrm>
              <a:custGeom>
                <a:avLst/>
                <a:gdLst/>
                <a:ahLst/>
                <a:cxnLst/>
                <a:rect r="r" b="b" t="t" l="l"/>
                <a:pathLst>
                  <a:path h="1117600" w="6731000">
                    <a:moveTo>
                      <a:pt x="0" y="0"/>
                    </a:moveTo>
                    <a:lnTo>
                      <a:pt x="6731000" y="0"/>
                    </a:lnTo>
                    <a:lnTo>
                      <a:pt x="6731000" y="1117600"/>
                    </a:lnTo>
                    <a:lnTo>
                      <a:pt x="0" y="11176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-38100"/>
                <a:ext cx="6731000" cy="1155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5" id="45"/>
            <p:cNvSpPr txBox="true"/>
            <p:nvPr/>
          </p:nvSpPr>
          <p:spPr>
            <a:xfrm rot="0">
              <a:off x="254000" y="225425"/>
              <a:ext cx="6350000" cy="400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101828"/>
                  </a:solidFill>
                  <a:latin typeface="Open Sans"/>
                  <a:ea typeface="Open Sans"/>
                  <a:cs typeface="Open Sans"/>
                  <a:sym typeface="Open Sans"/>
                </a:rPr>
                <a:t>Skill mismatch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1715750" y="5429250"/>
            <a:ext cx="5048250" cy="838200"/>
            <a:chOff x="0" y="0"/>
            <a:chExt cx="6731000" cy="1117600"/>
          </a:xfrm>
        </p:grpSpPr>
        <p:grpSp>
          <p:nvGrpSpPr>
            <p:cNvPr name="Group 47" id="47"/>
            <p:cNvGrpSpPr/>
            <p:nvPr/>
          </p:nvGrpSpPr>
          <p:grpSpPr>
            <a:xfrm rot="0">
              <a:off x="0" y="0"/>
              <a:ext cx="6731000" cy="1117600"/>
              <a:chOff x="0" y="0"/>
              <a:chExt cx="6731000" cy="1117600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6731000" cy="1117600"/>
              </a:xfrm>
              <a:custGeom>
                <a:avLst/>
                <a:gdLst/>
                <a:ahLst/>
                <a:cxnLst/>
                <a:rect r="r" b="b" t="t" l="l"/>
                <a:pathLst>
                  <a:path h="1117600" w="6731000">
                    <a:moveTo>
                      <a:pt x="0" y="0"/>
                    </a:moveTo>
                    <a:lnTo>
                      <a:pt x="6731000" y="0"/>
                    </a:lnTo>
                    <a:lnTo>
                      <a:pt x="6731000" y="1117600"/>
                    </a:lnTo>
                    <a:lnTo>
                      <a:pt x="0" y="11176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9" id="49"/>
              <p:cNvSpPr txBox="true"/>
              <p:nvPr/>
            </p:nvSpPr>
            <p:spPr>
              <a:xfrm>
                <a:off x="0" y="-38100"/>
                <a:ext cx="6731000" cy="1155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50" id="50"/>
            <p:cNvSpPr txBox="true"/>
            <p:nvPr/>
          </p:nvSpPr>
          <p:spPr>
            <a:xfrm rot="0">
              <a:off x="254000" y="225425"/>
              <a:ext cx="6350000" cy="400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101828"/>
                  </a:solidFill>
                  <a:latin typeface="Open Sans"/>
                  <a:ea typeface="Open Sans"/>
                  <a:cs typeface="Open Sans"/>
                  <a:sym typeface="Open Sans"/>
                </a:rPr>
                <a:t>Poor planning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857250" y="6619875"/>
            <a:ext cx="5048250" cy="838200"/>
            <a:chOff x="0" y="0"/>
            <a:chExt cx="6731000" cy="1117600"/>
          </a:xfrm>
        </p:grpSpPr>
        <p:grpSp>
          <p:nvGrpSpPr>
            <p:cNvPr name="Group 52" id="52"/>
            <p:cNvGrpSpPr/>
            <p:nvPr/>
          </p:nvGrpSpPr>
          <p:grpSpPr>
            <a:xfrm rot="0">
              <a:off x="0" y="0"/>
              <a:ext cx="6731000" cy="1117600"/>
              <a:chOff x="0" y="0"/>
              <a:chExt cx="6731000" cy="1117600"/>
            </a:xfrm>
          </p:grpSpPr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6731000" cy="1117600"/>
              </a:xfrm>
              <a:custGeom>
                <a:avLst/>
                <a:gdLst/>
                <a:ahLst/>
                <a:cxnLst/>
                <a:rect r="r" b="b" t="t" l="l"/>
                <a:pathLst>
                  <a:path h="1117600" w="6731000">
                    <a:moveTo>
                      <a:pt x="0" y="0"/>
                    </a:moveTo>
                    <a:lnTo>
                      <a:pt x="6731000" y="0"/>
                    </a:lnTo>
                    <a:lnTo>
                      <a:pt x="6731000" y="1117600"/>
                    </a:lnTo>
                    <a:lnTo>
                      <a:pt x="0" y="11176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4" id="54"/>
              <p:cNvSpPr txBox="true"/>
              <p:nvPr/>
            </p:nvSpPr>
            <p:spPr>
              <a:xfrm>
                <a:off x="0" y="-38100"/>
                <a:ext cx="6731000" cy="1155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55" id="55"/>
            <p:cNvSpPr txBox="true"/>
            <p:nvPr/>
          </p:nvSpPr>
          <p:spPr>
            <a:xfrm rot="0">
              <a:off x="254000" y="225425"/>
              <a:ext cx="6350000" cy="400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101828"/>
                  </a:solidFill>
                  <a:latin typeface="Open Sans"/>
                  <a:ea typeface="Open Sans"/>
                  <a:cs typeface="Open Sans"/>
                  <a:sym typeface="Open Sans"/>
                </a:rPr>
                <a:t>Unreliable resources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6286500" y="6619875"/>
            <a:ext cx="5048250" cy="838200"/>
            <a:chOff x="0" y="0"/>
            <a:chExt cx="6731000" cy="1117600"/>
          </a:xfrm>
        </p:grpSpPr>
        <p:grpSp>
          <p:nvGrpSpPr>
            <p:cNvPr name="Group 57" id="57"/>
            <p:cNvGrpSpPr/>
            <p:nvPr/>
          </p:nvGrpSpPr>
          <p:grpSpPr>
            <a:xfrm rot="0">
              <a:off x="0" y="0"/>
              <a:ext cx="6731000" cy="1117600"/>
              <a:chOff x="0" y="0"/>
              <a:chExt cx="6731000" cy="1117600"/>
            </a:xfrm>
          </p:grpSpPr>
          <p:sp>
            <p:nvSpPr>
              <p:cNvPr name="Freeform 58" id="58"/>
              <p:cNvSpPr/>
              <p:nvPr/>
            </p:nvSpPr>
            <p:spPr>
              <a:xfrm flipH="false" flipV="false" rot="0">
                <a:off x="0" y="0"/>
                <a:ext cx="6731000" cy="1117600"/>
              </a:xfrm>
              <a:custGeom>
                <a:avLst/>
                <a:gdLst/>
                <a:ahLst/>
                <a:cxnLst/>
                <a:rect r="r" b="b" t="t" l="l"/>
                <a:pathLst>
                  <a:path h="1117600" w="6731000">
                    <a:moveTo>
                      <a:pt x="0" y="0"/>
                    </a:moveTo>
                    <a:lnTo>
                      <a:pt x="6731000" y="0"/>
                    </a:lnTo>
                    <a:lnTo>
                      <a:pt x="6731000" y="1117600"/>
                    </a:lnTo>
                    <a:lnTo>
                      <a:pt x="0" y="11176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9" id="59"/>
              <p:cNvSpPr txBox="true"/>
              <p:nvPr/>
            </p:nvSpPr>
            <p:spPr>
              <a:xfrm>
                <a:off x="0" y="-38100"/>
                <a:ext cx="6731000" cy="1155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60" id="60"/>
            <p:cNvSpPr txBox="true"/>
            <p:nvPr/>
          </p:nvSpPr>
          <p:spPr>
            <a:xfrm rot="0">
              <a:off x="254000" y="225425"/>
              <a:ext cx="6350000" cy="400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101828"/>
                  </a:solidFill>
                  <a:latin typeface="Open Sans"/>
                  <a:ea typeface="Open Sans"/>
                  <a:cs typeface="Open Sans"/>
                  <a:sym typeface="Open Sans"/>
                </a:rPr>
                <a:t>Documentation friction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1715750" y="6619875"/>
            <a:ext cx="5048250" cy="838200"/>
            <a:chOff x="0" y="0"/>
            <a:chExt cx="6731000" cy="1117600"/>
          </a:xfrm>
        </p:grpSpPr>
        <p:grpSp>
          <p:nvGrpSpPr>
            <p:cNvPr name="Group 62" id="62"/>
            <p:cNvGrpSpPr/>
            <p:nvPr/>
          </p:nvGrpSpPr>
          <p:grpSpPr>
            <a:xfrm rot="0">
              <a:off x="0" y="0"/>
              <a:ext cx="6731000" cy="1117600"/>
              <a:chOff x="0" y="0"/>
              <a:chExt cx="6731000" cy="1117600"/>
            </a:xfrm>
          </p:grpSpPr>
          <p:sp>
            <p:nvSpPr>
              <p:cNvPr name="Freeform 63" id="63"/>
              <p:cNvSpPr/>
              <p:nvPr/>
            </p:nvSpPr>
            <p:spPr>
              <a:xfrm flipH="false" flipV="false" rot="0">
                <a:off x="0" y="0"/>
                <a:ext cx="6731000" cy="1117600"/>
              </a:xfrm>
              <a:custGeom>
                <a:avLst/>
                <a:gdLst/>
                <a:ahLst/>
                <a:cxnLst/>
                <a:rect r="r" b="b" t="t" l="l"/>
                <a:pathLst>
                  <a:path h="1117600" w="6731000">
                    <a:moveTo>
                      <a:pt x="0" y="0"/>
                    </a:moveTo>
                    <a:lnTo>
                      <a:pt x="6731000" y="0"/>
                    </a:lnTo>
                    <a:lnTo>
                      <a:pt x="6731000" y="1117600"/>
                    </a:lnTo>
                    <a:lnTo>
                      <a:pt x="0" y="11176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4" id="64"/>
              <p:cNvSpPr txBox="true"/>
              <p:nvPr/>
            </p:nvSpPr>
            <p:spPr>
              <a:xfrm>
                <a:off x="0" y="-38100"/>
                <a:ext cx="6731000" cy="1155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65" id="65"/>
            <p:cNvSpPr txBox="true"/>
            <p:nvPr/>
          </p:nvSpPr>
          <p:spPr>
            <a:xfrm rot="0">
              <a:off x="254000" y="225425"/>
              <a:ext cx="6350000" cy="400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101828"/>
                  </a:solidFill>
                  <a:latin typeface="Open Sans"/>
                  <a:ea typeface="Open Sans"/>
                  <a:cs typeface="Open Sans"/>
                  <a:sym typeface="Open Sans"/>
                </a:rPr>
                <a:t>Hard to explain work</a:t>
              </a:r>
            </a:p>
          </p:txBody>
        </p:sp>
      </p:grpSp>
      <p:sp>
        <p:nvSpPr>
          <p:cNvPr name="TextBox 66" id="66"/>
          <p:cNvSpPr txBox="true"/>
          <p:nvPr/>
        </p:nvSpPr>
        <p:spPr>
          <a:xfrm rot="0">
            <a:off x="857250" y="8201025"/>
            <a:ext cx="8572500" cy="27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 spc="126" b="true">
                <a:solidFill>
                  <a:srgbClr val="2F7DF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HYPOTHESES TO VALIDATE — not proven facts</a:t>
            </a:r>
          </a:p>
        </p:txBody>
      </p:sp>
      <p:sp>
        <p:nvSpPr>
          <p:cNvPr name="AutoShape 67" id="67"/>
          <p:cNvSpPr/>
          <p:nvPr/>
        </p:nvSpPr>
        <p:spPr>
          <a:xfrm>
            <a:off x="857250" y="9601200"/>
            <a:ext cx="16573500" cy="0"/>
          </a:xfrm>
          <a:prstGeom prst="line">
            <a:avLst/>
          </a:prstGeom>
          <a:ln cap="flat" w="9525">
            <a:solidFill>
              <a:srgbClr val="D9E1E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8" id="68"/>
          <p:cNvSpPr txBox="true"/>
          <p:nvPr/>
        </p:nvSpPr>
        <p:spPr>
          <a:xfrm rot="0">
            <a:off x="857250" y="9782175"/>
            <a:ext cx="2857500" cy="184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0"/>
              </a:lnSpc>
            </a:pPr>
            <a:r>
              <a:rPr lang="en-US" sz="1200">
                <a:solidFill>
                  <a:srgbClr val="667085"/>
                </a:solidFill>
                <a:latin typeface="Open Sans"/>
                <a:ea typeface="Open Sans"/>
                <a:cs typeface="Open Sans"/>
                <a:sym typeface="Open Sans"/>
              </a:rPr>
              <a:t>PROJECTSFORGE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6764000" y="9782175"/>
            <a:ext cx="666750" cy="184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60"/>
              </a:lnSpc>
            </a:pPr>
            <a:r>
              <a:rPr lang="en-US" sz="1200">
                <a:solidFill>
                  <a:srgbClr val="667085"/>
                </a:solidFill>
                <a:latin typeface="Open Sans"/>
                <a:ea typeface="Open Sans"/>
                <a:cs typeface="Open Sans"/>
                <a:sym typeface="Open San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7250" y="571500"/>
            <a:ext cx="14287500" cy="1111568"/>
            <a:chOff x="0" y="0"/>
            <a:chExt cx="19050000" cy="148209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28575"/>
              <a:ext cx="8255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08" b="true">
                  <a:solidFill>
                    <a:srgbClr val="2F7DF6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03  /  PROJECTSFORGE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676275"/>
              <a:ext cx="19050000" cy="8058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67"/>
                </a:lnSpc>
              </a:pPr>
              <a:r>
                <a:rPr lang="en-US" sz="4350" b="true">
                  <a:solidFill>
                    <a:srgbClr val="101828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How students currently solve it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57250" y="2762250"/>
            <a:ext cx="5143500" cy="1619250"/>
            <a:chOff x="0" y="0"/>
            <a:chExt cx="6858000" cy="2159000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6858000" cy="2159000"/>
              <a:chOff x="0" y="0"/>
              <a:chExt cx="6858000" cy="21590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858000" cy="2159000"/>
              </a:xfrm>
              <a:custGeom>
                <a:avLst/>
                <a:gdLst/>
                <a:ahLst/>
                <a:cxnLst/>
                <a:rect r="r" b="b" t="t" l="l"/>
                <a:pathLst>
                  <a:path h="2159000" w="6858000">
                    <a:moveTo>
                      <a:pt x="0" y="0"/>
                    </a:moveTo>
                    <a:lnTo>
                      <a:pt x="6858000" y="0"/>
                    </a:lnTo>
                    <a:lnTo>
                      <a:pt x="6858000" y="2159000"/>
                    </a:lnTo>
                    <a:lnTo>
                      <a:pt x="0" y="2159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6858000" cy="2197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304800" y="444500"/>
              <a:ext cx="965200" cy="965200"/>
              <a:chOff x="0" y="0"/>
              <a:chExt cx="965200" cy="9652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965200" cy="965200"/>
              </a:xfrm>
              <a:custGeom>
                <a:avLst/>
                <a:gdLst/>
                <a:ahLst/>
                <a:cxnLst/>
                <a:rect r="r" b="b" t="t" l="l"/>
                <a:pathLst>
                  <a:path h="965200" w="965200">
                    <a:moveTo>
                      <a:pt x="482600" y="0"/>
                    </a:moveTo>
                    <a:cubicBezTo>
                      <a:pt x="749133" y="0"/>
                      <a:pt x="965200" y="216067"/>
                      <a:pt x="965200" y="482600"/>
                    </a:cubicBezTo>
                    <a:cubicBezTo>
                      <a:pt x="965200" y="749133"/>
                      <a:pt x="749133" y="965200"/>
                      <a:pt x="482600" y="965200"/>
                    </a:cubicBezTo>
                    <a:cubicBezTo>
                      <a:pt x="216067" y="965200"/>
                      <a:pt x="0" y="749133"/>
                      <a:pt x="0" y="482600"/>
                    </a:cubicBezTo>
                    <a:cubicBezTo>
                      <a:pt x="0" y="216067"/>
                      <a:pt x="216067" y="0"/>
                      <a:pt x="482600" y="0"/>
                    </a:cubicBezTo>
                    <a:close/>
                  </a:path>
                </a:pathLst>
              </a:custGeom>
              <a:solidFill>
                <a:srgbClr val="EAF2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965200" cy="1003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00"/>
                  </a:lnSpc>
                </a:pPr>
                <a:r>
                  <a:rPr lang="en-US" sz="1500" b="true">
                    <a:solidFill>
                      <a:srgbClr val="2F7DF6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YT</a:t>
                </a: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1460500" y="355600"/>
              <a:ext cx="4953000" cy="398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83"/>
                </a:lnSpc>
              </a:pPr>
              <a:r>
                <a:rPr lang="en-US" sz="2175" b="true">
                  <a:solidFill>
                    <a:srgbClr val="101828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YouTube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1460500" y="971550"/>
              <a:ext cx="4953000" cy="3467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45"/>
                </a:lnSpc>
              </a:pPr>
              <a:r>
                <a:rPr lang="en-US" sz="1650">
                  <a:solidFill>
                    <a:srgbClr val="667085"/>
                  </a:solidFill>
                  <a:latin typeface="Open Sans"/>
                  <a:ea typeface="Open Sans"/>
                  <a:cs typeface="Open Sans"/>
                  <a:sym typeface="Open Sans"/>
                </a:rPr>
                <a:t>Tutorials &amp; walkthroughs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477000" y="2762250"/>
            <a:ext cx="5143500" cy="1619250"/>
            <a:chOff x="0" y="0"/>
            <a:chExt cx="6858000" cy="2159000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6858000" cy="2159000"/>
              <a:chOff x="0" y="0"/>
              <a:chExt cx="6858000" cy="21590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6858000" cy="2159000"/>
              </a:xfrm>
              <a:custGeom>
                <a:avLst/>
                <a:gdLst/>
                <a:ahLst/>
                <a:cxnLst/>
                <a:rect r="r" b="b" t="t" l="l"/>
                <a:pathLst>
                  <a:path h="2159000" w="6858000">
                    <a:moveTo>
                      <a:pt x="0" y="0"/>
                    </a:moveTo>
                    <a:lnTo>
                      <a:pt x="6858000" y="0"/>
                    </a:lnTo>
                    <a:lnTo>
                      <a:pt x="6858000" y="2159000"/>
                    </a:lnTo>
                    <a:lnTo>
                      <a:pt x="0" y="2159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6858000" cy="2197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304800" y="444500"/>
              <a:ext cx="965200" cy="965200"/>
              <a:chOff x="0" y="0"/>
              <a:chExt cx="965200" cy="9652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965200" cy="965200"/>
              </a:xfrm>
              <a:custGeom>
                <a:avLst/>
                <a:gdLst/>
                <a:ahLst/>
                <a:cxnLst/>
                <a:rect r="r" b="b" t="t" l="l"/>
                <a:pathLst>
                  <a:path h="965200" w="965200">
                    <a:moveTo>
                      <a:pt x="482600" y="0"/>
                    </a:moveTo>
                    <a:cubicBezTo>
                      <a:pt x="749133" y="0"/>
                      <a:pt x="965200" y="216067"/>
                      <a:pt x="965200" y="482600"/>
                    </a:cubicBezTo>
                    <a:cubicBezTo>
                      <a:pt x="965200" y="749133"/>
                      <a:pt x="749133" y="965200"/>
                      <a:pt x="482600" y="965200"/>
                    </a:cubicBezTo>
                    <a:cubicBezTo>
                      <a:pt x="216067" y="965200"/>
                      <a:pt x="0" y="749133"/>
                      <a:pt x="0" y="482600"/>
                    </a:cubicBezTo>
                    <a:cubicBezTo>
                      <a:pt x="0" y="216067"/>
                      <a:pt x="216067" y="0"/>
                      <a:pt x="482600" y="0"/>
                    </a:cubicBezTo>
                    <a:close/>
                  </a:path>
                </a:pathLst>
              </a:custGeom>
              <a:solidFill>
                <a:srgbClr val="EAF2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965200" cy="1003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00"/>
                  </a:lnSpc>
                </a:pPr>
                <a:r>
                  <a:rPr lang="en-US" sz="1500" b="true">
                    <a:solidFill>
                      <a:srgbClr val="2F7DF6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AI</a:t>
                </a: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1460500" y="355600"/>
              <a:ext cx="4953000" cy="398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83"/>
                </a:lnSpc>
              </a:pPr>
              <a:r>
                <a:rPr lang="en-US" sz="2175" b="true">
                  <a:solidFill>
                    <a:srgbClr val="101828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ChatGPT / AI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1460500" y="971550"/>
              <a:ext cx="4953000" cy="3467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45"/>
                </a:lnSpc>
              </a:pPr>
              <a:r>
                <a:rPr lang="en-US" sz="1650">
                  <a:solidFill>
                    <a:srgbClr val="667085"/>
                  </a:solidFill>
                  <a:latin typeface="Open Sans"/>
                  <a:ea typeface="Open Sans"/>
                  <a:cs typeface="Open Sans"/>
                  <a:sym typeface="Open Sans"/>
                </a:rPr>
                <a:t>Ideas &amp; explanations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096750" y="2762250"/>
            <a:ext cx="5143500" cy="1619250"/>
            <a:chOff x="0" y="0"/>
            <a:chExt cx="6858000" cy="2159000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6858000" cy="2159000"/>
              <a:chOff x="0" y="0"/>
              <a:chExt cx="6858000" cy="21590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6858000" cy="2159000"/>
              </a:xfrm>
              <a:custGeom>
                <a:avLst/>
                <a:gdLst/>
                <a:ahLst/>
                <a:cxnLst/>
                <a:rect r="r" b="b" t="t" l="l"/>
                <a:pathLst>
                  <a:path h="2159000" w="6858000">
                    <a:moveTo>
                      <a:pt x="0" y="0"/>
                    </a:moveTo>
                    <a:lnTo>
                      <a:pt x="6858000" y="0"/>
                    </a:lnTo>
                    <a:lnTo>
                      <a:pt x="6858000" y="2159000"/>
                    </a:lnTo>
                    <a:lnTo>
                      <a:pt x="0" y="2159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38100"/>
                <a:ext cx="6858000" cy="2197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304800" y="444500"/>
              <a:ext cx="965200" cy="965200"/>
              <a:chOff x="0" y="0"/>
              <a:chExt cx="965200" cy="9652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965200" cy="965200"/>
              </a:xfrm>
              <a:custGeom>
                <a:avLst/>
                <a:gdLst/>
                <a:ahLst/>
                <a:cxnLst/>
                <a:rect r="r" b="b" t="t" l="l"/>
                <a:pathLst>
                  <a:path h="965200" w="965200">
                    <a:moveTo>
                      <a:pt x="482600" y="0"/>
                    </a:moveTo>
                    <a:cubicBezTo>
                      <a:pt x="749133" y="0"/>
                      <a:pt x="965200" y="216067"/>
                      <a:pt x="965200" y="482600"/>
                    </a:cubicBezTo>
                    <a:cubicBezTo>
                      <a:pt x="965200" y="749133"/>
                      <a:pt x="749133" y="965200"/>
                      <a:pt x="482600" y="965200"/>
                    </a:cubicBezTo>
                    <a:cubicBezTo>
                      <a:pt x="216067" y="965200"/>
                      <a:pt x="0" y="749133"/>
                      <a:pt x="0" y="482600"/>
                    </a:cubicBezTo>
                    <a:cubicBezTo>
                      <a:pt x="0" y="216067"/>
                      <a:pt x="216067" y="0"/>
                      <a:pt x="482600" y="0"/>
                    </a:cubicBezTo>
                    <a:close/>
                  </a:path>
                </a:pathLst>
              </a:custGeom>
              <a:solidFill>
                <a:srgbClr val="EAF2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38100"/>
                <a:ext cx="965200" cy="1003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00"/>
                  </a:lnSpc>
                </a:pPr>
                <a:r>
                  <a:rPr lang="en-US" sz="1500" b="true">
                    <a:solidFill>
                      <a:srgbClr val="2F7DF6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GH</a:t>
                </a:r>
              </a:p>
            </p:txBody>
          </p:sp>
        </p:grpSp>
        <p:sp>
          <p:nvSpPr>
            <p:cNvPr name="TextBox 30" id="30"/>
            <p:cNvSpPr txBox="true"/>
            <p:nvPr/>
          </p:nvSpPr>
          <p:spPr>
            <a:xfrm rot="0">
              <a:off x="1460500" y="355600"/>
              <a:ext cx="4953000" cy="398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83"/>
                </a:lnSpc>
              </a:pPr>
              <a:r>
                <a:rPr lang="en-US" sz="2175" b="true">
                  <a:solidFill>
                    <a:srgbClr val="101828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GitHub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1460500" y="971550"/>
              <a:ext cx="4953000" cy="3467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45"/>
                </a:lnSpc>
              </a:pPr>
              <a:r>
                <a:rPr lang="en-US" sz="1650">
                  <a:solidFill>
                    <a:srgbClr val="667085"/>
                  </a:solidFill>
                  <a:latin typeface="Open Sans"/>
                  <a:ea typeface="Open Sans"/>
                  <a:cs typeface="Open Sans"/>
                  <a:sym typeface="Open Sans"/>
                </a:rPr>
                <a:t>Code &amp; examples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857250" y="4953000"/>
            <a:ext cx="5143500" cy="1619250"/>
            <a:chOff x="0" y="0"/>
            <a:chExt cx="6858000" cy="2159000"/>
          </a:xfrm>
        </p:grpSpPr>
        <p:grpSp>
          <p:nvGrpSpPr>
            <p:cNvPr name="Group 33" id="33"/>
            <p:cNvGrpSpPr/>
            <p:nvPr/>
          </p:nvGrpSpPr>
          <p:grpSpPr>
            <a:xfrm rot="0">
              <a:off x="0" y="0"/>
              <a:ext cx="6858000" cy="2159000"/>
              <a:chOff x="0" y="0"/>
              <a:chExt cx="6858000" cy="215900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6858000" cy="2159000"/>
              </a:xfrm>
              <a:custGeom>
                <a:avLst/>
                <a:gdLst/>
                <a:ahLst/>
                <a:cxnLst/>
                <a:rect r="r" b="b" t="t" l="l"/>
                <a:pathLst>
                  <a:path h="2159000" w="6858000">
                    <a:moveTo>
                      <a:pt x="0" y="0"/>
                    </a:moveTo>
                    <a:lnTo>
                      <a:pt x="6858000" y="0"/>
                    </a:lnTo>
                    <a:lnTo>
                      <a:pt x="6858000" y="2159000"/>
                    </a:lnTo>
                    <a:lnTo>
                      <a:pt x="0" y="2159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-38100"/>
                <a:ext cx="6858000" cy="2197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304800" y="444500"/>
              <a:ext cx="965200" cy="965200"/>
              <a:chOff x="0" y="0"/>
              <a:chExt cx="965200" cy="96520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965200" cy="965200"/>
              </a:xfrm>
              <a:custGeom>
                <a:avLst/>
                <a:gdLst/>
                <a:ahLst/>
                <a:cxnLst/>
                <a:rect r="r" b="b" t="t" l="l"/>
                <a:pathLst>
                  <a:path h="965200" w="965200">
                    <a:moveTo>
                      <a:pt x="482600" y="0"/>
                    </a:moveTo>
                    <a:cubicBezTo>
                      <a:pt x="749133" y="0"/>
                      <a:pt x="965200" y="216067"/>
                      <a:pt x="965200" y="482600"/>
                    </a:cubicBezTo>
                    <a:cubicBezTo>
                      <a:pt x="965200" y="749133"/>
                      <a:pt x="749133" y="965200"/>
                      <a:pt x="482600" y="965200"/>
                    </a:cubicBezTo>
                    <a:cubicBezTo>
                      <a:pt x="216067" y="965200"/>
                      <a:pt x="0" y="749133"/>
                      <a:pt x="0" y="482600"/>
                    </a:cubicBezTo>
                    <a:cubicBezTo>
                      <a:pt x="0" y="216067"/>
                      <a:pt x="216067" y="0"/>
                      <a:pt x="482600" y="0"/>
                    </a:cubicBezTo>
                    <a:close/>
                  </a:path>
                </a:pathLst>
              </a:custGeom>
              <a:solidFill>
                <a:srgbClr val="EAF2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38100"/>
                <a:ext cx="965200" cy="1003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00"/>
                  </a:lnSpc>
                </a:pPr>
                <a:r>
                  <a:rPr lang="en-US" sz="1500" b="true">
                    <a:solidFill>
                      <a:srgbClr val="2F7DF6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PR</a:t>
                </a:r>
              </a:p>
            </p:txBody>
          </p:sp>
        </p:grpSp>
        <p:sp>
          <p:nvSpPr>
            <p:cNvPr name="TextBox 39" id="39"/>
            <p:cNvSpPr txBox="true"/>
            <p:nvPr/>
          </p:nvSpPr>
          <p:spPr>
            <a:xfrm rot="0">
              <a:off x="1460500" y="355600"/>
              <a:ext cx="4953000" cy="398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83"/>
                </a:lnSpc>
              </a:pPr>
              <a:r>
                <a:rPr lang="en-US" sz="2175" b="true">
                  <a:solidFill>
                    <a:srgbClr val="101828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Professors</a:t>
              </a:r>
            </a:p>
          </p:txBody>
        </p:sp>
        <p:sp>
          <p:nvSpPr>
            <p:cNvPr name="TextBox 40" id="40"/>
            <p:cNvSpPr txBox="true"/>
            <p:nvPr/>
          </p:nvSpPr>
          <p:spPr>
            <a:xfrm rot="0">
              <a:off x="1460500" y="971550"/>
              <a:ext cx="4953000" cy="3467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45"/>
                </a:lnSpc>
              </a:pPr>
              <a:r>
                <a:rPr lang="en-US" sz="1650">
                  <a:solidFill>
                    <a:srgbClr val="667085"/>
                  </a:solidFill>
                  <a:latin typeface="Open Sans"/>
                  <a:ea typeface="Open Sans"/>
                  <a:cs typeface="Open Sans"/>
                  <a:sym typeface="Open Sans"/>
                </a:rPr>
                <a:t>Domain guidance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6477000" y="4953000"/>
            <a:ext cx="5143500" cy="1619250"/>
            <a:chOff x="0" y="0"/>
            <a:chExt cx="6858000" cy="2159000"/>
          </a:xfrm>
        </p:grpSpPr>
        <p:grpSp>
          <p:nvGrpSpPr>
            <p:cNvPr name="Group 42" id="42"/>
            <p:cNvGrpSpPr/>
            <p:nvPr/>
          </p:nvGrpSpPr>
          <p:grpSpPr>
            <a:xfrm rot="0">
              <a:off x="0" y="0"/>
              <a:ext cx="6858000" cy="2159000"/>
              <a:chOff x="0" y="0"/>
              <a:chExt cx="6858000" cy="2159000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6858000" cy="2159000"/>
              </a:xfrm>
              <a:custGeom>
                <a:avLst/>
                <a:gdLst/>
                <a:ahLst/>
                <a:cxnLst/>
                <a:rect r="r" b="b" t="t" l="l"/>
                <a:pathLst>
                  <a:path h="2159000" w="6858000">
                    <a:moveTo>
                      <a:pt x="0" y="0"/>
                    </a:moveTo>
                    <a:lnTo>
                      <a:pt x="6858000" y="0"/>
                    </a:lnTo>
                    <a:lnTo>
                      <a:pt x="6858000" y="2159000"/>
                    </a:lnTo>
                    <a:lnTo>
                      <a:pt x="0" y="2159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-38100"/>
                <a:ext cx="6858000" cy="2197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45" id="45"/>
            <p:cNvGrpSpPr/>
            <p:nvPr/>
          </p:nvGrpSpPr>
          <p:grpSpPr>
            <a:xfrm rot="0">
              <a:off x="304800" y="444500"/>
              <a:ext cx="965200" cy="965200"/>
              <a:chOff x="0" y="0"/>
              <a:chExt cx="965200" cy="965200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965200" cy="965200"/>
              </a:xfrm>
              <a:custGeom>
                <a:avLst/>
                <a:gdLst/>
                <a:ahLst/>
                <a:cxnLst/>
                <a:rect r="r" b="b" t="t" l="l"/>
                <a:pathLst>
                  <a:path h="965200" w="965200">
                    <a:moveTo>
                      <a:pt x="482600" y="0"/>
                    </a:moveTo>
                    <a:cubicBezTo>
                      <a:pt x="749133" y="0"/>
                      <a:pt x="965200" y="216067"/>
                      <a:pt x="965200" y="482600"/>
                    </a:cubicBezTo>
                    <a:cubicBezTo>
                      <a:pt x="965200" y="749133"/>
                      <a:pt x="749133" y="965200"/>
                      <a:pt x="482600" y="965200"/>
                    </a:cubicBezTo>
                    <a:cubicBezTo>
                      <a:pt x="216067" y="965200"/>
                      <a:pt x="0" y="749133"/>
                      <a:pt x="0" y="482600"/>
                    </a:cubicBezTo>
                    <a:cubicBezTo>
                      <a:pt x="0" y="216067"/>
                      <a:pt x="216067" y="0"/>
                      <a:pt x="482600" y="0"/>
                    </a:cubicBezTo>
                    <a:close/>
                  </a:path>
                </a:pathLst>
              </a:custGeom>
              <a:solidFill>
                <a:srgbClr val="EAF2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0" y="-38100"/>
                <a:ext cx="965200" cy="1003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00"/>
                  </a:lnSpc>
                </a:pPr>
                <a:r>
                  <a:rPr lang="en-US" sz="1500" b="true">
                    <a:solidFill>
                      <a:srgbClr val="2F7DF6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SR</a:t>
                </a:r>
              </a:p>
            </p:txBody>
          </p:sp>
        </p:grpSp>
        <p:sp>
          <p:nvSpPr>
            <p:cNvPr name="TextBox 48" id="48"/>
            <p:cNvSpPr txBox="true"/>
            <p:nvPr/>
          </p:nvSpPr>
          <p:spPr>
            <a:xfrm rot="0">
              <a:off x="1460500" y="355600"/>
              <a:ext cx="4953000" cy="398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83"/>
                </a:lnSpc>
              </a:pPr>
              <a:r>
                <a:rPr lang="en-US" sz="2175" b="true">
                  <a:solidFill>
                    <a:srgbClr val="101828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Seniors</a:t>
              </a:r>
            </a:p>
          </p:txBody>
        </p:sp>
        <p:sp>
          <p:nvSpPr>
            <p:cNvPr name="TextBox 49" id="49"/>
            <p:cNvSpPr txBox="true"/>
            <p:nvPr/>
          </p:nvSpPr>
          <p:spPr>
            <a:xfrm rot="0">
              <a:off x="1460500" y="971550"/>
              <a:ext cx="4953000" cy="3467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45"/>
                </a:lnSpc>
              </a:pPr>
              <a:r>
                <a:rPr lang="en-US" sz="1650">
                  <a:solidFill>
                    <a:srgbClr val="667085"/>
                  </a:solidFill>
                  <a:latin typeface="Open Sans"/>
                  <a:ea typeface="Open Sans"/>
                  <a:cs typeface="Open Sans"/>
                  <a:sym typeface="Open Sans"/>
                </a:rPr>
                <a:t>Lived experience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2096750" y="4953000"/>
            <a:ext cx="5143500" cy="1619250"/>
            <a:chOff x="0" y="0"/>
            <a:chExt cx="6858000" cy="2159000"/>
          </a:xfrm>
        </p:grpSpPr>
        <p:grpSp>
          <p:nvGrpSpPr>
            <p:cNvPr name="Group 51" id="51"/>
            <p:cNvGrpSpPr/>
            <p:nvPr/>
          </p:nvGrpSpPr>
          <p:grpSpPr>
            <a:xfrm rot="0">
              <a:off x="0" y="0"/>
              <a:ext cx="6858000" cy="2159000"/>
              <a:chOff x="0" y="0"/>
              <a:chExt cx="6858000" cy="2159000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6858000" cy="2159000"/>
              </a:xfrm>
              <a:custGeom>
                <a:avLst/>
                <a:gdLst/>
                <a:ahLst/>
                <a:cxnLst/>
                <a:rect r="r" b="b" t="t" l="l"/>
                <a:pathLst>
                  <a:path h="2159000" w="6858000">
                    <a:moveTo>
                      <a:pt x="0" y="0"/>
                    </a:moveTo>
                    <a:lnTo>
                      <a:pt x="6858000" y="0"/>
                    </a:lnTo>
                    <a:lnTo>
                      <a:pt x="6858000" y="2159000"/>
                    </a:lnTo>
                    <a:lnTo>
                      <a:pt x="0" y="2159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-38100"/>
                <a:ext cx="6858000" cy="2197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54" id="54"/>
            <p:cNvGrpSpPr/>
            <p:nvPr/>
          </p:nvGrpSpPr>
          <p:grpSpPr>
            <a:xfrm rot="0">
              <a:off x="304800" y="444500"/>
              <a:ext cx="965200" cy="965200"/>
              <a:chOff x="0" y="0"/>
              <a:chExt cx="965200" cy="965200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965200" cy="965200"/>
              </a:xfrm>
              <a:custGeom>
                <a:avLst/>
                <a:gdLst/>
                <a:ahLst/>
                <a:cxnLst/>
                <a:rect r="r" b="b" t="t" l="l"/>
                <a:pathLst>
                  <a:path h="965200" w="965200">
                    <a:moveTo>
                      <a:pt x="482600" y="0"/>
                    </a:moveTo>
                    <a:cubicBezTo>
                      <a:pt x="749133" y="0"/>
                      <a:pt x="965200" y="216067"/>
                      <a:pt x="965200" y="482600"/>
                    </a:cubicBezTo>
                    <a:cubicBezTo>
                      <a:pt x="965200" y="749133"/>
                      <a:pt x="749133" y="965200"/>
                      <a:pt x="482600" y="965200"/>
                    </a:cubicBezTo>
                    <a:cubicBezTo>
                      <a:pt x="216067" y="965200"/>
                      <a:pt x="0" y="749133"/>
                      <a:pt x="0" y="482600"/>
                    </a:cubicBezTo>
                    <a:cubicBezTo>
                      <a:pt x="0" y="216067"/>
                      <a:pt x="216067" y="0"/>
                      <a:pt x="482600" y="0"/>
                    </a:cubicBezTo>
                    <a:close/>
                  </a:path>
                </a:pathLst>
              </a:custGeom>
              <a:solidFill>
                <a:srgbClr val="EAF2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6" id="56"/>
              <p:cNvSpPr txBox="true"/>
              <p:nvPr/>
            </p:nvSpPr>
            <p:spPr>
              <a:xfrm>
                <a:off x="0" y="-38100"/>
                <a:ext cx="965200" cy="1003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00"/>
                  </a:lnSpc>
                </a:pPr>
                <a:r>
                  <a:rPr lang="en-US" sz="1500" b="true">
                    <a:solidFill>
                      <a:srgbClr val="2F7DF6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WEB</a:t>
                </a:r>
              </a:p>
            </p:txBody>
          </p:sp>
        </p:grpSp>
        <p:sp>
          <p:nvSpPr>
            <p:cNvPr name="TextBox 57" id="57"/>
            <p:cNvSpPr txBox="true"/>
            <p:nvPr/>
          </p:nvSpPr>
          <p:spPr>
            <a:xfrm rot="0">
              <a:off x="1460500" y="355600"/>
              <a:ext cx="4953000" cy="398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83"/>
                </a:lnSpc>
              </a:pPr>
              <a:r>
                <a:rPr lang="en-US" sz="2175" b="true">
                  <a:solidFill>
                    <a:srgbClr val="101828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Project sites</a:t>
              </a:r>
            </a:p>
          </p:txBody>
        </p:sp>
        <p:sp>
          <p:nvSpPr>
            <p:cNvPr name="TextBox 58" id="58"/>
            <p:cNvSpPr txBox="true"/>
            <p:nvPr/>
          </p:nvSpPr>
          <p:spPr>
            <a:xfrm rot="0">
              <a:off x="1460500" y="971550"/>
              <a:ext cx="4953000" cy="3467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45"/>
                </a:lnSpc>
              </a:pPr>
              <a:r>
                <a:rPr lang="en-US" sz="1650">
                  <a:solidFill>
                    <a:srgbClr val="667085"/>
                  </a:solidFill>
                  <a:latin typeface="Open Sans"/>
                  <a:ea typeface="Open Sans"/>
                  <a:cs typeface="Open Sans"/>
                  <a:sym typeface="Open Sans"/>
                </a:rPr>
                <a:t>Browsable idea lists</a:t>
              </a:r>
            </a:p>
          </p:txBody>
        </p:sp>
      </p:grpSp>
      <p:sp>
        <p:nvSpPr>
          <p:cNvPr name="TextBox 59" id="59"/>
          <p:cNvSpPr txBox="true"/>
          <p:nvPr/>
        </p:nvSpPr>
        <p:spPr>
          <a:xfrm rot="0">
            <a:off x="1714500" y="7848600"/>
            <a:ext cx="14859000" cy="321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400" b="true">
                <a:solidFill>
                  <a:srgbClr val="10182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Students have many resources — but the project journey remains fragmented.</a:t>
            </a:r>
          </a:p>
        </p:txBody>
      </p:sp>
      <p:sp>
        <p:nvSpPr>
          <p:cNvPr name="AutoShape 60" id="60"/>
          <p:cNvSpPr/>
          <p:nvPr/>
        </p:nvSpPr>
        <p:spPr>
          <a:xfrm>
            <a:off x="857250" y="9601200"/>
            <a:ext cx="16573500" cy="0"/>
          </a:xfrm>
          <a:prstGeom prst="line">
            <a:avLst/>
          </a:prstGeom>
          <a:ln cap="flat" w="9525">
            <a:solidFill>
              <a:srgbClr val="D9E1E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1" id="61"/>
          <p:cNvSpPr txBox="true"/>
          <p:nvPr/>
        </p:nvSpPr>
        <p:spPr>
          <a:xfrm rot="0">
            <a:off x="857250" y="9782175"/>
            <a:ext cx="2857500" cy="184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0"/>
              </a:lnSpc>
            </a:pPr>
            <a:r>
              <a:rPr lang="en-US" sz="1200">
                <a:solidFill>
                  <a:srgbClr val="667085"/>
                </a:solidFill>
                <a:latin typeface="Open Sans"/>
                <a:ea typeface="Open Sans"/>
                <a:cs typeface="Open Sans"/>
                <a:sym typeface="Open Sans"/>
              </a:rPr>
              <a:t>PROJECTSFORGE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6764000" y="9782175"/>
            <a:ext cx="666750" cy="184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60"/>
              </a:lnSpc>
            </a:pPr>
            <a:r>
              <a:rPr lang="en-US" sz="1200">
                <a:solidFill>
                  <a:srgbClr val="667085"/>
                </a:solidFill>
                <a:latin typeface="Open Sans"/>
                <a:ea typeface="Open Sans"/>
                <a:cs typeface="Open Sans"/>
                <a:sym typeface="Open San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096000" y="838200"/>
            <a:ext cx="6096000" cy="230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95"/>
              </a:lnSpc>
            </a:pPr>
            <a:r>
              <a:rPr lang="en-US" b="true" sz="1425" spc="114">
                <a:solidFill>
                  <a:srgbClr val="75AA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THE KEY QUESTION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286000" y="1638300"/>
            <a:ext cx="13716000" cy="1239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3"/>
              </a:lnSpc>
            </a:pPr>
            <a:r>
              <a:rPr lang="en-US" sz="4575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If ChatGPT can give students project ideas, why would they need ProjectsForge?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286250" y="8010525"/>
            <a:ext cx="9715500" cy="342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3"/>
              </a:lnSpc>
            </a:pPr>
            <a:r>
              <a:rPr lang="en-US" sz="2025">
                <a:solidFill>
                  <a:srgbClr val="B9C8DB"/>
                </a:solidFill>
                <a:latin typeface="Open Sans"/>
                <a:ea typeface="Open Sans"/>
                <a:cs typeface="Open Sans"/>
                <a:sym typeface="Open Sans"/>
              </a:rPr>
              <a:t>ProjectsForge complements existing tools with a structured workflow.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619250" y="5429250"/>
            <a:ext cx="2095500" cy="1143000"/>
            <a:chOff x="0" y="0"/>
            <a:chExt cx="2794000" cy="1524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94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2794000">
                  <a:moveTo>
                    <a:pt x="69273" y="0"/>
                  </a:moveTo>
                  <a:lnTo>
                    <a:pt x="2724727" y="0"/>
                  </a:lnTo>
                  <a:cubicBezTo>
                    <a:pt x="2743100" y="0"/>
                    <a:pt x="2760719" y="7298"/>
                    <a:pt x="2773711" y="20290"/>
                  </a:cubicBezTo>
                  <a:cubicBezTo>
                    <a:pt x="2786702" y="33281"/>
                    <a:pt x="2794000" y="50900"/>
                    <a:pt x="2794000" y="69273"/>
                  </a:cubicBezTo>
                  <a:lnTo>
                    <a:pt x="2794000" y="1454727"/>
                  </a:lnTo>
                  <a:cubicBezTo>
                    <a:pt x="2794000" y="1473100"/>
                    <a:pt x="2786702" y="1490719"/>
                    <a:pt x="2773711" y="1503711"/>
                  </a:cubicBezTo>
                  <a:cubicBezTo>
                    <a:pt x="2760719" y="1516702"/>
                    <a:pt x="2743100" y="1524000"/>
                    <a:pt x="2724727" y="1524000"/>
                  </a:cubicBezTo>
                  <a:lnTo>
                    <a:pt x="69273" y="1524000"/>
                  </a:lnTo>
                  <a:cubicBezTo>
                    <a:pt x="50900" y="1524000"/>
                    <a:pt x="33281" y="1516702"/>
                    <a:pt x="20290" y="1503711"/>
                  </a:cubicBezTo>
                  <a:cubicBezTo>
                    <a:pt x="7298" y="1490719"/>
                    <a:pt x="0" y="1473100"/>
                    <a:pt x="0" y="1454727"/>
                  </a:cubicBezTo>
                  <a:lnTo>
                    <a:pt x="0" y="69273"/>
                  </a:lnTo>
                  <a:cubicBezTo>
                    <a:pt x="0" y="50900"/>
                    <a:pt x="7298" y="33281"/>
                    <a:pt x="20290" y="20290"/>
                  </a:cubicBezTo>
                  <a:cubicBezTo>
                    <a:pt x="33281" y="7298"/>
                    <a:pt x="50900" y="0"/>
                    <a:pt x="69273" y="0"/>
                  </a:cubicBezTo>
                  <a:close/>
                </a:path>
              </a:pathLst>
            </a:custGeom>
            <a:solidFill>
              <a:srgbClr val="13243A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28575"/>
              <a:ext cx="2794000" cy="1495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7"/>
                </a:lnSpc>
              </a:pPr>
              <a:r>
                <a:rPr lang="en-US" sz="172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AI</a:t>
              </a:r>
            </a:p>
            <a:p>
              <a:pPr algn="ctr">
                <a:lnSpc>
                  <a:spcPts val="1897"/>
                </a:lnSpc>
              </a:pPr>
              <a:r>
                <a:rPr lang="en-US" sz="172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Ideas</a:t>
              </a:r>
            </a:p>
          </p:txBody>
        </p:sp>
      </p:grpSp>
      <p:sp>
        <p:nvSpPr>
          <p:cNvPr name="AutoShape 8" id="8"/>
          <p:cNvSpPr/>
          <p:nvPr/>
        </p:nvSpPr>
        <p:spPr>
          <a:xfrm>
            <a:off x="3714750" y="6000750"/>
            <a:ext cx="952500" cy="0"/>
          </a:xfrm>
          <a:prstGeom prst="line">
            <a:avLst/>
          </a:prstGeom>
          <a:ln cap="rnd" w="38100">
            <a:solidFill>
              <a:srgbClr val="35577D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9" id="9"/>
          <p:cNvGrpSpPr/>
          <p:nvPr/>
        </p:nvGrpSpPr>
        <p:grpSpPr>
          <a:xfrm rot="0">
            <a:off x="4857750" y="5429250"/>
            <a:ext cx="2095500" cy="1143000"/>
            <a:chOff x="0" y="0"/>
            <a:chExt cx="2794000" cy="1524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794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2794000">
                  <a:moveTo>
                    <a:pt x="69273" y="0"/>
                  </a:moveTo>
                  <a:lnTo>
                    <a:pt x="2724727" y="0"/>
                  </a:lnTo>
                  <a:cubicBezTo>
                    <a:pt x="2743100" y="0"/>
                    <a:pt x="2760719" y="7298"/>
                    <a:pt x="2773711" y="20290"/>
                  </a:cubicBezTo>
                  <a:cubicBezTo>
                    <a:pt x="2786702" y="33281"/>
                    <a:pt x="2794000" y="50900"/>
                    <a:pt x="2794000" y="69273"/>
                  </a:cubicBezTo>
                  <a:lnTo>
                    <a:pt x="2794000" y="1454727"/>
                  </a:lnTo>
                  <a:cubicBezTo>
                    <a:pt x="2794000" y="1473100"/>
                    <a:pt x="2786702" y="1490719"/>
                    <a:pt x="2773711" y="1503711"/>
                  </a:cubicBezTo>
                  <a:cubicBezTo>
                    <a:pt x="2760719" y="1516702"/>
                    <a:pt x="2743100" y="1524000"/>
                    <a:pt x="2724727" y="1524000"/>
                  </a:cubicBezTo>
                  <a:lnTo>
                    <a:pt x="69273" y="1524000"/>
                  </a:lnTo>
                  <a:cubicBezTo>
                    <a:pt x="50900" y="1524000"/>
                    <a:pt x="33281" y="1516702"/>
                    <a:pt x="20290" y="1503711"/>
                  </a:cubicBezTo>
                  <a:cubicBezTo>
                    <a:pt x="7298" y="1490719"/>
                    <a:pt x="0" y="1473100"/>
                    <a:pt x="0" y="1454727"/>
                  </a:cubicBezTo>
                  <a:lnTo>
                    <a:pt x="0" y="69273"/>
                  </a:lnTo>
                  <a:cubicBezTo>
                    <a:pt x="0" y="50900"/>
                    <a:pt x="7298" y="33281"/>
                    <a:pt x="20290" y="20290"/>
                  </a:cubicBezTo>
                  <a:cubicBezTo>
                    <a:pt x="33281" y="7298"/>
                    <a:pt x="50900" y="0"/>
                    <a:pt x="69273" y="0"/>
                  </a:cubicBezTo>
                  <a:close/>
                </a:path>
              </a:pathLst>
            </a:custGeom>
            <a:solidFill>
              <a:srgbClr val="13243A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28575"/>
              <a:ext cx="2794000" cy="1495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7"/>
                </a:lnSpc>
              </a:pPr>
              <a:r>
                <a:rPr lang="en-US" sz="172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YouTube</a:t>
              </a:r>
            </a:p>
            <a:p>
              <a:pPr algn="ctr">
                <a:lnSpc>
                  <a:spcPts val="1897"/>
                </a:lnSpc>
              </a:pPr>
              <a:r>
                <a:rPr lang="en-US" sz="172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Learning</a:t>
              </a:r>
            </a:p>
          </p:txBody>
        </p:sp>
      </p:grpSp>
      <p:sp>
        <p:nvSpPr>
          <p:cNvPr name="AutoShape 12" id="12"/>
          <p:cNvSpPr/>
          <p:nvPr/>
        </p:nvSpPr>
        <p:spPr>
          <a:xfrm>
            <a:off x="6953250" y="6000750"/>
            <a:ext cx="952500" cy="0"/>
          </a:xfrm>
          <a:prstGeom prst="line">
            <a:avLst/>
          </a:prstGeom>
          <a:ln cap="rnd" w="38100">
            <a:solidFill>
              <a:srgbClr val="35577D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3" id="13"/>
          <p:cNvGrpSpPr/>
          <p:nvPr/>
        </p:nvGrpSpPr>
        <p:grpSpPr>
          <a:xfrm rot="0">
            <a:off x="8096250" y="5429250"/>
            <a:ext cx="2095500" cy="1143000"/>
            <a:chOff x="0" y="0"/>
            <a:chExt cx="2794000" cy="1524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794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2794000">
                  <a:moveTo>
                    <a:pt x="69273" y="0"/>
                  </a:moveTo>
                  <a:lnTo>
                    <a:pt x="2724727" y="0"/>
                  </a:lnTo>
                  <a:cubicBezTo>
                    <a:pt x="2743100" y="0"/>
                    <a:pt x="2760719" y="7298"/>
                    <a:pt x="2773711" y="20290"/>
                  </a:cubicBezTo>
                  <a:cubicBezTo>
                    <a:pt x="2786702" y="33281"/>
                    <a:pt x="2794000" y="50900"/>
                    <a:pt x="2794000" y="69273"/>
                  </a:cubicBezTo>
                  <a:lnTo>
                    <a:pt x="2794000" y="1454727"/>
                  </a:lnTo>
                  <a:cubicBezTo>
                    <a:pt x="2794000" y="1473100"/>
                    <a:pt x="2786702" y="1490719"/>
                    <a:pt x="2773711" y="1503711"/>
                  </a:cubicBezTo>
                  <a:cubicBezTo>
                    <a:pt x="2760719" y="1516702"/>
                    <a:pt x="2743100" y="1524000"/>
                    <a:pt x="2724727" y="1524000"/>
                  </a:cubicBezTo>
                  <a:lnTo>
                    <a:pt x="69273" y="1524000"/>
                  </a:lnTo>
                  <a:cubicBezTo>
                    <a:pt x="50900" y="1524000"/>
                    <a:pt x="33281" y="1516702"/>
                    <a:pt x="20290" y="1503711"/>
                  </a:cubicBezTo>
                  <a:cubicBezTo>
                    <a:pt x="7298" y="1490719"/>
                    <a:pt x="0" y="1473100"/>
                    <a:pt x="0" y="1454727"/>
                  </a:cubicBezTo>
                  <a:lnTo>
                    <a:pt x="0" y="69273"/>
                  </a:lnTo>
                  <a:cubicBezTo>
                    <a:pt x="0" y="50900"/>
                    <a:pt x="7298" y="33281"/>
                    <a:pt x="20290" y="20290"/>
                  </a:cubicBezTo>
                  <a:cubicBezTo>
                    <a:pt x="33281" y="7298"/>
                    <a:pt x="50900" y="0"/>
                    <a:pt x="69273" y="0"/>
                  </a:cubicBezTo>
                  <a:close/>
                </a:path>
              </a:pathLst>
            </a:custGeom>
            <a:solidFill>
              <a:srgbClr val="13243A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28575"/>
              <a:ext cx="2794000" cy="1495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7"/>
                </a:lnSpc>
              </a:pPr>
              <a:r>
                <a:rPr lang="en-US" sz="172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GitHub</a:t>
              </a:r>
            </a:p>
            <a:p>
              <a:pPr algn="ctr">
                <a:lnSpc>
                  <a:spcPts val="1897"/>
                </a:lnSpc>
              </a:pPr>
              <a:r>
                <a:rPr lang="en-US" sz="172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Examples</a:t>
              </a:r>
            </a:p>
          </p:txBody>
        </p:sp>
      </p:grpSp>
      <p:sp>
        <p:nvSpPr>
          <p:cNvPr name="AutoShape 16" id="16"/>
          <p:cNvSpPr/>
          <p:nvPr/>
        </p:nvSpPr>
        <p:spPr>
          <a:xfrm>
            <a:off x="10191750" y="6000750"/>
            <a:ext cx="952500" cy="0"/>
          </a:xfrm>
          <a:prstGeom prst="line">
            <a:avLst/>
          </a:prstGeom>
          <a:ln cap="rnd" w="38100">
            <a:solidFill>
              <a:srgbClr val="35577D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7" id="17"/>
          <p:cNvGrpSpPr/>
          <p:nvPr/>
        </p:nvGrpSpPr>
        <p:grpSpPr>
          <a:xfrm rot="0">
            <a:off x="11334750" y="5429250"/>
            <a:ext cx="2095500" cy="1143000"/>
            <a:chOff x="0" y="0"/>
            <a:chExt cx="2794000" cy="1524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794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2794000">
                  <a:moveTo>
                    <a:pt x="69273" y="0"/>
                  </a:moveTo>
                  <a:lnTo>
                    <a:pt x="2724727" y="0"/>
                  </a:lnTo>
                  <a:cubicBezTo>
                    <a:pt x="2743100" y="0"/>
                    <a:pt x="2760719" y="7298"/>
                    <a:pt x="2773711" y="20290"/>
                  </a:cubicBezTo>
                  <a:cubicBezTo>
                    <a:pt x="2786702" y="33281"/>
                    <a:pt x="2794000" y="50900"/>
                    <a:pt x="2794000" y="69273"/>
                  </a:cubicBezTo>
                  <a:lnTo>
                    <a:pt x="2794000" y="1454727"/>
                  </a:lnTo>
                  <a:cubicBezTo>
                    <a:pt x="2794000" y="1473100"/>
                    <a:pt x="2786702" y="1490719"/>
                    <a:pt x="2773711" y="1503711"/>
                  </a:cubicBezTo>
                  <a:cubicBezTo>
                    <a:pt x="2760719" y="1516702"/>
                    <a:pt x="2743100" y="1524000"/>
                    <a:pt x="2724727" y="1524000"/>
                  </a:cubicBezTo>
                  <a:lnTo>
                    <a:pt x="69273" y="1524000"/>
                  </a:lnTo>
                  <a:cubicBezTo>
                    <a:pt x="50900" y="1524000"/>
                    <a:pt x="33281" y="1516702"/>
                    <a:pt x="20290" y="1503711"/>
                  </a:cubicBezTo>
                  <a:cubicBezTo>
                    <a:pt x="7298" y="1490719"/>
                    <a:pt x="0" y="1473100"/>
                    <a:pt x="0" y="1454727"/>
                  </a:cubicBezTo>
                  <a:lnTo>
                    <a:pt x="0" y="69273"/>
                  </a:lnTo>
                  <a:cubicBezTo>
                    <a:pt x="0" y="50900"/>
                    <a:pt x="7298" y="33281"/>
                    <a:pt x="20290" y="20290"/>
                  </a:cubicBezTo>
                  <a:cubicBezTo>
                    <a:pt x="33281" y="7298"/>
                    <a:pt x="50900" y="0"/>
                    <a:pt x="69273" y="0"/>
                  </a:cubicBezTo>
                  <a:close/>
                </a:path>
              </a:pathLst>
            </a:custGeom>
            <a:solidFill>
              <a:srgbClr val="13243A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28575"/>
              <a:ext cx="2794000" cy="1495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7"/>
                </a:lnSpc>
              </a:pPr>
              <a:r>
                <a:rPr lang="en-US" sz="172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Professor</a:t>
              </a:r>
            </a:p>
            <a:p>
              <a:pPr algn="ctr">
                <a:lnSpc>
                  <a:spcPts val="1897"/>
                </a:lnSpc>
              </a:pPr>
              <a:r>
                <a:rPr lang="en-US" sz="172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Guidance</a:t>
              </a:r>
            </a:p>
          </p:txBody>
        </p:sp>
      </p:grpSp>
      <p:sp>
        <p:nvSpPr>
          <p:cNvPr name="AutoShape 20" id="20"/>
          <p:cNvSpPr/>
          <p:nvPr/>
        </p:nvSpPr>
        <p:spPr>
          <a:xfrm>
            <a:off x="13430250" y="6000750"/>
            <a:ext cx="952500" cy="0"/>
          </a:xfrm>
          <a:prstGeom prst="line">
            <a:avLst/>
          </a:prstGeom>
          <a:ln cap="rnd" w="38100">
            <a:solidFill>
              <a:srgbClr val="35577D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1" id="21"/>
          <p:cNvGrpSpPr/>
          <p:nvPr/>
        </p:nvGrpSpPr>
        <p:grpSpPr>
          <a:xfrm rot="0">
            <a:off x="14573250" y="5429250"/>
            <a:ext cx="2095500" cy="1143000"/>
            <a:chOff x="0" y="0"/>
            <a:chExt cx="2794000" cy="1524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794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2794000">
                  <a:moveTo>
                    <a:pt x="69273" y="0"/>
                  </a:moveTo>
                  <a:lnTo>
                    <a:pt x="2724727" y="0"/>
                  </a:lnTo>
                  <a:cubicBezTo>
                    <a:pt x="2743100" y="0"/>
                    <a:pt x="2760719" y="7298"/>
                    <a:pt x="2773711" y="20290"/>
                  </a:cubicBezTo>
                  <a:cubicBezTo>
                    <a:pt x="2786702" y="33281"/>
                    <a:pt x="2794000" y="50900"/>
                    <a:pt x="2794000" y="69273"/>
                  </a:cubicBezTo>
                  <a:lnTo>
                    <a:pt x="2794000" y="1454727"/>
                  </a:lnTo>
                  <a:cubicBezTo>
                    <a:pt x="2794000" y="1473100"/>
                    <a:pt x="2786702" y="1490719"/>
                    <a:pt x="2773711" y="1503711"/>
                  </a:cubicBezTo>
                  <a:cubicBezTo>
                    <a:pt x="2760719" y="1516702"/>
                    <a:pt x="2743100" y="1524000"/>
                    <a:pt x="2724727" y="1524000"/>
                  </a:cubicBezTo>
                  <a:lnTo>
                    <a:pt x="69273" y="1524000"/>
                  </a:lnTo>
                  <a:cubicBezTo>
                    <a:pt x="50900" y="1524000"/>
                    <a:pt x="33281" y="1516702"/>
                    <a:pt x="20290" y="1503711"/>
                  </a:cubicBezTo>
                  <a:cubicBezTo>
                    <a:pt x="7298" y="1490719"/>
                    <a:pt x="0" y="1473100"/>
                    <a:pt x="0" y="1454727"/>
                  </a:cubicBezTo>
                  <a:lnTo>
                    <a:pt x="0" y="69273"/>
                  </a:lnTo>
                  <a:cubicBezTo>
                    <a:pt x="0" y="50900"/>
                    <a:pt x="7298" y="33281"/>
                    <a:pt x="20290" y="20290"/>
                  </a:cubicBezTo>
                  <a:cubicBezTo>
                    <a:pt x="33281" y="7298"/>
                    <a:pt x="50900" y="0"/>
                    <a:pt x="69273" y="0"/>
                  </a:cubicBezTo>
                  <a:close/>
                </a:path>
              </a:pathLst>
            </a:custGeom>
            <a:solidFill>
              <a:srgbClr val="2F7DF6"/>
            </a:solidFill>
            <a:ln cap="sq">
              <a:noFill/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28575"/>
              <a:ext cx="2794000" cy="1495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7"/>
                </a:lnSpc>
              </a:pPr>
              <a:r>
                <a:rPr lang="en-US" sz="172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ProjectsForge</a:t>
              </a:r>
            </a:p>
            <a:p>
              <a:pPr algn="ctr">
                <a:lnSpc>
                  <a:spcPts val="1897"/>
                </a:lnSpc>
              </a:pPr>
              <a:r>
                <a:rPr lang="en-US" sz="172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Connects journey</a:t>
              </a:r>
            </a:p>
          </p:txBody>
        </p:sp>
      </p:grpSp>
      <p:sp>
        <p:nvSpPr>
          <p:cNvPr name="AutoShape 24" id="24"/>
          <p:cNvSpPr/>
          <p:nvPr/>
        </p:nvSpPr>
        <p:spPr>
          <a:xfrm>
            <a:off x="857250" y="9601200"/>
            <a:ext cx="16573500" cy="0"/>
          </a:xfrm>
          <a:prstGeom prst="line">
            <a:avLst/>
          </a:prstGeom>
          <a:ln cap="flat" w="9525">
            <a:solidFill>
              <a:srgbClr val="26364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5" id="25"/>
          <p:cNvSpPr txBox="true"/>
          <p:nvPr/>
        </p:nvSpPr>
        <p:spPr>
          <a:xfrm rot="0">
            <a:off x="857250" y="9772650"/>
            <a:ext cx="2857500" cy="196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PROJECTSFORGE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6764000" y="9772650"/>
            <a:ext cx="666750" cy="196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7250" y="571500"/>
            <a:ext cx="14287500" cy="1067752"/>
            <a:chOff x="0" y="0"/>
            <a:chExt cx="19050000" cy="142367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28575"/>
              <a:ext cx="8255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08" b="true">
                  <a:solidFill>
                    <a:srgbClr val="2F7DF6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05  /  PROJECTSFORGE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676275"/>
              <a:ext cx="19050000" cy="7473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52"/>
                </a:lnSpc>
              </a:pPr>
              <a:r>
                <a:rPr lang="en-US" sz="4050" b="true">
                  <a:solidFill>
                    <a:srgbClr val="101828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What existing platforms provide — and what to test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57250" y="2571750"/>
            <a:ext cx="3429000" cy="666750"/>
            <a:chOff x="0" y="0"/>
            <a:chExt cx="4572000" cy="889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572000" cy="889000"/>
            </a:xfrm>
            <a:custGeom>
              <a:avLst/>
              <a:gdLst/>
              <a:ahLst/>
              <a:cxnLst/>
              <a:rect r="r" b="b" t="t" l="l"/>
              <a:pathLst>
                <a:path h="88900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889000"/>
                  </a:lnTo>
                  <a:lnTo>
                    <a:pt x="0" y="889000"/>
                  </a:lnTo>
                  <a:close/>
                </a:path>
              </a:pathLst>
            </a:custGeom>
            <a:solidFill>
              <a:srgbClr val="101828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9525"/>
              <a:ext cx="4572000" cy="879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85"/>
                </a:lnSpc>
              </a:pPr>
              <a:r>
                <a:rPr lang="en-US" sz="135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PLATFORM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476750" y="2571750"/>
            <a:ext cx="5334000" cy="666750"/>
            <a:chOff x="0" y="0"/>
            <a:chExt cx="7112000" cy="889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112000" cy="889000"/>
            </a:xfrm>
            <a:custGeom>
              <a:avLst/>
              <a:gdLst/>
              <a:ahLst/>
              <a:cxnLst/>
              <a:rect r="r" b="b" t="t" l="l"/>
              <a:pathLst>
                <a:path h="889000" w="7112000">
                  <a:moveTo>
                    <a:pt x="0" y="0"/>
                  </a:moveTo>
                  <a:lnTo>
                    <a:pt x="7112000" y="0"/>
                  </a:lnTo>
                  <a:lnTo>
                    <a:pt x="7112000" y="889000"/>
                  </a:lnTo>
                  <a:lnTo>
                    <a:pt x="0" y="889000"/>
                  </a:lnTo>
                  <a:close/>
                </a:path>
              </a:pathLst>
            </a:custGeom>
            <a:solidFill>
              <a:srgbClr val="101828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9525"/>
              <a:ext cx="7112000" cy="879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85"/>
                </a:lnSpc>
              </a:pPr>
              <a:r>
                <a:rPr lang="en-US" sz="135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PROVIDES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001250" y="2571750"/>
            <a:ext cx="7429500" cy="666750"/>
            <a:chOff x="0" y="0"/>
            <a:chExt cx="9906000" cy="889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906000" cy="889000"/>
            </a:xfrm>
            <a:custGeom>
              <a:avLst/>
              <a:gdLst/>
              <a:ahLst/>
              <a:cxnLst/>
              <a:rect r="r" b="b" t="t" l="l"/>
              <a:pathLst>
                <a:path h="889000" w="9906000">
                  <a:moveTo>
                    <a:pt x="0" y="0"/>
                  </a:moveTo>
                  <a:lnTo>
                    <a:pt x="9906000" y="0"/>
                  </a:lnTo>
                  <a:lnTo>
                    <a:pt x="9906000" y="889000"/>
                  </a:lnTo>
                  <a:lnTo>
                    <a:pt x="0" y="889000"/>
                  </a:lnTo>
                  <a:close/>
                </a:path>
              </a:pathLst>
            </a:custGeom>
            <a:solidFill>
              <a:srgbClr val="2F7DF6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9525"/>
              <a:ext cx="9906000" cy="879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85"/>
                </a:lnSpc>
              </a:pPr>
              <a:r>
                <a:rPr lang="en-US" sz="135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POTENTIAL GAP PROJECTSFORGE WILL TEST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57250" y="3333750"/>
            <a:ext cx="16573500" cy="914400"/>
            <a:chOff x="0" y="0"/>
            <a:chExt cx="22098000" cy="12192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0980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EEF3F9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2098000" cy="1257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066800" y="3552825"/>
            <a:ext cx="3009900" cy="243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0"/>
              </a:lnSpc>
            </a:pPr>
            <a:r>
              <a:rPr lang="en-US" sz="1800" b="true">
                <a:solidFill>
                  <a:srgbClr val="10182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YouTube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686300" y="3495675"/>
            <a:ext cx="4914900" cy="265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6"/>
              </a:lnSpc>
            </a:pPr>
            <a:r>
              <a:rPr lang="en-US" sz="1575">
                <a:solidFill>
                  <a:srgbClr val="101828"/>
                </a:solidFill>
                <a:latin typeface="Open Sans"/>
                <a:ea typeface="Open Sans"/>
                <a:cs typeface="Open Sans"/>
                <a:sym typeface="Open Sans"/>
              </a:rPr>
              <a:t>Tutorials, demos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10800" y="3495675"/>
            <a:ext cx="7010400" cy="265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6"/>
              </a:lnSpc>
            </a:pPr>
            <a:r>
              <a:rPr lang="en-US" sz="1575">
                <a:solidFill>
                  <a:srgbClr val="101828"/>
                </a:solidFill>
                <a:latin typeface="Open Sans"/>
                <a:ea typeface="Open Sans"/>
                <a:cs typeface="Open Sans"/>
                <a:sym typeface="Open Sans"/>
              </a:rPr>
              <a:t>Continuity from idea to evidence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857250" y="4400550"/>
            <a:ext cx="16573500" cy="914400"/>
            <a:chOff x="0" y="0"/>
            <a:chExt cx="22098000" cy="12192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20980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22098000" cy="1257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066800" y="4619625"/>
            <a:ext cx="3009900" cy="243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0"/>
              </a:lnSpc>
            </a:pPr>
            <a:r>
              <a:rPr lang="en-US" sz="1800" b="true">
                <a:solidFill>
                  <a:srgbClr val="10182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ChatGPT / AI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686300" y="4562475"/>
            <a:ext cx="4914900" cy="265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6"/>
              </a:lnSpc>
            </a:pPr>
            <a:r>
              <a:rPr lang="en-US" sz="1575">
                <a:solidFill>
                  <a:srgbClr val="101828"/>
                </a:solidFill>
                <a:latin typeface="Open Sans"/>
                <a:ea typeface="Open Sans"/>
                <a:cs typeface="Open Sans"/>
                <a:sym typeface="Open Sans"/>
              </a:rPr>
              <a:t>Ideas, explanations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210800" y="4562475"/>
            <a:ext cx="7010400" cy="265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6"/>
              </a:lnSpc>
            </a:pPr>
            <a:r>
              <a:rPr lang="en-US" sz="1575">
                <a:solidFill>
                  <a:srgbClr val="101828"/>
                </a:solidFill>
                <a:latin typeface="Open Sans"/>
                <a:ea typeface="Open Sans"/>
                <a:cs typeface="Open Sans"/>
                <a:sym typeface="Open Sans"/>
              </a:rPr>
              <a:t>Structured ownership &amp; checkpoints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857250" y="5467350"/>
            <a:ext cx="16573500" cy="914400"/>
            <a:chOff x="0" y="0"/>
            <a:chExt cx="22098000" cy="12192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20980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EEF3F9"/>
            </a:solidFill>
            <a:ln cap="sq">
              <a:noFill/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22098000" cy="1257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066800" y="5686425"/>
            <a:ext cx="3009900" cy="243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0"/>
              </a:lnSpc>
            </a:pPr>
            <a:r>
              <a:rPr lang="en-US" sz="1800" b="true">
                <a:solidFill>
                  <a:srgbClr val="10182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GitHub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686300" y="5629275"/>
            <a:ext cx="4914900" cy="265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6"/>
              </a:lnSpc>
            </a:pPr>
            <a:r>
              <a:rPr lang="en-US" sz="1575">
                <a:solidFill>
                  <a:srgbClr val="101828"/>
                </a:solidFill>
                <a:latin typeface="Open Sans"/>
                <a:ea typeface="Open Sans"/>
                <a:cs typeface="Open Sans"/>
                <a:sym typeface="Open Sans"/>
              </a:rPr>
              <a:t>Code, repositories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210800" y="5629275"/>
            <a:ext cx="7010400" cy="265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6"/>
              </a:lnSpc>
            </a:pPr>
            <a:r>
              <a:rPr lang="en-US" sz="1575">
                <a:solidFill>
                  <a:srgbClr val="101828"/>
                </a:solidFill>
                <a:latin typeface="Open Sans"/>
                <a:ea typeface="Open Sans"/>
                <a:cs typeface="Open Sans"/>
                <a:sym typeface="Open Sans"/>
              </a:rPr>
              <a:t>Skill-fit and guided progression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857250" y="6534150"/>
            <a:ext cx="16573500" cy="914400"/>
            <a:chOff x="0" y="0"/>
            <a:chExt cx="22098000" cy="12192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20980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22098000" cy="1257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1066800" y="6753225"/>
            <a:ext cx="3009900" cy="243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0"/>
              </a:lnSpc>
            </a:pPr>
            <a:r>
              <a:rPr lang="en-US" sz="1800" b="true">
                <a:solidFill>
                  <a:srgbClr val="10182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Professors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4686300" y="6696075"/>
            <a:ext cx="4914900" cy="265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6"/>
              </a:lnSpc>
            </a:pPr>
            <a:r>
              <a:rPr lang="en-US" sz="1575">
                <a:solidFill>
                  <a:srgbClr val="101828"/>
                </a:solidFill>
                <a:latin typeface="Open Sans"/>
                <a:ea typeface="Open Sans"/>
                <a:cs typeface="Open Sans"/>
                <a:sym typeface="Open Sans"/>
              </a:rPr>
              <a:t>Expert guidance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0210800" y="6696075"/>
            <a:ext cx="7010400" cy="265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6"/>
              </a:lnSpc>
            </a:pPr>
            <a:r>
              <a:rPr lang="en-US" sz="1575">
                <a:solidFill>
                  <a:srgbClr val="101828"/>
                </a:solidFill>
                <a:latin typeface="Open Sans"/>
                <a:ea typeface="Open Sans"/>
                <a:cs typeface="Open Sans"/>
                <a:sym typeface="Open Sans"/>
              </a:rPr>
              <a:t>Scalable follow-through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857250" y="7600950"/>
            <a:ext cx="16573500" cy="914400"/>
            <a:chOff x="0" y="0"/>
            <a:chExt cx="22098000" cy="12192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20980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EEF3F9"/>
            </a:solidFill>
            <a:ln cap="sq">
              <a:noFill/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22098000" cy="1257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1066800" y="7820025"/>
            <a:ext cx="3009900" cy="243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0"/>
              </a:lnSpc>
            </a:pPr>
            <a:r>
              <a:rPr lang="en-US" sz="1800" b="true">
                <a:solidFill>
                  <a:srgbClr val="10182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Generic project sites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4686300" y="7762875"/>
            <a:ext cx="4914900" cy="265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6"/>
              </a:lnSpc>
            </a:pPr>
            <a:r>
              <a:rPr lang="en-US" sz="1575">
                <a:solidFill>
                  <a:srgbClr val="101828"/>
                </a:solidFill>
                <a:latin typeface="Open Sans"/>
                <a:ea typeface="Open Sans"/>
                <a:cs typeface="Open Sans"/>
                <a:sym typeface="Open Sans"/>
              </a:rPr>
              <a:t>Idea lists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210800" y="7762875"/>
            <a:ext cx="7010400" cy="265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6"/>
              </a:lnSpc>
            </a:pPr>
            <a:r>
              <a:rPr lang="en-US" sz="1575">
                <a:solidFill>
                  <a:srgbClr val="101828"/>
                </a:solidFill>
                <a:latin typeface="Open Sans"/>
                <a:ea typeface="Open Sans"/>
                <a:cs typeface="Open Sans"/>
                <a:sym typeface="Open Sans"/>
              </a:rPr>
              <a:t>Personalized execution support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857250" y="8848725"/>
            <a:ext cx="8572500" cy="220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2"/>
              </a:lnSpc>
            </a:pPr>
            <a:r>
              <a:rPr lang="en-US" sz="1425">
                <a:solidFill>
                  <a:srgbClr val="667085"/>
                </a:solidFill>
                <a:latin typeface="Open Sans"/>
                <a:ea typeface="Open Sans"/>
                <a:cs typeface="Open Sans"/>
                <a:sym typeface="Open Sans"/>
              </a:rPr>
              <a:t>Neutral comparison • gaps are hypotheses for validation</a:t>
            </a:r>
          </a:p>
        </p:txBody>
      </p:sp>
      <p:sp>
        <p:nvSpPr>
          <p:cNvPr name="AutoShape 45" id="45"/>
          <p:cNvSpPr/>
          <p:nvPr/>
        </p:nvSpPr>
        <p:spPr>
          <a:xfrm>
            <a:off x="857250" y="9601200"/>
            <a:ext cx="16573500" cy="0"/>
          </a:xfrm>
          <a:prstGeom prst="line">
            <a:avLst/>
          </a:prstGeom>
          <a:ln cap="flat" w="9525">
            <a:solidFill>
              <a:srgbClr val="D9E1E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6" id="46"/>
          <p:cNvSpPr txBox="true"/>
          <p:nvPr/>
        </p:nvSpPr>
        <p:spPr>
          <a:xfrm rot="0">
            <a:off x="857250" y="9782175"/>
            <a:ext cx="2857500" cy="184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0"/>
              </a:lnSpc>
            </a:pPr>
            <a:r>
              <a:rPr lang="en-US" sz="1200">
                <a:solidFill>
                  <a:srgbClr val="667085"/>
                </a:solidFill>
                <a:latin typeface="Open Sans"/>
                <a:ea typeface="Open Sans"/>
                <a:cs typeface="Open Sans"/>
                <a:sym typeface="Open Sans"/>
              </a:rPr>
              <a:t>PROJECTSFORGE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6764000" y="9782175"/>
            <a:ext cx="666750" cy="184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60"/>
              </a:lnSpc>
            </a:pPr>
            <a:r>
              <a:rPr lang="en-US" sz="1200">
                <a:solidFill>
                  <a:srgbClr val="667085"/>
                </a:solidFill>
                <a:latin typeface="Open Sans"/>
                <a:ea typeface="Open Sans"/>
                <a:cs typeface="Open Sans"/>
                <a:sym typeface="Open San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7250" y="571500"/>
            <a:ext cx="14287500" cy="1111568"/>
            <a:chOff x="0" y="0"/>
            <a:chExt cx="19050000" cy="148209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28575"/>
              <a:ext cx="8255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08" b="true">
                  <a:solidFill>
                    <a:srgbClr val="75AA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06  /  PROJECTSFORGE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676275"/>
              <a:ext cx="19050000" cy="8058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67"/>
                </a:lnSpc>
              </a:pPr>
              <a:r>
                <a:rPr lang="en-US" sz="435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One structured journey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333750" y="2286000"/>
            <a:ext cx="5524500" cy="723900"/>
            <a:chOff x="0" y="0"/>
            <a:chExt cx="7366000" cy="965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366000" cy="965200"/>
            </a:xfrm>
            <a:custGeom>
              <a:avLst/>
              <a:gdLst/>
              <a:ahLst/>
              <a:cxnLst/>
              <a:rect r="r" b="b" t="t" l="l"/>
              <a:pathLst>
                <a:path h="965200" w="7366000">
                  <a:moveTo>
                    <a:pt x="26276" y="0"/>
                  </a:moveTo>
                  <a:lnTo>
                    <a:pt x="7339724" y="0"/>
                  </a:lnTo>
                  <a:cubicBezTo>
                    <a:pt x="7354236" y="0"/>
                    <a:pt x="7366000" y="11764"/>
                    <a:pt x="7366000" y="26276"/>
                  </a:cubicBezTo>
                  <a:lnTo>
                    <a:pt x="7366000" y="938924"/>
                  </a:lnTo>
                  <a:cubicBezTo>
                    <a:pt x="7366000" y="953436"/>
                    <a:pt x="7354236" y="965200"/>
                    <a:pt x="7339724" y="965200"/>
                  </a:cubicBezTo>
                  <a:lnTo>
                    <a:pt x="26276" y="965200"/>
                  </a:lnTo>
                  <a:cubicBezTo>
                    <a:pt x="11764" y="965200"/>
                    <a:pt x="0" y="953436"/>
                    <a:pt x="0" y="938924"/>
                  </a:cubicBezTo>
                  <a:lnTo>
                    <a:pt x="0" y="26276"/>
                  </a:lnTo>
                  <a:cubicBezTo>
                    <a:pt x="0" y="11764"/>
                    <a:pt x="11764" y="0"/>
                    <a:pt x="26276" y="0"/>
                  </a:cubicBezTo>
                  <a:close/>
                </a:path>
              </a:pathLst>
            </a:custGeom>
            <a:solidFill>
              <a:srgbClr val="2F7DF6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28575"/>
              <a:ext cx="7366000" cy="936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7"/>
                </a:lnSpc>
              </a:pPr>
              <a:r>
                <a:rPr lang="en-US" sz="172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   Profile</a:t>
              </a:r>
            </a:p>
          </p:txBody>
        </p:sp>
      </p:grpSp>
      <p:sp>
        <p:nvSpPr>
          <p:cNvPr name="AutoShape 8" id="8"/>
          <p:cNvSpPr/>
          <p:nvPr/>
        </p:nvSpPr>
        <p:spPr>
          <a:xfrm>
            <a:off x="6096000" y="3009900"/>
            <a:ext cx="6096000" cy="400050"/>
          </a:xfrm>
          <a:prstGeom prst="line">
            <a:avLst/>
          </a:prstGeom>
          <a:ln cap="rnd" w="38100">
            <a:solidFill>
              <a:srgbClr val="365A83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9" id="9"/>
          <p:cNvGrpSpPr/>
          <p:nvPr/>
        </p:nvGrpSpPr>
        <p:grpSpPr>
          <a:xfrm rot="0">
            <a:off x="9429750" y="2286000"/>
            <a:ext cx="5524500" cy="723900"/>
            <a:chOff x="0" y="0"/>
            <a:chExt cx="7366000" cy="965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366000" cy="965200"/>
            </a:xfrm>
            <a:custGeom>
              <a:avLst/>
              <a:gdLst/>
              <a:ahLst/>
              <a:cxnLst/>
              <a:rect r="r" b="b" t="t" l="l"/>
              <a:pathLst>
                <a:path h="965200" w="7366000">
                  <a:moveTo>
                    <a:pt x="26276" y="0"/>
                  </a:moveTo>
                  <a:lnTo>
                    <a:pt x="7339724" y="0"/>
                  </a:lnTo>
                  <a:cubicBezTo>
                    <a:pt x="7354236" y="0"/>
                    <a:pt x="7366000" y="11764"/>
                    <a:pt x="7366000" y="26276"/>
                  </a:cubicBezTo>
                  <a:lnTo>
                    <a:pt x="7366000" y="938924"/>
                  </a:lnTo>
                  <a:cubicBezTo>
                    <a:pt x="7366000" y="953436"/>
                    <a:pt x="7354236" y="965200"/>
                    <a:pt x="7339724" y="965200"/>
                  </a:cubicBezTo>
                  <a:lnTo>
                    <a:pt x="26276" y="965200"/>
                  </a:lnTo>
                  <a:cubicBezTo>
                    <a:pt x="11764" y="965200"/>
                    <a:pt x="0" y="953436"/>
                    <a:pt x="0" y="938924"/>
                  </a:cubicBezTo>
                  <a:lnTo>
                    <a:pt x="0" y="26276"/>
                  </a:lnTo>
                  <a:cubicBezTo>
                    <a:pt x="0" y="11764"/>
                    <a:pt x="11764" y="0"/>
                    <a:pt x="26276" y="0"/>
                  </a:cubicBezTo>
                  <a:close/>
                </a:path>
              </a:pathLst>
            </a:custGeom>
            <a:solidFill>
              <a:srgbClr val="12243A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28575"/>
              <a:ext cx="7366000" cy="936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7"/>
                </a:lnSpc>
              </a:pPr>
              <a:r>
                <a:rPr lang="en-US" sz="172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2   Personalized recommendations</a:t>
              </a:r>
            </a:p>
          </p:txBody>
        </p:sp>
      </p:grpSp>
      <p:sp>
        <p:nvSpPr>
          <p:cNvPr name="AutoShape 12" id="12"/>
          <p:cNvSpPr/>
          <p:nvPr/>
        </p:nvSpPr>
        <p:spPr>
          <a:xfrm flipH="true">
            <a:off x="6096000" y="3009900"/>
            <a:ext cx="6096000" cy="400050"/>
          </a:xfrm>
          <a:prstGeom prst="line">
            <a:avLst/>
          </a:prstGeom>
          <a:ln cap="rnd" w="38100">
            <a:solidFill>
              <a:srgbClr val="365A83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3" id="13"/>
          <p:cNvGrpSpPr/>
          <p:nvPr/>
        </p:nvGrpSpPr>
        <p:grpSpPr>
          <a:xfrm rot="0">
            <a:off x="3333750" y="3409950"/>
            <a:ext cx="5524500" cy="723900"/>
            <a:chOff x="0" y="0"/>
            <a:chExt cx="7366000" cy="965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366000" cy="965200"/>
            </a:xfrm>
            <a:custGeom>
              <a:avLst/>
              <a:gdLst/>
              <a:ahLst/>
              <a:cxnLst/>
              <a:rect r="r" b="b" t="t" l="l"/>
              <a:pathLst>
                <a:path h="965200" w="7366000">
                  <a:moveTo>
                    <a:pt x="26276" y="0"/>
                  </a:moveTo>
                  <a:lnTo>
                    <a:pt x="7339724" y="0"/>
                  </a:lnTo>
                  <a:cubicBezTo>
                    <a:pt x="7354236" y="0"/>
                    <a:pt x="7366000" y="11764"/>
                    <a:pt x="7366000" y="26276"/>
                  </a:cubicBezTo>
                  <a:lnTo>
                    <a:pt x="7366000" y="938924"/>
                  </a:lnTo>
                  <a:cubicBezTo>
                    <a:pt x="7366000" y="953436"/>
                    <a:pt x="7354236" y="965200"/>
                    <a:pt x="7339724" y="965200"/>
                  </a:cubicBezTo>
                  <a:lnTo>
                    <a:pt x="26276" y="965200"/>
                  </a:lnTo>
                  <a:cubicBezTo>
                    <a:pt x="11764" y="965200"/>
                    <a:pt x="0" y="953436"/>
                    <a:pt x="0" y="938924"/>
                  </a:cubicBezTo>
                  <a:lnTo>
                    <a:pt x="0" y="26276"/>
                  </a:lnTo>
                  <a:cubicBezTo>
                    <a:pt x="0" y="11764"/>
                    <a:pt x="11764" y="0"/>
                    <a:pt x="26276" y="0"/>
                  </a:cubicBezTo>
                  <a:close/>
                </a:path>
              </a:pathLst>
            </a:custGeom>
            <a:solidFill>
              <a:srgbClr val="12243A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28575"/>
              <a:ext cx="7366000" cy="936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7"/>
                </a:lnSpc>
              </a:pPr>
              <a:r>
                <a:rPr lang="en-US" sz="172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3   Prerequisites</a:t>
              </a:r>
            </a:p>
          </p:txBody>
        </p:sp>
      </p:grpSp>
      <p:sp>
        <p:nvSpPr>
          <p:cNvPr name="AutoShape 16" id="16"/>
          <p:cNvSpPr/>
          <p:nvPr/>
        </p:nvSpPr>
        <p:spPr>
          <a:xfrm>
            <a:off x="6096000" y="4133850"/>
            <a:ext cx="6096000" cy="400050"/>
          </a:xfrm>
          <a:prstGeom prst="line">
            <a:avLst/>
          </a:prstGeom>
          <a:ln cap="rnd" w="38100">
            <a:solidFill>
              <a:srgbClr val="365A83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7" id="17"/>
          <p:cNvGrpSpPr/>
          <p:nvPr/>
        </p:nvGrpSpPr>
        <p:grpSpPr>
          <a:xfrm rot="0">
            <a:off x="9429750" y="3409950"/>
            <a:ext cx="5524500" cy="723900"/>
            <a:chOff x="0" y="0"/>
            <a:chExt cx="7366000" cy="965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366000" cy="965200"/>
            </a:xfrm>
            <a:custGeom>
              <a:avLst/>
              <a:gdLst/>
              <a:ahLst/>
              <a:cxnLst/>
              <a:rect r="r" b="b" t="t" l="l"/>
              <a:pathLst>
                <a:path h="965200" w="7366000">
                  <a:moveTo>
                    <a:pt x="26276" y="0"/>
                  </a:moveTo>
                  <a:lnTo>
                    <a:pt x="7339724" y="0"/>
                  </a:lnTo>
                  <a:cubicBezTo>
                    <a:pt x="7354236" y="0"/>
                    <a:pt x="7366000" y="11764"/>
                    <a:pt x="7366000" y="26276"/>
                  </a:cubicBezTo>
                  <a:lnTo>
                    <a:pt x="7366000" y="938924"/>
                  </a:lnTo>
                  <a:cubicBezTo>
                    <a:pt x="7366000" y="953436"/>
                    <a:pt x="7354236" y="965200"/>
                    <a:pt x="7339724" y="965200"/>
                  </a:cubicBezTo>
                  <a:lnTo>
                    <a:pt x="26276" y="965200"/>
                  </a:lnTo>
                  <a:cubicBezTo>
                    <a:pt x="11764" y="965200"/>
                    <a:pt x="0" y="953436"/>
                    <a:pt x="0" y="938924"/>
                  </a:cubicBezTo>
                  <a:lnTo>
                    <a:pt x="0" y="26276"/>
                  </a:lnTo>
                  <a:cubicBezTo>
                    <a:pt x="0" y="11764"/>
                    <a:pt x="11764" y="0"/>
                    <a:pt x="26276" y="0"/>
                  </a:cubicBezTo>
                  <a:close/>
                </a:path>
              </a:pathLst>
            </a:custGeom>
            <a:solidFill>
              <a:srgbClr val="12243A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28575"/>
              <a:ext cx="7366000" cy="936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7"/>
                </a:lnSpc>
              </a:pPr>
              <a:r>
                <a:rPr lang="en-US" sz="172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4   Learning resources</a:t>
              </a:r>
            </a:p>
          </p:txBody>
        </p:sp>
      </p:grpSp>
      <p:sp>
        <p:nvSpPr>
          <p:cNvPr name="AutoShape 20" id="20"/>
          <p:cNvSpPr/>
          <p:nvPr/>
        </p:nvSpPr>
        <p:spPr>
          <a:xfrm flipH="true">
            <a:off x="6096000" y="4133850"/>
            <a:ext cx="6096000" cy="400050"/>
          </a:xfrm>
          <a:prstGeom prst="line">
            <a:avLst/>
          </a:prstGeom>
          <a:ln cap="rnd" w="38100">
            <a:solidFill>
              <a:srgbClr val="365A83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1" id="21"/>
          <p:cNvGrpSpPr/>
          <p:nvPr/>
        </p:nvGrpSpPr>
        <p:grpSpPr>
          <a:xfrm rot="0">
            <a:off x="3333750" y="4533900"/>
            <a:ext cx="5524500" cy="723900"/>
            <a:chOff x="0" y="0"/>
            <a:chExt cx="7366000" cy="9652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366000" cy="965200"/>
            </a:xfrm>
            <a:custGeom>
              <a:avLst/>
              <a:gdLst/>
              <a:ahLst/>
              <a:cxnLst/>
              <a:rect r="r" b="b" t="t" l="l"/>
              <a:pathLst>
                <a:path h="965200" w="7366000">
                  <a:moveTo>
                    <a:pt x="26276" y="0"/>
                  </a:moveTo>
                  <a:lnTo>
                    <a:pt x="7339724" y="0"/>
                  </a:lnTo>
                  <a:cubicBezTo>
                    <a:pt x="7354236" y="0"/>
                    <a:pt x="7366000" y="11764"/>
                    <a:pt x="7366000" y="26276"/>
                  </a:cubicBezTo>
                  <a:lnTo>
                    <a:pt x="7366000" y="938924"/>
                  </a:lnTo>
                  <a:cubicBezTo>
                    <a:pt x="7366000" y="953436"/>
                    <a:pt x="7354236" y="965200"/>
                    <a:pt x="7339724" y="965200"/>
                  </a:cubicBezTo>
                  <a:lnTo>
                    <a:pt x="26276" y="965200"/>
                  </a:lnTo>
                  <a:cubicBezTo>
                    <a:pt x="11764" y="965200"/>
                    <a:pt x="0" y="953436"/>
                    <a:pt x="0" y="938924"/>
                  </a:cubicBezTo>
                  <a:lnTo>
                    <a:pt x="0" y="26276"/>
                  </a:lnTo>
                  <a:cubicBezTo>
                    <a:pt x="0" y="11764"/>
                    <a:pt x="11764" y="0"/>
                    <a:pt x="26276" y="0"/>
                  </a:cubicBezTo>
                  <a:close/>
                </a:path>
              </a:pathLst>
            </a:custGeom>
            <a:solidFill>
              <a:srgbClr val="12243A"/>
            </a:solidFill>
            <a:ln cap="sq">
              <a:noFill/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28575"/>
              <a:ext cx="7366000" cy="936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7"/>
                </a:lnSpc>
              </a:pPr>
              <a:r>
                <a:rPr lang="en-US" sz="172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5   Project roadmap</a:t>
              </a:r>
            </a:p>
          </p:txBody>
        </p:sp>
      </p:grpSp>
      <p:sp>
        <p:nvSpPr>
          <p:cNvPr name="AutoShape 24" id="24"/>
          <p:cNvSpPr/>
          <p:nvPr/>
        </p:nvSpPr>
        <p:spPr>
          <a:xfrm>
            <a:off x="6096000" y="5257800"/>
            <a:ext cx="6096000" cy="400050"/>
          </a:xfrm>
          <a:prstGeom prst="line">
            <a:avLst/>
          </a:prstGeom>
          <a:ln cap="rnd" w="38100">
            <a:solidFill>
              <a:srgbClr val="365A83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5" id="25"/>
          <p:cNvGrpSpPr/>
          <p:nvPr/>
        </p:nvGrpSpPr>
        <p:grpSpPr>
          <a:xfrm rot="0">
            <a:off x="9429750" y="4533900"/>
            <a:ext cx="5524500" cy="723900"/>
            <a:chOff x="0" y="0"/>
            <a:chExt cx="7366000" cy="9652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366000" cy="965200"/>
            </a:xfrm>
            <a:custGeom>
              <a:avLst/>
              <a:gdLst/>
              <a:ahLst/>
              <a:cxnLst/>
              <a:rect r="r" b="b" t="t" l="l"/>
              <a:pathLst>
                <a:path h="965200" w="7366000">
                  <a:moveTo>
                    <a:pt x="26276" y="0"/>
                  </a:moveTo>
                  <a:lnTo>
                    <a:pt x="7339724" y="0"/>
                  </a:lnTo>
                  <a:cubicBezTo>
                    <a:pt x="7354236" y="0"/>
                    <a:pt x="7366000" y="11764"/>
                    <a:pt x="7366000" y="26276"/>
                  </a:cubicBezTo>
                  <a:lnTo>
                    <a:pt x="7366000" y="938924"/>
                  </a:lnTo>
                  <a:cubicBezTo>
                    <a:pt x="7366000" y="953436"/>
                    <a:pt x="7354236" y="965200"/>
                    <a:pt x="7339724" y="965200"/>
                  </a:cubicBezTo>
                  <a:lnTo>
                    <a:pt x="26276" y="965200"/>
                  </a:lnTo>
                  <a:cubicBezTo>
                    <a:pt x="11764" y="965200"/>
                    <a:pt x="0" y="953436"/>
                    <a:pt x="0" y="938924"/>
                  </a:cubicBezTo>
                  <a:lnTo>
                    <a:pt x="0" y="26276"/>
                  </a:lnTo>
                  <a:cubicBezTo>
                    <a:pt x="0" y="11764"/>
                    <a:pt x="11764" y="0"/>
                    <a:pt x="26276" y="0"/>
                  </a:cubicBezTo>
                  <a:close/>
                </a:path>
              </a:pathLst>
            </a:custGeom>
            <a:solidFill>
              <a:srgbClr val="12243A"/>
            </a:solidFill>
            <a:ln cap="sq">
              <a:noFill/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28575"/>
              <a:ext cx="7366000" cy="936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7"/>
                </a:lnSpc>
              </a:pPr>
              <a:r>
                <a:rPr lang="en-US" sz="172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6   Milestones</a:t>
              </a:r>
            </a:p>
          </p:txBody>
        </p:sp>
      </p:grpSp>
      <p:sp>
        <p:nvSpPr>
          <p:cNvPr name="AutoShape 28" id="28"/>
          <p:cNvSpPr/>
          <p:nvPr/>
        </p:nvSpPr>
        <p:spPr>
          <a:xfrm flipH="true">
            <a:off x="6096000" y="5257800"/>
            <a:ext cx="6096000" cy="400050"/>
          </a:xfrm>
          <a:prstGeom prst="line">
            <a:avLst/>
          </a:prstGeom>
          <a:ln cap="rnd" w="38100">
            <a:solidFill>
              <a:srgbClr val="365A83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9" id="29"/>
          <p:cNvGrpSpPr/>
          <p:nvPr/>
        </p:nvGrpSpPr>
        <p:grpSpPr>
          <a:xfrm rot="0">
            <a:off x="3333750" y="5657850"/>
            <a:ext cx="5524500" cy="723900"/>
            <a:chOff x="0" y="0"/>
            <a:chExt cx="7366000" cy="9652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366000" cy="965200"/>
            </a:xfrm>
            <a:custGeom>
              <a:avLst/>
              <a:gdLst/>
              <a:ahLst/>
              <a:cxnLst/>
              <a:rect r="r" b="b" t="t" l="l"/>
              <a:pathLst>
                <a:path h="965200" w="7366000">
                  <a:moveTo>
                    <a:pt x="26276" y="0"/>
                  </a:moveTo>
                  <a:lnTo>
                    <a:pt x="7339724" y="0"/>
                  </a:lnTo>
                  <a:cubicBezTo>
                    <a:pt x="7354236" y="0"/>
                    <a:pt x="7366000" y="11764"/>
                    <a:pt x="7366000" y="26276"/>
                  </a:cubicBezTo>
                  <a:lnTo>
                    <a:pt x="7366000" y="938924"/>
                  </a:lnTo>
                  <a:cubicBezTo>
                    <a:pt x="7366000" y="953436"/>
                    <a:pt x="7354236" y="965200"/>
                    <a:pt x="7339724" y="965200"/>
                  </a:cubicBezTo>
                  <a:lnTo>
                    <a:pt x="26276" y="965200"/>
                  </a:lnTo>
                  <a:cubicBezTo>
                    <a:pt x="11764" y="965200"/>
                    <a:pt x="0" y="953436"/>
                    <a:pt x="0" y="938924"/>
                  </a:cubicBezTo>
                  <a:lnTo>
                    <a:pt x="0" y="26276"/>
                  </a:lnTo>
                  <a:cubicBezTo>
                    <a:pt x="0" y="11764"/>
                    <a:pt x="11764" y="0"/>
                    <a:pt x="26276" y="0"/>
                  </a:cubicBezTo>
                  <a:close/>
                </a:path>
              </a:pathLst>
            </a:custGeom>
            <a:solidFill>
              <a:srgbClr val="12243A"/>
            </a:solidFill>
            <a:ln cap="sq">
              <a:noFill/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28575"/>
              <a:ext cx="7366000" cy="936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7"/>
                </a:lnSpc>
              </a:pPr>
              <a:r>
                <a:rPr lang="en-US" sz="172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7   Build</a:t>
              </a:r>
            </a:p>
          </p:txBody>
        </p:sp>
      </p:grpSp>
      <p:sp>
        <p:nvSpPr>
          <p:cNvPr name="AutoShape 32" id="32"/>
          <p:cNvSpPr/>
          <p:nvPr/>
        </p:nvSpPr>
        <p:spPr>
          <a:xfrm>
            <a:off x="6096000" y="6381750"/>
            <a:ext cx="6096000" cy="400050"/>
          </a:xfrm>
          <a:prstGeom prst="line">
            <a:avLst/>
          </a:prstGeom>
          <a:ln cap="rnd" w="38100">
            <a:solidFill>
              <a:srgbClr val="365A83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33" id="33"/>
          <p:cNvGrpSpPr/>
          <p:nvPr/>
        </p:nvGrpSpPr>
        <p:grpSpPr>
          <a:xfrm rot="0">
            <a:off x="9429750" y="5657850"/>
            <a:ext cx="5524500" cy="723900"/>
            <a:chOff x="0" y="0"/>
            <a:chExt cx="7366000" cy="9652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366000" cy="965200"/>
            </a:xfrm>
            <a:custGeom>
              <a:avLst/>
              <a:gdLst/>
              <a:ahLst/>
              <a:cxnLst/>
              <a:rect r="r" b="b" t="t" l="l"/>
              <a:pathLst>
                <a:path h="965200" w="7366000">
                  <a:moveTo>
                    <a:pt x="26276" y="0"/>
                  </a:moveTo>
                  <a:lnTo>
                    <a:pt x="7339724" y="0"/>
                  </a:lnTo>
                  <a:cubicBezTo>
                    <a:pt x="7354236" y="0"/>
                    <a:pt x="7366000" y="11764"/>
                    <a:pt x="7366000" y="26276"/>
                  </a:cubicBezTo>
                  <a:lnTo>
                    <a:pt x="7366000" y="938924"/>
                  </a:lnTo>
                  <a:cubicBezTo>
                    <a:pt x="7366000" y="953436"/>
                    <a:pt x="7354236" y="965200"/>
                    <a:pt x="7339724" y="965200"/>
                  </a:cubicBezTo>
                  <a:lnTo>
                    <a:pt x="26276" y="965200"/>
                  </a:lnTo>
                  <a:cubicBezTo>
                    <a:pt x="11764" y="965200"/>
                    <a:pt x="0" y="953436"/>
                    <a:pt x="0" y="938924"/>
                  </a:cubicBezTo>
                  <a:lnTo>
                    <a:pt x="0" y="26276"/>
                  </a:lnTo>
                  <a:cubicBezTo>
                    <a:pt x="0" y="11764"/>
                    <a:pt x="11764" y="0"/>
                    <a:pt x="26276" y="0"/>
                  </a:cubicBezTo>
                  <a:close/>
                </a:path>
              </a:pathLst>
            </a:custGeom>
            <a:solidFill>
              <a:srgbClr val="12243A"/>
            </a:solidFill>
            <a:ln cap="sq">
              <a:noFill/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28575"/>
              <a:ext cx="7366000" cy="936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7"/>
                </a:lnSpc>
              </a:pPr>
              <a:r>
                <a:rPr lang="en-US" sz="172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8   GitHub / demo / evidence</a:t>
              </a:r>
            </a:p>
          </p:txBody>
        </p:sp>
      </p:grpSp>
      <p:sp>
        <p:nvSpPr>
          <p:cNvPr name="AutoShape 36" id="36"/>
          <p:cNvSpPr/>
          <p:nvPr/>
        </p:nvSpPr>
        <p:spPr>
          <a:xfrm flipH="true">
            <a:off x="6096000" y="6381750"/>
            <a:ext cx="6096000" cy="400050"/>
          </a:xfrm>
          <a:prstGeom prst="line">
            <a:avLst/>
          </a:prstGeom>
          <a:ln cap="rnd" w="38100">
            <a:solidFill>
              <a:srgbClr val="365A83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37" id="37"/>
          <p:cNvGrpSpPr/>
          <p:nvPr/>
        </p:nvGrpSpPr>
        <p:grpSpPr>
          <a:xfrm rot="0">
            <a:off x="3333750" y="6781800"/>
            <a:ext cx="5524500" cy="723900"/>
            <a:chOff x="0" y="0"/>
            <a:chExt cx="7366000" cy="9652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366000" cy="965200"/>
            </a:xfrm>
            <a:custGeom>
              <a:avLst/>
              <a:gdLst/>
              <a:ahLst/>
              <a:cxnLst/>
              <a:rect r="r" b="b" t="t" l="l"/>
              <a:pathLst>
                <a:path h="965200" w="7366000">
                  <a:moveTo>
                    <a:pt x="26276" y="0"/>
                  </a:moveTo>
                  <a:lnTo>
                    <a:pt x="7339724" y="0"/>
                  </a:lnTo>
                  <a:cubicBezTo>
                    <a:pt x="7354236" y="0"/>
                    <a:pt x="7366000" y="11764"/>
                    <a:pt x="7366000" y="26276"/>
                  </a:cubicBezTo>
                  <a:lnTo>
                    <a:pt x="7366000" y="938924"/>
                  </a:lnTo>
                  <a:cubicBezTo>
                    <a:pt x="7366000" y="953436"/>
                    <a:pt x="7354236" y="965200"/>
                    <a:pt x="7339724" y="965200"/>
                  </a:cubicBezTo>
                  <a:lnTo>
                    <a:pt x="26276" y="965200"/>
                  </a:lnTo>
                  <a:cubicBezTo>
                    <a:pt x="11764" y="965200"/>
                    <a:pt x="0" y="953436"/>
                    <a:pt x="0" y="938924"/>
                  </a:cubicBezTo>
                  <a:lnTo>
                    <a:pt x="0" y="26276"/>
                  </a:lnTo>
                  <a:cubicBezTo>
                    <a:pt x="0" y="11764"/>
                    <a:pt x="11764" y="0"/>
                    <a:pt x="26276" y="0"/>
                  </a:cubicBezTo>
                  <a:close/>
                </a:path>
              </a:pathLst>
            </a:custGeom>
            <a:solidFill>
              <a:srgbClr val="12243A"/>
            </a:solidFill>
            <a:ln cap="sq">
              <a:noFill/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28575"/>
              <a:ext cx="7366000" cy="936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7"/>
                </a:lnSpc>
              </a:pPr>
              <a:r>
                <a:rPr lang="en-US" sz="172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9   Documentation</a:t>
              </a:r>
            </a:p>
          </p:txBody>
        </p:sp>
      </p:grpSp>
      <p:sp>
        <p:nvSpPr>
          <p:cNvPr name="AutoShape 40" id="40"/>
          <p:cNvSpPr/>
          <p:nvPr/>
        </p:nvSpPr>
        <p:spPr>
          <a:xfrm>
            <a:off x="6096000" y="7505700"/>
            <a:ext cx="6096000" cy="400050"/>
          </a:xfrm>
          <a:prstGeom prst="line">
            <a:avLst/>
          </a:prstGeom>
          <a:ln cap="rnd" w="38100">
            <a:solidFill>
              <a:srgbClr val="365A83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41" id="41"/>
          <p:cNvGrpSpPr/>
          <p:nvPr/>
        </p:nvGrpSpPr>
        <p:grpSpPr>
          <a:xfrm rot="0">
            <a:off x="9429750" y="6781800"/>
            <a:ext cx="5524500" cy="723900"/>
            <a:chOff x="0" y="0"/>
            <a:chExt cx="7366000" cy="9652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366000" cy="965200"/>
            </a:xfrm>
            <a:custGeom>
              <a:avLst/>
              <a:gdLst/>
              <a:ahLst/>
              <a:cxnLst/>
              <a:rect r="r" b="b" t="t" l="l"/>
              <a:pathLst>
                <a:path h="965200" w="7366000">
                  <a:moveTo>
                    <a:pt x="26276" y="0"/>
                  </a:moveTo>
                  <a:lnTo>
                    <a:pt x="7339724" y="0"/>
                  </a:lnTo>
                  <a:cubicBezTo>
                    <a:pt x="7354236" y="0"/>
                    <a:pt x="7366000" y="11764"/>
                    <a:pt x="7366000" y="26276"/>
                  </a:cubicBezTo>
                  <a:lnTo>
                    <a:pt x="7366000" y="938924"/>
                  </a:lnTo>
                  <a:cubicBezTo>
                    <a:pt x="7366000" y="953436"/>
                    <a:pt x="7354236" y="965200"/>
                    <a:pt x="7339724" y="965200"/>
                  </a:cubicBezTo>
                  <a:lnTo>
                    <a:pt x="26276" y="965200"/>
                  </a:lnTo>
                  <a:cubicBezTo>
                    <a:pt x="11764" y="965200"/>
                    <a:pt x="0" y="953436"/>
                    <a:pt x="0" y="938924"/>
                  </a:cubicBezTo>
                  <a:lnTo>
                    <a:pt x="0" y="26276"/>
                  </a:lnTo>
                  <a:cubicBezTo>
                    <a:pt x="0" y="11764"/>
                    <a:pt x="11764" y="0"/>
                    <a:pt x="26276" y="0"/>
                  </a:cubicBezTo>
                  <a:close/>
                </a:path>
              </a:pathLst>
            </a:custGeom>
            <a:solidFill>
              <a:srgbClr val="12243A"/>
            </a:solidFill>
            <a:ln cap="sq">
              <a:noFill/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0" y="28575"/>
              <a:ext cx="7366000" cy="936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7"/>
                </a:lnSpc>
              </a:pPr>
              <a:r>
                <a:rPr lang="en-US" sz="172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10   Viva &amp; presentation</a:t>
              </a:r>
            </a:p>
          </p:txBody>
        </p:sp>
      </p:grpSp>
      <p:sp>
        <p:nvSpPr>
          <p:cNvPr name="AutoShape 44" id="44"/>
          <p:cNvSpPr/>
          <p:nvPr/>
        </p:nvSpPr>
        <p:spPr>
          <a:xfrm flipH="true">
            <a:off x="6096000" y="7505700"/>
            <a:ext cx="6096000" cy="400050"/>
          </a:xfrm>
          <a:prstGeom prst="line">
            <a:avLst/>
          </a:prstGeom>
          <a:ln cap="rnd" w="38100">
            <a:solidFill>
              <a:srgbClr val="365A83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45" id="45"/>
          <p:cNvGrpSpPr/>
          <p:nvPr/>
        </p:nvGrpSpPr>
        <p:grpSpPr>
          <a:xfrm rot="0">
            <a:off x="3333750" y="7905750"/>
            <a:ext cx="5524500" cy="723900"/>
            <a:chOff x="0" y="0"/>
            <a:chExt cx="7366000" cy="9652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366000" cy="965200"/>
            </a:xfrm>
            <a:custGeom>
              <a:avLst/>
              <a:gdLst/>
              <a:ahLst/>
              <a:cxnLst/>
              <a:rect r="r" b="b" t="t" l="l"/>
              <a:pathLst>
                <a:path h="965200" w="7366000">
                  <a:moveTo>
                    <a:pt x="26276" y="0"/>
                  </a:moveTo>
                  <a:lnTo>
                    <a:pt x="7339724" y="0"/>
                  </a:lnTo>
                  <a:cubicBezTo>
                    <a:pt x="7354236" y="0"/>
                    <a:pt x="7366000" y="11764"/>
                    <a:pt x="7366000" y="26276"/>
                  </a:cubicBezTo>
                  <a:lnTo>
                    <a:pt x="7366000" y="938924"/>
                  </a:lnTo>
                  <a:cubicBezTo>
                    <a:pt x="7366000" y="953436"/>
                    <a:pt x="7354236" y="965200"/>
                    <a:pt x="7339724" y="965200"/>
                  </a:cubicBezTo>
                  <a:lnTo>
                    <a:pt x="26276" y="965200"/>
                  </a:lnTo>
                  <a:cubicBezTo>
                    <a:pt x="11764" y="965200"/>
                    <a:pt x="0" y="953436"/>
                    <a:pt x="0" y="938924"/>
                  </a:cubicBezTo>
                  <a:lnTo>
                    <a:pt x="0" y="26276"/>
                  </a:lnTo>
                  <a:cubicBezTo>
                    <a:pt x="0" y="11764"/>
                    <a:pt x="11764" y="0"/>
                    <a:pt x="26276" y="0"/>
                  </a:cubicBezTo>
                  <a:close/>
                </a:path>
              </a:pathLst>
            </a:custGeom>
            <a:solidFill>
              <a:srgbClr val="2F7DF6"/>
            </a:solidFill>
            <a:ln cap="sq">
              <a:noFill/>
              <a:prstDash val="solid"/>
              <a:miter/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0" y="28575"/>
              <a:ext cx="7366000" cy="936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7"/>
                </a:lnSpc>
              </a:pPr>
              <a:r>
                <a:rPr lang="en-US" sz="172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11   Interview preparation</a:t>
              </a:r>
            </a:p>
          </p:txBody>
        </p:sp>
      </p:grpSp>
      <p:sp>
        <p:nvSpPr>
          <p:cNvPr name="AutoShape 48" id="48"/>
          <p:cNvSpPr/>
          <p:nvPr/>
        </p:nvSpPr>
        <p:spPr>
          <a:xfrm>
            <a:off x="857250" y="9601200"/>
            <a:ext cx="16573500" cy="0"/>
          </a:xfrm>
          <a:prstGeom prst="line">
            <a:avLst/>
          </a:prstGeom>
          <a:ln cap="flat" w="9525">
            <a:solidFill>
              <a:srgbClr val="26364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9" id="49"/>
          <p:cNvSpPr txBox="true"/>
          <p:nvPr/>
        </p:nvSpPr>
        <p:spPr>
          <a:xfrm rot="0">
            <a:off x="857250" y="9772650"/>
            <a:ext cx="2857500" cy="196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PROJECTSFORGE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6764000" y="9772650"/>
            <a:ext cx="666750" cy="196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7250" y="571500"/>
            <a:ext cx="14287500" cy="1111568"/>
            <a:chOff x="0" y="0"/>
            <a:chExt cx="19050000" cy="148209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28575"/>
              <a:ext cx="8255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08" b="true">
                  <a:solidFill>
                    <a:srgbClr val="2F7DF6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07  /  PROJECTSFORGE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676275"/>
              <a:ext cx="19050000" cy="8058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67"/>
                </a:lnSpc>
              </a:pPr>
              <a:r>
                <a:rPr lang="en-US" sz="4350" b="true">
                  <a:solidFill>
                    <a:srgbClr val="101828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Personalized project discovery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57250" y="2428875"/>
            <a:ext cx="4762500" cy="6191250"/>
            <a:chOff x="0" y="0"/>
            <a:chExt cx="6350000" cy="8255000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6350000" cy="8255000"/>
              <a:chOff x="0" y="0"/>
              <a:chExt cx="6350000" cy="82550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350000" cy="8255000"/>
              </a:xfrm>
              <a:custGeom>
                <a:avLst/>
                <a:gdLst/>
                <a:ahLst/>
                <a:cxnLst/>
                <a:rect r="r" b="b" t="t" l="l"/>
                <a:pathLst>
                  <a:path h="8255000" w="6350000">
                    <a:moveTo>
                      <a:pt x="0" y="0"/>
                    </a:moveTo>
                    <a:lnTo>
                      <a:pt x="6350000" y="0"/>
                    </a:lnTo>
                    <a:lnTo>
                      <a:pt x="6350000" y="8255000"/>
                    </a:lnTo>
                    <a:lnTo>
                      <a:pt x="0" y="8255000"/>
                    </a:lnTo>
                    <a:close/>
                  </a:path>
                </a:pathLst>
              </a:custGeom>
              <a:solidFill>
                <a:srgbClr val="10182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6350000" cy="829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508000" y="542925"/>
              <a:ext cx="5080000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spc="120" b="true">
                  <a:solidFill>
                    <a:srgbClr val="75AA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STUDENT PROFILE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508000" y="1301750"/>
              <a:ext cx="4953000" cy="27349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41"/>
                </a:lnSpc>
              </a:pPr>
              <a:r>
                <a:rPr lang="en-US" sz="2025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2nd year</a:t>
              </a:r>
            </a:p>
            <a:p>
              <a:pPr algn="l">
                <a:lnSpc>
                  <a:spcPts val="3341"/>
                </a:lnSpc>
              </a:pPr>
              <a:r>
                <a:rPr lang="en-US" sz="2025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Electronics &amp; Communication</a:t>
              </a:r>
            </a:p>
            <a:p>
              <a:pPr algn="l">
                <a:lnSpc>
                  <a:spcPts val="3341"/>
                </a:lnSpc>
              </a:pPr>
              <a:r>
                <a:rPr lang="en-US" sz="2025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Beginner Python</a:t>
              </a:r>
            </a:p>
            <a:p>
              <a:pPr algn="l">
                <a:lnSpc>
                  <a:spcPts val="3341"/>
                </a:lnSpc>
              </a:pPr>
              <a:r>
                <a:rPr lang="en-US" sz="2025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AI + sustainability</a:t>
              </a:r>
            </a:p>
            <a:p>
              <a:pPr algn="l">
                <a:lnSpc>
                  <a:spcPts val="3341"/>
                </a:lnSpc>
              </a:pPr>
              <a:r>
                <a:rPr lang="en-US" sz="2025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6 hours / week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6286500" y="2552700"/>
            <a:ext cx="8572500" cy="386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3"/>
              </a:lnSpc>
            </a:pPr>
            <a:r>
              <a:rPr lang="en-US" sz="2775" b="true">
                <a:solidFill>
                  <a:srgbClr val="10182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Recommended for you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286500" y="8448675"/>
            <a:ext cx="6667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08" b="true">
                <a:solidFill>
                  <a:srgbClr val="2F7DF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PROTOTYPE INTERFACE — NOT FINAL PRODUCT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286500" y="3286125"/>
            <a:ext cx="10763250" cy="1381125"/>
            <a:chOff x="0" y="0"/>
            <a:chExt cx="14351000" cy="1841500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14351000" cy="1841500"/>
              <a:chOff x="0" y="0"/>
              <a:chExt cx="14351000" cy="18415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4351000" cy="1841500"/>
              </a:xfrm>
              <a:custGeom>
                <a:avLst/>
                <a:gdLst/>
                <a:ahLst/>
                <a:cxnLst/>
                <a:rect r="r" b="b" t="t" l="l"/>
                <a:pathLst>
                  <a:path h="1841500" w="14351000">
                    <a:moveTo>
                      <a:pt x="0" y="0"/>
                    </a:moveTo>
                    <a:lnTo>
                      <a:pt x="14351000" y="0"/>
                    </a:lnTo>
                    <a:lnTo>
                      <a:pt x="14351000" y="1841500"/>
                    </a:lnTo>
                    <a:lnTo>
                      <a:pt x="0" y="18415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14351000" cy="1879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508000" y="355600"/>
              <a:ext cx="9652000" cy="398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83"/>
                </a:lnSpc>
              </a:pPr>
              <a:r>
                <a:rPr lang="en-US" sz="2175" b="true">
                  <a:solidFill>
                    <a:srgbClr val="101828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AI Waste Classification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508000" y="898525"/>
              <a:ext cx="7620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08" b="true">
                  <a:solidFill>
                    <a:srgbClr val="2F7DF6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Intermediate • 6 weeks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508000" y="1400175"/>
              <a:ext cx="11938000" cy="314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en-US" sz="1500">
                  <a:solidFill>
                    <a:srgbClr val="667085"/>
                  </a:solidFill>
                  <a:latin typeface="Open Sans"/>
                  <a:ea typeface="Open Sans"/>
                  <a:cs typeface="Open Sans"/>
                  <a:sym typeface="Open Sans"/>
                </a:rPr>
                <a:t>Why this project?  Matches Python interest; introduces computer vision with a clear demo.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286500" y="4857750"/>
            <a:ext cx="10763250" cy="1381125"/>
            <a:chOff x="0" y="0"/>
            <a:chExt cx="14351000" cy="1841500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14351000" cy="1841500"/>
              <a:chOff x="0" y="0"/>
              <a:chExt cx="14351000" cy="18415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4351000" cy="1841500"/>
              </a:xfrm>
              <a:custGeom>
                <a:avLst/>
                <a:gdLst/>
                <a:ahLst/>
                <a:cxnLst/>
                <a:rect r="r" b="b" t="t" l="l"/>
                <a:pathLst>
                  <a:path h="1841500" w="14351000">
                    <a:moveTo>
                      <a:pt x="0" y="0"/>
                    </a:moveTo>
                    <a:lnTo>
                      <a:pt x="14351000" y="0"/>
                    </a:lnTo>
                    <a:lnTo>
                      <a:pt x="14351000" y="1841500"/>
                    </a:lnTo>
                    <a:lnTo>
                      <a:pt x="0" y="18415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38100"/>
                <a:ext cx="14351000" cy="1879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508000" y="355600"/>
              <a:ext cx="9652000" cy="398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83"/>
                </a:lnSpc>
              </a:pPr>
              <a:r>
                <a:rPr lang="en-US" sz="2175" b="true">
                  <a:solidFill>
                    <a:srgbClr val="101828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Smart Energy Monitor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508000" y="898525"/>
              <a:ext cx="7620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08" b="true">
                  <a:solidFill>
                    <a:srgbClr val="2F7DF6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Beginner • 4 weeks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508000" y="1400175"/>
              <a:ext cx="11938000" cy="314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en-US" sz="1500">
                  <a:solidFill>
                    <a:srgbClr val="667085"/>
                  </a:solidFill>
                  <a:latin typeface="Open Sans"/>
                  <a:ea typeface="Open Sans"/>
                  <a:cs typeface="Open Sans"/>
                  <a:sym typeface="Open Sans"/>
                </a:rPr>
                <a:t>Why this project?  Builds embedded fundamentals around a sustainability use case.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6286500" y="6429375"/>
            <a:ext cx="10763250" cy="1381125"/>
            <a:chOff x="0" y="0"/>
            <a:chExt cx="14351000" cy="1841500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14351000" cy="1841500"/>
              <a:chOff x="0" y="0"/>
              <a:chExt cx="14351000" cy="18415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4351000" cy="1841500"/>
              </a:xfrm>
              <a:custGeom>
                <a:avLst/>
                <a:gdLst/>
                <a:ahLst/>
                <a:cxnLst/>
                <a:rect r="r" b="b" t="t" l="l"/>
                <a:pathLst>
                  <a:path h="1841500" w="14351000">
                    <a:moveTo>
                      <a:pt x="0" y="0"/>
                    </a:moveTo>
                    <a:lnTo>
                      <a:pt x="14351000" y="0"/>
                    </a:lnTo>
                    <a:lnTo>
                      <a:pt x="14351000" y="1841500"/>
                    </a:lnTo>
                    <a:lnTo>
                      <a:pt x="0" y="18415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14351000" cy="1879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508000" y="355600"/>
              <a:ext cx="9652000" cy="398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83"/>
                </a:lnSpc>
              </a:pPr>
              <a:r>
                <a:rPr lang="en-US" sz="2175" b="true">
                  <a:solidFill>
                    <a:srgbClr val="101828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Campus Water Audit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508000" y="898525"/>
              <a:ext cx="7620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08" b="true">
                  <a:solidFill>
                    <a:srgbClr val="2F7DF6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Beginner • 3 weeks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508000" y="1400175"/>
              <a:ext cx="11938000" cy="314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en-US" sz="1500">
                  <a:solidFill>
                    <a:srgbClr val="667085"/>
                  </a:solidFill>
                  <a:latin typeface="Open Sans"/>
                  <a:ea typeface="Open Sans"/>
                  <a:cs typeface="Open Sans"/>
                  <a:sym typeface="Open Sans"/>
                </a:rPr>
                <a:t>Why this project?  Low-cost data project with measurable field evidence.</a:t>
              </a:r>
            </a:p>
          </p:txBody>
        </p:sp>
      </p:grpSp>
      <p:sp>
        <p:nvSpPr>
          <p:cNvPr name="AutoShape 34" id="34"/>
          <p:cNvSpPr/>
          <p:nvPr/>
        </p:nvSpPr>
        <p:spPr>
          <a:xfrm>
            <a:off x="857250" y="9601200"/>
            <a:ext cx="16573500" cy="0"/>
          </a:xfrm>
          <a:prstGeom prst="line">
            <a:avLst/>
          </a:prstGeom>
          <a:ln cap="flat" w="9525">
            <a:solidFill>
              <a:srgbClr val="D9E1E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5" id="35"/>
          <p:cNvSpPr txBox="true"/>
          <p:nvPr/>
        </p:nvSpPr>
        <p:spPr>
          <a:xfrm rot="0">
            <a:off x="857250" y="9782175"/>
            <a:ext cx="2857500" cy="184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0"/>
              </a:lnSpc>
            </a:pPr>
            <a:r>
              <a:rPr lang="en-US" sz="1200">
                <a:solidFill>
                  <a:srgbClr val="667085"/>
                </a:solidFill>
                <a:latin typeface="Open Sans"/>
                <a:ea typeface="Open Sans"/>
                <a:cs typeface="Open Sans"/>
                <a:sym typeface="Open Sans"/>
              </a:rPr>
              <a:t>PROJECTSFORGE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6764000" y="9782175"/>
            <a:ext cx="666750" cy="184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60"/>
              </a:lnSpc>
            </a:pPr>
            <a:r>
              <a:rPr lang="en-US" sz="1200">
                <a:solidFill>
                  <a:srgbClr val="667085"/>
                </a:solidFill>
                <a:latin typeface="Open Sans"/>
                <a:ea typeface="Open Sans"/>
                <a:cs typeface="Open Sans"/>
                <a:sym typeface="Open San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7250" y="571500"/>
            <a:ext cx="14287500" cy="1111568"/>
            <a:chOff x="0" y="0"/>
            <a:chExt cx="19050000" cy="148209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28575"/>
              <a:ext cx="8255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08" b="true">
                  <a:solidFill>
                    <a:srgbClr val="2F7DF6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08  /  PROJECTSFORGE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676275"/>
              <a:ext cx="19050000" cy="8058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67"/>
                </a:lnSpc>
              </a:pPr>
              <a:r>
                <a:rPr lang="en-US" sz="4350" b="true">
                  <a:solidFill>
                    <a:srgbClr val="101828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Project detail interface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57250" y="2333625"/>
            <a:ext cx="3238500" cy="6667500"/>
            <a:chOff x="0" y="0"/>
            <a:chExt cx="4318000" cy="8890000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4318000" cy="8890000"/>
              <a:chOff x="0" y="0"/>
              <a:chExt cx="4318000" cy="88900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318000" cy="8890000"/>
              </a:xfrm>
              <a:custGeom>
                <a:avLst/>
                <a:gdLst/>
                <a:ahLst/>
                <a:cxnLst/>
                <a:rect r="r" b="b" t="t" l="l"/>
                <a:pathLst>
                  <a:path h="8890000" w="4318000">
                    <a:moveTo>
                      <a:pt x="0" y="0"/>
                    </a:moveTo>
                    <a:lnTo>
                      <a:pt x="4318000" y="0"/>
                    </a:lnTo>
                    <a:lnTo>
                      <a:pt x="4318000" y="8890000"/>
                    </a:lnTo>
                    <a:lnTo>
                      <a:pt x="0" y="8890000"/>
                    </a:lnTo>
                    <a:close/>
                  </a:path>
                </a:pathLst>
              </a:custGeom>
              <a:solidFill>
                <a:srgbClr val="10182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4318000" cy="892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444500" y="600075"/>
              <a:ext cx="3429000" cy="8159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62"/>
                </a:lnSpc>
              </a:pPr>
              <a:r>
                <a:rPr lang="en-US" sz="225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AI WASTE</a:t>
              </a:r>
            </a:p>
            <a:p>
              <a:pPr algn="l">
                <a:lnSpc>
                  <a:spcPts val="2362"/>
                </a:lnSpc>
              </a:pPr>
              <a:r>
                <a:rPr lang="en-US" sz="225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CLASSIFICATION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444500" y="2263775"/>
              <a:ext cx="3175000" cy="1355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5"/>
                </a:lnSpc>
              </a:pPr>
              <a:r>
                <a:rPr lang="en-US" sz="165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Intermediate</a:t>
              </a:r>
            </a:p>
            <a:p>
              <a:pPr algn="l">
                <a:lnSpc>
                  <a:spcPts val="2805"/>
                </a:lnSpc>
              </a:pPr>
              <a:r>
                <a:rPr lang="en-US" sz="165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6 weeks</a:t>
              </a:r>
            </a:p>
            <a:p>
              <a:pPr algn="l">
                <a:lnSpc>
                  <a:spcPts val="2805"/>
                </a:lnSpc>
              </a:pPr>
              <a:r>
                <a:rPr lang="en-US" sz="165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Python • Vision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4667250" y="2476500"/>
            <a:ext cx="9525000" cy="378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2"/>
              </a:lnSpc>
            </a:pPr>
            <a:r>
              <a:rPr lang="en-US" sz="2850" b="true">
                <a:solidFill>
                  <a:srgbClr val="10182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Turn a real problem into a build plan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667250" y="3124200"/>
            <a:ext cx="11906250" cy="576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8"/>
              </a:lnSpc>
            </a:pPr>
            <a:r>
              <a:rPr lang="en-US" sz="1725">
                <a:solidFill>
                  <a:srgbClr val="101828"/>
                </a:solidFill>
                <a:latin typeface="Open Sans"/>
                <a:ea typeface="Open Sans"/>
                <a:cs typeface="Open Sans"/>
                <a:sym typeface="Open Sans"/>
              </a:rPr>
              <a:t>Problem statement</a:t>
            </a:r>
          </a:p>
          <a:p>
            <a:pPr algn="l">
              <a:lnSpc>
                <a:spcPts val="2328"/>
              </a:lnSpc>
            </a:pPr>
            <a:r>
              <a:rPr lang="en-US" sz="1725">
                <a:solidFill>
                  <a:srgbClr val="101828"/>
                </a:solidFill>
                <a:latin typeface="Open Sans"/>
                <a:ea typeface="Open Sans"/>
                <a:cs typeface="Open Sans"/>
                <a:sym typeface="Open Sans"/>
              </a:rPr>
              <a:t>Classify common waste categories and explain model decisions.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4667250" y="4572000"/>
            <a:ext cx="5619750" cy="590550"/>
            <a:chOff x="0" y="0"/>
            <a:chExt cx="7493000" cy="787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493000" cy="787400"/>
            </a:xfrm>
            <a:custGeom>
              <a:avLst/>
              <a:gdLst/>
              <a:ahLst/>
              <a:cxnLst/>
              <a:rect r="r" b="b" t="t" l="l"/>
              <a:pathLst>
                <a:path h="787400" w="7493000">
                  <a:moveTo>
                    <a:pt x="25831" y="0"/>
                  </a:moveTo>
                  <a:lnTo>
                    <a:pt x="7467170" y="0"/>
                  </a:lnTo>
                  <a:cubicBezTo>
                    <a:pt x="7481436" y="0"/>
                    <a:pt x="7493000" y="11565"/>
                    <a:pt x="7493000" y="25831"/>
                  </a:cubicBezTo>
                  <a:lnTo>
                    <a:pt x="7493000" y="761570"/>
                  </a:lnTo>
                  <a:cubicBezTo>
                    <a:pt x="7493000" y="775835"/>
                    <a:pt x="7481436" y="787400"/>
                    <a:pt x="7467170" y="787400"/>
                  </a:cubicBezTo>
                  <a:lnTo>
                    <a:pt x="25831" y="787400"/>
                  </a:lnTo>
                  <a:cubicBezTo>
                    <a:pt x="11565" y="787400"/>
                    <a:pt x="0" y="775835"/>
                    <a:pt x="0" y="761570"/>
                  </a:cubicBezTo>
                  <a:lnTo>
                    <a:pt x="0" y="25831"/>
                  </a:lnTo>
                  <a:cubicBezTo>
                    <a:pt x="0" y="11565"/>
                    <a:pt x="11565" y="0"/>
                    <a:pt x="25831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19050"/>
              <a:ext cx="7493000" cy="768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50"/>
                </a:lnSpc>
              </a:pPr>
              <a:r>
                <a:rPr lang="en-US" sz="1500" b="true">
                  <a:solidFill>
                    <a:srgbClr val="10182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Skills required / learned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668000" y="4572000"/>
            <a:ext cx="5619750" cy="590550"/>
            <a:chOff x="0" y="0"/>
            <a:chExt cx="7493000" cy="787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493000" cy="787400"/>
            </a:xfrm>
            <a:custGeom>
              <a:avLst/>
              <a:gdLst/>
              <a:ahLst/>
              <a:cxnLst/>
              <a:rect r="r" b="b" t="t" l="l"/>
              <a:pathLst>
                <a:path h="787400" w="7493000">
                  <a:moveTo>
                    <a:pt x="25831" y="0"/>
                  </a:moveTo>
                  <a:lnTo>
                    <a:pt x="7467170" y="0"/>
                  </a:lnTo>
                  <a:cubicBezTo>
                    <a:pt x="7481436" y="0"/>
                    <a:pt x="7493000" y="11565"/>
                    <a:pt x="7493000" y="25831"/>
                  </a:cubicBezTo>
                  <a:lnTo>
                    <a:pt x="7493000" y="761570"/>
                  </a:lnTo>
                  <a:cubicBezTo>
                    <a:pt x="7493000" y="775835"/>
                    <a:pt x="7481436" y="787400"/>
                    <a:pt x="7467170" y="787400"/>
                  </a:cubicBezTo>
                  <a:lnTo>
                    <a:pt x="25831" y="787400"/>
                  </a:lnTo>
                  <a:cubicBezTo>
                    <a:pt x="11565" y="787400"/>
                    <a:pt x="0" y="775835"/>
                    <a:pt x="0" y="761570"/>
                  </a:cubicBezTo>
                  <a:lnTo>
                    <a:pt x="0" y="25831"/>
                  </a:lnTo>
                  <a:cubicBezTo>
                    <a:pt x="0" y="11565"/>
                    <a:pt x="11565" y="0"/>
                    <a:pt x="25831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19050"/>
              <a:ext cx="7493000" cy="768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50"/>
                </a:lnSpc>
              </a:pPr>
              <a:r>
                <a:rPr lang="en-US" sz="1500" b="true">
                  <a:solidFill>
                    <a:srgbClr val="10182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Tech stack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4667250" y="5410200"/>
            <a:ext cx="5619750" cy="590550"/>
            <a:chOff x="0" y="0"/>
            <a:chExt cx="7493000" cy="787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493000" cy="787400"/>
            </a:xfrm>
            <a:custGeom>
              <a:avLst/>
              <a:gdLst/>
              <a:ahLst/>
              <a:cxnLst/>
              <a:rect r="r" b="b" t="t" l="l"/>
              <a:pathLst>
                <a:path h="787400" w="7493000">
                  <a:moveTo>
                    <a:pt x="25831" y="0"/>
                  </a:moveTo>
                  <a:lnTo>
                    <a:pt x="7467170" y="0"/>
                  </a:lnTo>
                  <a:cubicBezTo>
                    <a:pt x="7481436" y="0"/>
                    <a:pt x="7493000" y="11565"/>
                    <a:pt x="7493000" y="25831"/>
                  </a:cubicBezTo>
                  <a:lnTo>
                    <a:pt x="7493000" y="761570"/>
                  </a:lnTo>
                  <a:cubicBezTo>
                    <a:pt x="7493000" y="775835"/>
                    <a:pt x="7481436" y="787400"/>
                    <a:pt x="7467170" y="787400"/>
                  </a:cubicBezTo>
                  <a:lnTo>
                    <a:pt x="25831" y="787400"/>
                  </a:lnTo>
                  <a:cubicBezTo>
                    <a:pt x="11565" y="787400"/>
                    <a:pt x="0" y="775835"/>
                    <a:pt x="0" y="761570"/>
                  </a:cubicBezTo>
                  <a:lnTo>
                    <a:pt x="0" y="25831"/>
                  </a:lnTo>
                  <a:cubicBezTo>
                    <a:pt x="0" y="11565"/>
                    <a:pt x="11565" y="0"/>
                    <a:pt x="25831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19050"/>
              <a:ext cx="7493000" cy="768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50"/>
                </a:lnSpc>
              </a:pPr>
              <a:r>
                <a:rPr lang="en-US" sz="1500" b="true">
                  <a:solidFill>
                    <a:srgbClr val="10182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Prerequisites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668000" y="5410200"/>
            <a:ext cx="5619750" cy="590550"/>
            <a:chOff x="0" y="0"/>
            <a:chExt cx="7493000" cy="787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493000" cy="787400"/>
            </a:xfrm>
            <a:custGeom>
              <a:avLst/>
              <a:gdLst/>
              <a:ahLst/>
              <a:cxnLst/>
              <a:rect r="r" b="b" t="t" l="l"/>
              <a:pathLst>
                <a:path h="787400" w="7493000">
                  <a:moveTo>
                    <a:pt x="25831" y="0"/>
                  </a:moveTo>
                  <a:lnTo>
                    <a:pt x="7467170" y="0"/>
                  </a:lnTo>
                  <a:cubicBezTo>
                    <a:pt x="7481436" y="0"/>
                    <a:pt x="7493000" y="11565"/>
                    <a:pt x="7493000" y="25831"/>
                  </a:cubicBezTo>
                  <a:lnTo>
                    <a:pt x="7493000" y="761570"/>
                  </a:lnTo>
                  <a:cubicBezTo>
                    <a:pt x="7493000" y="775835"/>
                    <a:pt x="7481436" y="787400"/>
                    <a:pt x="7467170" y="787400"/>
                  </a:cubicBezTo>
                  <a:lnTo>
                    <a:pt x="25831" y="787400"/>
                  </a:lnTo>
                  <a:cubicBezTo>
                    <a:pt x="11565" y="787400"/>
                    <a:pt x="0" y="775835"/>
                    <a:pt x="0" y="761570"/>
                  </a:cubicBezTo>
                  <a:lnTo>
                    <a:pt x="0" y="25831"/>
                  </a:lnTo>
                  <a:cubicBezTo>
                    <a:pt x="0" y="11565"/>
                    <a:pt x="11565" y="0"/>
                    <a:pt x="25831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19050"/>
              <a:ext cx="7493000" cy="768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50"/>
                </a:lnSpc>
              </a:pPr>
              <a:r>
                <a:rPr lang="en-US" sz="1500" b="true">
                  <a:solidFill>
                    <a:srgbClr val="10182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Architecture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4667250" y="6248400"/>
            <a:ext cx="5619750" cy="590550"/>
            <a:chOff x="0" y="0"/>
            <a:chExt cx="7493000" cy="7874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493000" cy="787400"/>
            </a:xfrm>
            <a:custGeom>
              <a:avLst/>
              <a:gdLst/>
              <a:ahLst/>
              <a:cxnLst/>
              <a:rect r="r" b="b" t="t" l="l"/>
              <a:pathLst>
                <a:path h="787400" w="7493000">
                  <a:moveTo>
                    <a:pt x="25831" y="0"/>
                  </a:moveTo>
                  <a:lnTo>
                    <a:pt x="7467170" y="0"/>
                  </a:lnTo>
                  <a:cubicBezTo>
                    <a:pt x="7481436" y="0"/>
                    <a:pt x="7493000" y="11565"/>
                    <a:pt x="7493000" y="25831"/>
                  </a:cubicBezTo>
                  <a:lnTo>
                    <a:pt x="7493000" y="761570"/>
                  </a:lnTo>
                  <a:cubicBezTo>
                    <a:pt x="7493000" y="775835"/>
                    <a:pt x="7481436" y="787400"/>
                    <a:pt x="7467170" y="787400"/>
                  </a:cubicBezTo>
                  <a:lnTo>
                    <a:pt x="25831" y="787400"/>
                  </a:lnTo>
                  <a:cubicBezTo>
                    <a:pt x="11565" y="787400"/>
                    <a:pt x="0" y="775835"/>
                    <a:pt x="0" y="761570"/>
                  </a:cubicBezTo>
                  <a:lnTo>
                    <a:pt x="0" y="25831"/>
                  </a:lnTo>
                  <a:cubicBezTo>
                    <a:pt x="0" y="11565"/>
                    <a:pt x="11565" y="0"/>
                    <a:pt x="25831" y="0"/>
                  </a:cubicBezTo>
                  <a:close/>
                </a:path>
              </a:pathLst>
            </a:custGeom>
            <a:solidFill>
              <a:srgbClr val="2F7DF6"/>
            </a:solidFill>
            <a:ln cap="sq">
              <a:noFill/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19050"/>
              <a:ext cx="7493000" cy="768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50"/>
                </a:lnSpc>
              </a:pPr>
              <a:r>
                <a:rPr lang="en-US" sz="150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Milestones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0668000" y="6248400"/>
            <a:ext cx="5619750" cy="590550"/>
            <a:chOff x="0" y="0"/>
            <a:chExt cx="7493000" cy="7874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493000" cy="787400"/>
            </a:xfrm>
            <a:custGeom>
              <a:avLst/>
              <a:gdLst/>
              <a:ahLst/>
              <a:cxnLst/>
              <a:rect r="r" b="b" t="t" l="l"/>
              <a:pathLst>
                <a:path h="787400" w="7493000">
                  <a:moveTo>
                    <a:pt x="25831" y="0"/>
                  </a:moveTo>
                  <a:lnTo>
                    <a:pt x="7467170" y="0"/>
                  </a:lnTo>
                  <a:cubicBezTo>
                    <a:pt x="7481436" y="0"/>
                    <a:pt x="7493000" y="11565"/>
                    <a:pt x="7493000" y="25831"/>
                  </a:cubicBezTo>
                  <a:lnTo>
                    <a:pt x="7493000" y="761570"/>
                  </a:lnTo>
                  <a:cubicBezTo>
                    <a:pt x="7493000" y="775835"/>
                    <a:pt x="7481436" y="787400"/>
                    <a:pt x="7467170" y="787400"/>
                  </a:cubicBezTo>
                  <a:lnTo>
                    <a:pt x="25831" y="787400"/>
                  </a:lnTo>
                  <a:cubicBezTo>
                    <a:pt x="11565" y="787400"/>
                    <a:pt x="0" y="775835"/>
                    <a:pt x="0" y="761570"/>
                  </a:cubicBezTo>
                  <a:lnTo>
                    <a:pt x="0" y="25831"/>
                  </a:lnTo>
                  <a:cubicBezTo>
                    <a:pt x="0" y="11565"/>
                    <a:pt x="11565" y="0"/>
                    <a:pt x="25831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19050"/>
              <a:ext cx="7493000" cy="768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50"/>
                </a:lnSpc>
              </a:pPr>
              <a:r>
                <a:rPr lang="en-US" sz="1500" b="true">
                  <a:solidFill>
                    <a:srgbClr val="10182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Learning resources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4667250" y="7086600"/>
            <a:ext cx="5619750" cy="590550"/>
            <a:chOff x="0" y="0"/>
            <a:chExt cx="7493000" cy="7874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493000" cy="787400"/>
            </a:xfrm>
            <a:custGeom>
              <a:avLst/>
              <a:gdLst/>
              <a:ahLst/>
              <a:cxnLst/>
              <a:rect r="r" b="b" t="t" l="l"/>
              <a:pathLst>
                <a:path h="787400" w="7493000">
                  <a:moveTo>
                    <a:pt x="25831" y="0"/>
                  </a:moveTo>
                  <a:lnTo>
                    <a:pt x="7467170" y="0"/>
                  </a:lnTo>
                  <a:cubicBezTo>
                    <a:pt x="7481436" y="0"/>
                    <a:pt x="7493000" y="11565"/>
                    <a:pt x="7493000" y="25831"/>
                  </a:cubicBezTo>
                  <a:lnTo>
                    <a:pt x="7493000" y="761570"/>
                  </a:lnTo>
                  <a:cubicBezTo>
                    <a:pt x="7493000" y="775835"/>
                    <a:pt x="7481436" y="787400"/>
                    <a:pt x="7467170" y="787400"/>
                  </a:cubicBezTo>
                  <a:lnTo>
                    <a:pt x="25831" y="787400"/>
                  </a:lnTo>
                  <a:cubicBezTo>
                    <a:pt x="11565" y="787400"/>
                    <a:pt x="0" y="775835"/>
                    <a:pt x="0" y="761570"/>
                  </a:cubicBezTo>
                  <a:lnTo>
                    <a:pt x="0" y="25831"/>
                  </a:lnTo>
                  <a:cubicBezTo>
                    <a:pt x="0" y="11565"/>
                    <a:pt x="11565" y="0"/>
                    <a:pt x="25831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19050"/>
              <a:ext cx="7493000" cy="768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50"/>
                </a:lnSpc>
              </a:pPr>
              <a:r>
                <a:rPr lang="en-US" sz="1500" b="true">
                  <a:solidFill>
                    <a:srgbClr val="10182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Deliverables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668000" y="7086600"/>
            <a:ext cx="5619750" cy="590550"/>
            <a:chOff x="0" y="0"/>
            <a:chExt cx="7493000" cy="7874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493000" cy="787400"/>
            </a:xfrm>
            <a:custGeom>
              <a:avLst/>
              <a:gdLst/>
              <a:ahLst/>
              <a:cxnLst/>
              <a:rect r="r" b="b" t="t" l="l"/>
              <a:pathLst>
                <a:path h="787400" w="7493000">
                  <a:moveTo>
                    <a:pt x="25831" y="0"/>
                  </a:moveTo>
                  <a:lnTo>
                    <a:pt x="7467170" y="0"/>
                  </a:lnTo>
                  <a:cubicBezTo>
                    <a:pt x="7481436" y="0"/>
                    <a:pt x="7493000" y="11565"/>
                    <a:pt x="7493000" y="25831"/>
                  </a:cubicBezTo>
                  <a:lnTo>
                    <a:pt x="7493000" y="761570"/>
                  </a:lnTo>
                  <a:cubicBezTo>
                    <a:pt x="7493000" y="775835"/>
                    <a:pt x="7481436" y="787400"/>
                    <a:pt x="7467170" y="787400"/>
                  </a:cubicBezTo>
                  <a:lnTo>
                    <a:pt x="25831" y="787400"/>
                  </a:lnTo>
                  <a:cubicBezTo>
                    <a:pt x="11565" y="787400"/>
                    <a:pt x="0" y="775835"/>
                    <a:pt x="0" y="761570"/>
                  </a:cubicBezTo>
                  <a:lnTo>
                    <a:pt x="0" y="25831"/>
                  </a:lnTo>
                  <a:cubicBezTo>
                    <a:pt x="0" y="11565"/>
                    <a:pt x="11565" y="0"/>
                    <a:pt x="25831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19050"/>
              <a:ext cx="7493000" cy="768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50"/>
                </a:lnSpc>
              </a:pPr>
              <a:r>
                <a:rPr lang="en-US" sz="1500" b="true">
                  <a:solidFill>
                    <a:srgbClr val="10182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GitHub + demo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4667250" y="7924800"/>
            <a:ext cx="5619750" cy="590550"/>
            <a:chOff x="0" y="0"/>
            <a:chExt cx="7493000" cy="7874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493000" cy="787400"/>
            </a:xfrm>
            <a:custGeom>
              <a:avLst/>
              <a:gdLst/>
              <a:ahLst/>
              <a:cxnLst/>
              <a:rect r="r" b="b" t="t" l="l"/>
              <a:pathLst>
                <a:path h="787400" w="7493000">
                  <a:moveTo>
                    <a:pt x="25831" y="0"/>
                  </a:moveTo>
                  <a:lnTo>
                    <a:pt x="7467170" y="0"/>
                  </a:lnTo>
                  <a:cubicBezTo>
                    <a:pt x="7481436" y="0"/>
                    <a:pt x="7493000" y="11565"/>
                    <a:pt x="7493000" y="25831"/>
                  </a:cubicBezTo>
                  <a:lnTo>
                    <a:pt x="7493000" y="761570"/>
                  </a:lnTo>
                  <a:cubicBezTo>
                    <a:pt x="7493000" y="775835"/>
                    <a:pt x="7481436" y="787400"/>
                    <a:pt x="7467170" y="787400"/>
                  </a:cubicBezTo>
                  <a:lnTo>
                    <a:pt x="25831" y="787400"/>
                  </a:lnTo>
                  <a:cubicBezTo>
                    <a:pt x="11565" y="787400"/>
                    <a:pt x="0" y="775835"/>
                    <a:pt x="0" y="761570"/>
                  </a:cubicBezTo>
                  <a:lnTo>
                    <a:pt x="0" y="25831"/>
                  </a:lnTo>
                  <a:cubicBezTo>
                    <a:pt x="0" y="11565"/>
                    <a:pt x="11565" y="0"/>
                    <a:pt x="25831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19050"/>
              <a:ext cx="7493000" cy="768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50"/>
                </a:lnSpc>
              </a:pPr>
              <a:r>
                <a:rPr lang="en-US" sz="1500" b="true">
                  <a:solidFill>
                    <a:srgbClr val="10182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Documentation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0668000" y="7924800"/>
            <a:ext cx="5619750" cy="590550"/>
            <a:chOff x="0" y="0"/>
            <a:chExt cx="7493000" cy="7874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493000" cy="787400"/>
            </a:xfrm>
            <a:custGeom>
              <a:avLst/>
              <a:gdLst/>
              <a:ahLst/>
              <a:cxnLst/>
              <a:rect r="r" b="b" t="t" l="l"/>
              <a:pathLst>
                <a:path h="787400" w="7493000">
                  <a:moveTo>
                    <a:pt x="25831" y="0"/>
                  </a:moveTo>
                  <a:lnTo>
                    <a:pt x="7467170" y="0"/>
                  </a:lnTo>
                  <a:cubicBezTo>
                    <a:pt x="7481436" y="0"/>
                    <a:pt x="7493000" y="11565"/>
                    <a:pt x="7493000" y="25831"/>
                  </a:cubicBezTo>
                  <a:lnTo>
                    <a:pt x="7493000" y="761570"/>
                  </a:lnTo>
                  <a:cubicBezTo>
                    <a:pt x="7493000" y="775835"/>
                    <a:pt x="7481436" y="787400"/>
                    <a:pt x="7467170" y="787400"/>
                  </a:cubicBezTo>
                  <a:lnTo>
                    <a:pt x="25831" y="787400"/>
                  </a:lnTo>
                  <a:cubicBezTo>
                    <a:pt x="11565" y="787400"/>
                    <a:pt x="0" y="775835"/>
                    <a:pt x="0" y="761570"/>
                  </a:cubicBezTo>
                  <a:lnTo>
                    <a:pt x="0" y="25831"/>
                  </a:lnTo>
                  <a:cubicBezTo>
                    <a:pt x="0" y="11565"/>
                    <a:pt x="11565" y="0"/>
                    <a:pt x="25831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0" y="19050"/>
              <a:ext cx="7493000" cy="768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50"/>
                </a:lnSpc>
              </a:pPr>
              <a:r>
                <a:rPr lang="en-US" sz="1500" b="true">
                  <a:solidFill>
                    <a:srgbClr val="10182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Viva + interview questions</a:t>
              </a:r>
            </a:p>
          </p:txBody>
        </p:sp>
      </p:grpSp>
      <p:sp>
        <p:nvSpPr>
          <p:cNvPr name="AutoShape 43" id="43"/>
          <p:cNvSpPr/>
          <p:nvPr/>
        </p:nvSpPr>
        <p:spPr>
          <a:xfrm>
            <a:off x="857250" y="9601200"/>
            <a:ext cx="16573500" cy="0"/>
          </a:xfrm>
          <a:prstGeom prst="line">
            <a:avLst/>
          </a:prstGeom>
          <a:ln cap="flat" w="9525">
            <a:solidFill>
              <a:srgbClr val="D9E1E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4" id="44"/>
          <p:cNvSpPr txBox="true"/>
          <p:nvPr/>
        </p:nvSpPr>
        <p:spPr>
          <a:xfrm rot="0">
            <a:off x="857250" y="9782175"/>
            <a:ext cx="2857500" cy="184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0"/>
              </a:lnSpc>
            </a:pPr>
            <a:r>
              <a:rPr lang="en-US" sz="1200">
                <a:solidFill>
                  <a:srgbClr val="667085"/>
                </a:solidFill>
                <a:latin typeface="Open Sans"/>
                <a:ea typeface="Open Sans"/>
                <a:cs typeface="Open Sans"/>
                <a:sym typeface="Open Sans"/>
              </a:rPr>
              <a:t>PROJECTSFORGE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6764000" y="9782175"/>
            <a:ext cx="666750" cy="184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60"/>
              </a:lnSpc>
            </a:pPr>
            <a:r>
              <a:rPr lang="en-US" sz="1200">
                <a:solidFill>
                  <a:srgbClr val="667085"/>
                </a:solidFill>
                <a:latin typeface="Open Sans"/>
                <a:ea typeface="Open Sans"/>
                <a:cs typeface="Open Sans"/>
                <a:sym typeface="Open San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7250" y="571500"/>
            <a:ext cx="14287500" cy="1111568"/>
            <a:chOff x="0" y="0"/>
            <a:chExt cx="19050000" cy="148209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28575"/>
              <a:ext cx="8255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08" b="true">
                  <a:solidFill>
                    <a:srgbClr val="2F7DF6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09  /  PROJECTSFORGE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676275"/>
              <a:ext cx="19050000" cy="8058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67"/>
                </a:lnSpc>
              </a:pPr>
              <a:r>
                <a:rPr lang="en-US" sz="4350" b="true">
                  <a:solidFill>
                    <a:srgbClr val="101828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Student progress: AI Waste Classification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33500" y="2800350"/>
            <a:ext cx="8620125" cy="476250"/>
            <a:chOff x="0" y="0"/>
            <a:chExt cx="11493500" cy="635000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635000" cy="635000"/>
              <a:chOff x="0" y="0"/>
              <a:chExt cx="635000" cy="6350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35000" cy="635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" w="635000">
                    <a:moveTo>
                      <a:pt x="317500" y="0"/>
                    </a:moveTo>
                    <a:cubicBezTo>
                      <a:pt x="492850" y="0"/>
                      <a:pt x="635000" y="142150"/>
                      <a:pt x="635000" y="317500"/>
                    </a:cubicBezTo>
                    <a:cubicBezTo>
                      <a:pt x="635000" y="492850"/>
                      <a:pt x="492850" y="635000"/>
                      <a:pt x="317500" y="635000"/>
                    </a:cubicBezTo>
                    <a:cubicBezTo>
                      <a:pt x="142150" y="635000"/>
                      <a:pt x="0" y="492850"/>
                      <a:pt x="0" y="317500"/>
                    </a:cubicBezTo>
                    <a:cubicBezTo>
                      <a:pt x="0" y="142150"/>
                      <a:pt x="142150" y="0"/>
                      <a:pt x="317500" y="0"/>
                    </a:cubicBezTo>
                    <a:close/>
                  </a:path>
                </a:pathLst>
              </a:custGeom>
              <a:solidFill>
                <a:srgbClr val="18A66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635000" cy="67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  <a:r>
                  <a:rPr lang="en-US" sz="1800" b="true">
                    <a:solidFill>
                      <a:srgbClr val="FFFFFF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✓</a:t>
                </a: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1333500" y="184150"/>
              <a:ext cx="10160000" cy="3797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1800">
                  <a:solidFill>
                    <a:srgbClr val="101828"/>
                  </a:solidFill>
                  <a:latin typeface="Open Sans"/>
                  <a:ea typeface="Open Sans"/>
                  <a:cs typeface="Open Sans"/>
                  <a:sym typeface="Open Sans"/>
                </a:rPr>
                <a:t>Define categories &amp; dataset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33500" y="3667125"/>
            <a:ext cx="8620125" cy="476250"/>
            <a:chOff x="0" y="0"/>
            <a:chExt cx="11493500" cy="635000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635000" cy="635000"/>
              <a:chOff x="0" y="0"/>
              <a:chExt cx="635000" cy="6350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635000" cy="635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" w="635000">
                    <a:moveTo>
                      <a:pt x="317500" y="0"/>
                    </a:moveTo>
                    <a:cubicBezTo>
                      <a:pt x="492850" y="0"/>
                      <a:pt x="635000" y="142150"/>
                      <a:pt x="635000" y="317500"/>
                    </a:cubicBezTo>
                    <a:cubicBezTo>
                      <a:pt x="635000" y="492850"/>
                      <a:pt x="492850" y="635000"/>
                      <a:pt x="317500" y="635000"/>
                    </a:cubicBezTo>
                    <a:cubicBezTo>
                      <a:pt x="142150" y="635000"/>
                      <a:pt x="0" y="492850"/>
                      <a:pt x="0" y="317500"/>
                    </a:cubicBezTo>
                    <a:cubicBezTo>
                      <a:pt x="0" y="142150"/>
                      <a:pt x="142150" y="0"/>
                      <a:pt x="317500" y="0"/>
                    </a:cubicBezTo>
                    <a:close/>
                  </a:path>
                </a:pathLst>
              </a:custGeom>
              <a:solidFill>
                <a:srgbClr val="18A66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635000" cy="67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  <a:r>
                  <a:rPr lang="en-US" sz="1800" b="true">
                    <a:solidFill>
                      <a:srgbClr val="FFFFFF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✓</a:t>
                </a: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1333500" y="184150"/>
              <a:ext cx="10160000" cy="3797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1800">
                  <a:solidFill>
                    <a:srgbClr val="101828"/>
                  </a:solidFill>
                  <a:latin typeface="Open Sans"/>
                  <a:ea typeface="Open Sans"/>
                  <a:cs typeface="Open Sans"/>
                  <a:sym typeface="Open Sans"/>
                </a:rPr>
                <a:t>Clean and label images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33500" y="4533900"/>
            <a:ext cx="8620125" cy="476250"/>
            <a:chOff x="0" y="0"/>
            <a:chExt cx="11493500" cy="635000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635000" cy="635000"/>
              <a:chOff x="0" y="0"/>
              <a:chExt cx="635000" cy="6350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635000" cy="635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" w="635000">
                    <a:moveTo>
                      <a:pt x="317500" y="0"/>
                    </a:moveTo>
                    <a:cubicBezTo>
                      <a:pt x="492850" y="0"/>
                      <a:pt x="635000" y="142150"/>
                      <a:pt x="635000" y="317500"/>
                    </a:cubicBezTo>
                    <a:cubicBezTo>
                      <a:pt x="635000" y="492850"/>
                      <a:pt x="492850" y="635000"/>
                      <a:pt x="317500" y="635000"/>
                    </a:cubicBezTo>
                    <a:cubicBezTo>
                      <a:pt x="142150" y="635000"/>
                      <a:pt x="0" y="492850"/>
                      <a:pt x="0" y="317500"/>
                    </a:cubicBezTo>
                    <a:cubicBezTo>
                      <a:pt x="0" y="142150"/>
                      <a:pt x="142150" y="0"/>
                      <a:pt x="317500" y="0"/>
                    </a:cubicBezTo>
                    <a:close/>
                  </a:path>
                </a:pathLst>
              </a:custGeom>
              <a:solidFill>
                <a:srgbClr val="18A66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635000" cy="67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  <a:r>
                  <a:rPr lang="en-US" sz="1800" b="true">
                    <a:solidFill>
                      <a:srgbClr val="FFFFFF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✓</a:t>
                </a: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1333500" y="184150"/>
              <a:ext cx="10160000" cy="3797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1800">
                  <a:solidFill>
                    <a:srgbClr val="101828"/>
                  </a:solidFill>
                  <a:latin typeface="Open Sans"/>
                  <a:ea typeface="Open Sans"/>
                  <a:cs typeface="Open Sans"/>
                  <a:sym typeface="Open Sans"/>
                </a:rPr>
                <a:t>Train baseline model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33500" y="5400675"/>
            <a:ext cx="8620125" cy="476250"/>
            <a:chOff x="0" y="0"/>
            <a:chExt cx="11493500" cy="635000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635000" cy="635000"/>
              <a:chOff x="0" y="0"/>
              <a:chExt cx="635000" cy="6350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635000" cy="635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" w="635000">
                    <a:moveTo>
                      <a:pt x="317500" y="0"/>
                    </a:moveTo>
                    <a:cubicBezTo>
                      <a:pt x="492850" y="0"/>
                      <a:pt x="635000" y="142150"/>
                      <a:pt x="635000" y="317500"/>
                    </a:cubicBezTo>
                    <a:cubicBezTo>
                      <a:pt x="635000" y="492850"/>
                      <a:pt x="492850" y="635000"/>
                      <a:pt x="317500" y="635000"/>
                    </a:cubicBezTo>
                    <a:cubicBezTo>
                      <a:pt x="142150" y="635000"/>
                      <a:pt x="0" y="492850"/>
                      <a:pt x="0" y="317500"/>
                    </a:cubicBezTo>
                    <a:cubicBezTo>
                      <a:pt x="0" y="142150"/>
                      <a:pt x="142150" y="0"/>
                      <a:pt x="3175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38100"/>
                <a:ext cx="635000" cy="67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1333500" y="184150"/>
              <a:ext cx="10160000" cy="3797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1800">
                  <a:solidFill>
                    <a:srgbClr val="667085"/>
                  </a:solidFill>
                  <a:latin typeface="Open Sans"/>
                  <a:ea typeface="Open Sans"/>
                  <a:cs typeface="Open Sans"/>
                  <a:sym typeface="Open Sans"/>
                </a:rPr>
                <a:t>Evaluate errors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333500" y="6267450"/>
            <a:ext cx="8620125" cy="476250"/>
            <a:chOff x="0" y="0"/>
            <a:chExt cx="11493500" cy="635000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635000" cy="635000"/>
              <a:chOff x="0" y="0"/>
              <a:chExt cx="635000" cy="6350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635000" cy="635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" w="635000">
                    <a:moveTo>
                      <a:pt x="317500" y="0"/>
                    </a:moveTo>
                    <a:cubicBezTo>
                      <a:pt x="492850" y="0"/>
                      <a:pt x="635000" y="142150"/>
                      <a:pt x="635000" y="317500"/>
                    </a:cubicBezTo>
                    <a:cubicBezTo>
                      <a:pt x="635000" y="492850"/>
                      <a:pt x="492850" y="635000"/>
                      <a:pt x="317500" y="635000"/>
                    </a:cubicBezTo>
                    <a:cubicBezTo>
                      <a:pt x="142150" y="635000"/>
                      <a:pt x="0" y="492850"/>
                      <a:pt x="0" y="317500"/>
                    </a:cubicBezTo>
                    <a:cubicBezTo>
                      <a:pt x="0" y="142150"/>
                      <a:pt x="142150" y="0"/>
                      <a:pt x="3175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635000" cy="67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1333500" y="184150"/>
              <a:ext cx="10160000" cy="3797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1800">
                  <a:solidFill>
                    <a:srgbClr val="667085"/>
                  </a:solidFill>
                  <a:latin typeface="Open Sans"/>
                  <a:ea typeface="Open Sans"/>
                  <a:cs typeface="Open Sans"/>
                  <a:sym typeface="Open Sans"/>
                </a:rPr>
                <a:t>Build demo interface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333500" y="7134225"/>
            <a:ext cx="8620125" cy="476250"/>
            <a:chOff x="0" y="0"/>
            <a:chExt cx="11493500" cy="635000"/>
          </a:xfrm>
        </p:grpSpPr>
        <p:grpSp>
          <p:nvGrpSpPr>
            <p:cNvPr name="Group 31" id="31"/>
            <p:cNvGrpSpPr/>
            <p:nvPr/>
          </p:nvGrpSpPr>
          <p:grpSpPr>
            <a:xfrm rot="0">
              <a:off x="0" y="0"/>
              <a:ext cx="635000" cy="635000"/>
              <a:chOff x="0" y="0"/>
              <a:chExt cx="635000" cy="63500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635000" cy="635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" w="635000">
                    <a:moveTo>
                      <a:pt x="317500" y="0"/>
                    </a:moveTo>
                    <a:cubicBezTo>
                      <a:pt x="492850" y="0"/>
                      <a:pt x="635000" y="142150"/>
                      <a:pt x="635000" y="317500"/>
                    </a:cubicBezTo>
                    <a:cubicBezTo>
                      <a:pt x="635000" y="492850"/>
                      <a:pt x="492850" y="635000"/>
                      <a:pt x="317500" y="635000"/>
                    </a:cubicBezTo>
                    <a:cubicBezTo>
                      <a:pt x="142150" y="635000"/>
                      <a:pt x="0" y="492850"/>
                      <a:pt x="0" y="317500"/>
                    </a:cubicBezTo>
                    <a:cubicBezTo>
                      <a:pt x="0" y="142150"/>
                      <a:pt x="142150" y="0"/>
                      <a:pt x="3175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38100"/>
                <a:ext cx="635000" cy="67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TextBox 34" id="34"/>
            <p:cNvSpPr txBox="true"/>
            <p:nvPr/>
          </p:nvSpPr>
          <p:spPr>
            <a:xfrm rot="0">
              <a:off x="1333500" y="184150"/>
              <a:ext cx="10160000" cy="3797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1800">
                  <a:solidFill>
                    <a:srgbClr val="667085"/>
                  </a:solidFill>
                  <a:latin typeface="Open Sans"/>
                  <a:ea typeface="Open Sans"/>
                  <a:cs typeface="Open Sans"/>
                  <a:sym typeface="Open Sans"/>
                </a:rPr>
                <a:t>Record evidence &amp; reflection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1906250" y="2857500"/>
            <a:ext cx="3429000" cy="3429000"/>
            <a:chOff x="0" y="0"/>
            <a:chExt cx="4572000" cy="45720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572000" cy="4572000"/>
            </a:xfrm>
            <a:custGeom>
              <a:avLst/>
              <a:gdLst/>
              <a:ahLst/>
              <a:cxnLst/>
              <a:rect r="r" b="b" t="t" l="l"/>
              <a:pathLst>
                <a:path h="4572000" w="4572000">
                  <a:moveTo>
                    <a:pt x="2286000" y="0"/>
                  </a:moveTo>
                  <a:cubicBezTo>
                    <a:pt x="3548523" y="0"/>
                    <a:pt x="4572000" y="1023477"/>
                    <a:pt x="4572000" y="2286000"/>
                  </a:cubicBezTo>
                  <a:cubicBezTo>
                    <a:pt x="4572000" y="3548523"/>
                    <a:pt x="3548523" y="4572000"/>
                    <a:pt x="2286000" y="4572000"/>
                  </a:cubicBezTo>
                  <a:cubicBezTo>
                    <a:pt x="1023477" y="4572000"/>
                    <a:pt x="0" y="3548523"/>
                    <a:pt x="0" y="2286000"/>
                  </a:cubicBezTo>
                  <a:cubicBezTo>
                    <a:pt x="0" y="1023477"/>
                    <a:pt x="1023477" y="0"/>
                    <a:pt x="2286000" y="0"/>
                  </a:cubicBezTo>
                  <a:close/>
                </a:path>
              </a:pathLst>
            </a:custGeom>
            <a:solidFill>
              <a:srgbClr val="EAF2FF"/>
            </a:solidFill>
            <a:ln w="228600" cap="sq">
              <a:solidFill>
                <a:srgbClr val="2F7DF6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4572000" cy="4619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69"/>
                </a:lnSpc>
              </a:pPr>
              <a:r>
                <a:rPr lang="en-US" sz="2550" b="true">
                  <a:solidFill>
                    <a:srgbClr val="101828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3 / 6</a:t>
              </a:r>
            </a:p>
            <a:p>
              <a:pPr algn="ctr">
                <a:lnSpc>
                  <a:spcPts val="3569"/>
                </a:lnSpc>
              </a:pPr>
              <a:r>
                <a:rPr lang="en-US" sz="2550" b="true">
                  <a:solidFill>
                    <a:srgbClr val="101828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MILESTONES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1239500" y="7429500"/>
            <a:ext cx="1809750" cy="666750"/>
            <a:chOff x="0" y="0"/>
            <a:chExt cx="2413000" cy="8890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413000" cy="889000"/>
            </a:xfrm>
            <a:custGeom>
              <a:avLst/>
              <a:gdLst/>
              <a:ahLst/>
              <a:cxnLst/>
              <a:rect r="r" b="b" t="t" l="l"/>
              <a:pathLst>
                <a:path h="889000" w="2413000">
                  <a:moveTo>
                    <a:pt x="80211" y="0"/>
                  </a:moveTo>
                  <a:lnTo>
                    <a:pt x="2332789" y="0"/>
                  </a:lnTo>
                  <a:cubicBezTo>
                    <a:pt x="2354063" y="0"/>
                    <a:pt x="2374465" y="8451"/>
                    <a:pt x="2389507" y="23493"/>
                  </a:cubicBezTo>
                  <a:cubicBezTo>
                    <a:pt x="2404549" y="38536"/>
                    <a:pt x="2413000" y="58937"/>
                    <a:pt x="2413000" y="80211"/>
                  </a:cubicBezTo>
                  <a:lnTo>
                    <a:pt x="2413000" y="808789"/>
                  </a:lnTo>
                  <a:cubicBezTo>
                    <a:pt x="2413000" y="830063"/>
                    <a:pt x="2404549" y="850464"/>
                    <a:pt x="2389507" y="865507"/>
                  </a:cubicBezTo>
                  <a:cubicBezTo>
                    <a:pt x="2374465" y="880549"/>
                    <a:pt x="2354063" y="889000"/>
                    <a:pt x="2332789" y="889000"/>
                  </a:cubicBezTo>
                  <a:lnTo>
                    <a:pt x="80211" y="889000"/>
                  </a:lnTo>
                  <a:cubicBezTo>
                    <a:pt x="58937" y="889000"/>
                    <a:pt x="38536" y="880549"/>
                    <a:pt x="23493" y="865507"/>
                  </a:cubicBezTo>
                  <a:cubicBezTo>
                    <a:pt x="8451" y="850464"/>
                    <a:pt x="0" y="830063"/>
                    <a:pt x="0" y="808789"/>
                  </a:cubicBezTo>
                  <a:lnTo>
                    <a:pt x="0" y="80211"/>
                  </a:lnTo>
                  <a:cubicBezTo>
                    <a:pt x="0" y="58937"/>
                    <a:pt x="8451" y="38536"/>
                    <a:pt x="23493" y="23493"/>
                  </a:cubicBezTo>
                  <a:cubicBezTo>
                    <a:pt x="38536" y="8451"/>
                    <a:pt x="58937" y="0"/>
                    <a:pt x="80211" y="0"/>
                  </a:cubicBezTo>
                  <a:close/>
                </a:path>
              </a:pathLst>
            </a:custGeom>
            <a:solidFill>
              <a:srgbClr val="101828"/>
            </a:solidFill>
            <a:ln cap="sq">
              <a:noFill/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9525"/>
              <a:ext cx="2413000" cy="879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85"/>
                </a:lnSpc>
              </a:pPr>
              <a:r>
                <a:rPr lang="en-US" sz="135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I’m stuck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3239750" y="7429500"/>
            <a:ext cx="1809750" cy="666750"/>
            <a:chOff x="0" y="0"/>
            <a:chExt cx="2413000" cy="8890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413000" cy="889000"/>
            </a:xfrm>
            <a:custGeom>
              <a:avLst/>
              <a:gdLst/>
              <a:ahLst/>
              <a:cxnLst/>
              <a:rect r="r" b="b" t="t" l="l"/>
              <a:pathLst>
                <a:path h="889000" w="2413000">
                  <a:moveTo>
                    <a:pt x="80211" y="0"/>
                  </a:moveTo>
                  <a:lnTo>
                    <a:pt x="2332789" y="0"/>
                  </a:lnTo>
                  <a:cubicBezTo>
                    <a:pt x="2354063" y="0"/>
                    <a:pt x="2374465" y="8451"/>
                    <a:pt x="2389507" y="23493"/>
                  </a:cubicBezTo>
                  <a:cubicBezTo>
                    <a:pt x="2404549" y="38536"/>
                    <a:pt x="2413000" y="58937"/>
                    <a:pt x="2413000" y="80211"/>
                  </a:cubicBezTo>
                  <a:lnTo>
                    <a:pt x="2413000" y="808789"/>
                  </a:lnTo>
                  <a:cubicBezTo>
                    <a:pt x="2413000" y="830063"/>
                    <a:pt x="2404549" y="850464"/>
                    <a:pt x="2389507" y="865507"/>
                  </a:cubicBezTo>
                  <a:cubicBezTo>
                    <a:pt x="2374465" y="880549"/>
                    <a:pt x="2354063" y="889000"/>
                    <a:pt x="2332789" y="889000"/>
                  </a:cubicBezTo>
                  <a:lnTo>
                    <a:pt x="80211" y="889000"/>
                  </a:lnTo>
                  <a:cubicBezTo>
                    <a:pt x="58937" y="889000"/>
                    <a:pt x="38536" y="880549"/>
                    <a:pt x="23493" y="865507"/>
                  </a:cubicBezTo>
                  <a:cubicBezTo>
                    <a:pt x="8451" y="850464"/>
                    <a:pt x="0" y="830063"/>
                    <a:pt x="0" y="808789"/>
                  </a:cubicBezTo>
                  <a:lnTo>
                    <a:pt x="0" y="80211"/>
                  </a:lnTo>
                  <a:cubicBezTo>
                    <a:pt x="0" y="58937"/>
                    <a:pt x="8451" y="38536"/>
                    <a:pt x="23493" y="23493"/>
                  </a:cubicBezTo>
                  <a:cubicBezTo>
                    <a:pt x="38536" y="8451"/>
                    <a:pt x="58937" y="0"/>
                    <a:pt x="80211" y="0"/>
                  </a:cubicBezTo>
                  <a:close/>
                </a:path>
              </a:pathLst>
            </a:custGeom>
            <a:solidFill>
              <a:srgbClr val="2F7DF6"/>
            </a:solidFill>
            <a:ln cap="sq">
              <a:noFill/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0" y="9525"/>
              <a:ext cx="2413000" cy="879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85"/>
                </a:lnSpc>
              </a:pPr>
              <a:r>
                <a:rPr lang="en-US" sz="135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Ask for guidance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5240000" y="7429500"/>
            <a:ext cx="1809750" cy="666750"/>
            <a:chOff x="0" y="0"/>
            <a:chExt cx="2413000" cy="8890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413000" cy="889000"/>
            </a:xfrm>
            <a:custGeom>
              <a:avLst/>
              <a:gdLst/>
              <a:ahLst/>
              <a:cxnLst/>
              <a:rect r="r" b="b" t="t" l="l"/>
              <a:pathLst>
                <a:path h="889000" w="2413000">
                  <a:moveTo>
                    <a:pt x="80211" y="0"/>
                  </a:moveTo>
                  <a:lnTo>
                    <a:pt x="2332789" y="0"/>
                  </a:lnTo>
                  <a:cubicBezTo>
                    <a:pt x="2354063" y="0"/>
                    <a:pt x="2374465" y="8451"/>
                    <a:pt x="2389507" y="23493"/>
                  </a:cubicBezTo>
                  <a:cubicBezTo>
                    <a:pt x="2404549" y="38536"/>
                    <a:pt x="2413000" y="58937"/>
                    <a:pt x="2413000" y="80211"/>
                  </a:cubicBezTo>
                  <a:lnTo>
                    <a:pt x="2413000" y="808789"/>
                  </a:lnTo>
                  <a:cubicBezTo>
                    <a:pt x="2413000" y="830063"/>
                    <a:pt x="2404549" y="850464"/>
                    <a:pt x="2389507" y="865507"/>
                  </a:cubicBezTo>
                  <a:cubicBezTo>
                    <a:pt x="2374465" y="880549"/>
                    <a:pt x="2354063" y="889000"/>
                    <a:pt x="2332789" y="889000"/>
                  </a:cubicBezTo>
                  <a:lnTo>
                    <a:pt x="80211" y="889000"/>
                  </a:lnTo>
                  <a:cubicBezTo>
                    <a:pt x="58937" y="889000"/>
                    <a:pt x="38536" y="880549"/>
                    <a:pt x="23493" y="865507"/>
                  </a:cubicBezTo>
                  <a:cubicBezTo>
                    <a:pt x="8451" y="850464"/>
                    <a:pt x="0" y="830063"/>
                    <a:pt x="0" y="808789"/>
                  </a:cubicBezTo>
                  <a:lnTo>
                    <a:pt x="0" y="80211"/>
                  </a:lnTo>
                  <a:cubicBezTo>
                    <a:pt x="0" y="58937"/>
                    <a:pt x="8451" y="38536"/>
                    <a:pt x="23493" y="23493"/>
                  </a:cubicBezTo>
                  <a:cubicBezTo>
                    <a:pt x="38536" y="8451"/>
                    <a:pt x="58937" y="0"/>
                    <a:pt x="80211" y="0"/>
                  </a:cubicBezTo>
                  <a:close/>
                </a:path>
              </a:pathLst>
            </a:custGeom>
            <a:solidFill>
              <a:srgbClr val="101828"/>
            </a:solidFill>
            <a:ln cap="sq">
              <a:noFill/>
              <a:prstDash val="solid"/>
              <a:miter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0" y="9525"/>
              <a:ext cx="2413000" cy="879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85"/>
                </a:lnSpc>
              </a:pPr>
              <a:r>
                <a:rPr lang="en-US" sz="135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Upload evidence</a:t>
              </a:r>
            </a:p>
          </p:txBody>
        </p:sp>
      </p:grpSp>
      <p:sp>
        <p:nvSpPr>
          <p:cNvPr name="AutoShape 47" id="47"/>
          <p:cNvSpPr/>
          <p:nvPr/>
        </p:nvSpPr>
        <p:spPr>
          <a:xfrm>
            <a:off x="857250" y="9601200"/>
            <a:ext cx="16573500" cy="0"/>
          </a:xfrm>
          <a:prstGeom prst="line">
            <a:avLst/>
          </a:prstGeom>
          <a:ln cap="flat" w="9525">
            <a:solidFill>
              <a:srgbClr val="D9E1E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8" id="48"/>
          <p:cNvSpPr txBox="true"/>
          <p:nvPr/>
        </p:nvSpPr>
        <p:spPr>
          <a:xfrm rot="0">
            <a:off x="857250" y="9782175"/>
            <a:ext cx="2857500" cy="184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0"/>
              </a:lnSpc>
            </a:pPr>
            <a:r>
              <a:rPr lang="en-US" sz="1200">
                <a:solidFill>
                  <a:srgbClr val="667085"/>
                </a:solidFill>
                <a:latin typeface="Open Sans"/>
                <a:ea typeface="Open Sans"/>
                <a:cs typeface="Open Sans"/>
                <a:sym typeface="Open Sans"/>
              </a:rPr>
              <a:t>PROJECTSFORGE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6764000" y="9782175"/>
            <a:ext cx="666750" cy="184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60"/>
              </a:lnSpc>
            </a:pPr>
            <a:r>
              <a:rPr lang="en-US" sz="1200">
                <a:solidFill>
                  <a:srgbClr val="667085"/>
                </a:solidFill>
                <a:latin typeface="Open Sans"/>
                <a:ea typeface="Open Sans"/>
                <a:cs typeface="Open Sans"/>
                <a:sym typeface="Open San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7250" y="571500"/>
            <a:ext cx="14287500" cy="1111568"/>
            <a:chOff x="0" y="0"/>
            <a:chExt cx="19050000" cy="148209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28575"/>
              <a:ext cx="8255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08" b="true">
                  <a:solidFill>
                    <a:srgbClr val="75AA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10  /  PROJECTSFORGE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676275"/>
              <a:ext cx="19050000" cy="8058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67"/>
                </a:lnSpc>
              </a:pPr>
              <a:r>
                <a:rPr lang="en-US" sz="435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Validate before scaling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52500" y="3000375"/>
            <a:ext cx="3143250" cy="1238250"/>
            <a:chOff x="0" y="0"/>
            <a:chExt cx="4191000" cy="1651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191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4191000">
                  <a:moveTo>
                    <a:pt x="46182" y="0"/>
                  </a:moveTo>
                  <a:lnTo>
                    <a:pt x="4144818" y="0"/>
                  </a:lnTo>
                  <a:cubicBezTo>
                    <a:pt x="4170324" y="0"/>
                    <a:pt x="4191000" y="20676"/>
                    <a:pt x="4191000" y="46182"/>
                  </a:cubicBezTo>
                  <a:lnTo>
                    <a:pt x="4191000" y="1604818"/>
                  </a:lnTo>
                  <a:cubicBezTo>
                    <a:pt x="4191000" y="1630324"/>
                    <a:pt x="4170324" y="1651000"/>
                    <a:pt x="4144818" y="1651000"/>
                  </a:cubicBezTo>
                  <a:lnTo>
                    <a:pt x="46182" y="1651000"/>
                  </a:lnTo>
                  <a:cubicBezTo>
                    <a:pt x="20676" y="1651000"/>
                    <a:pt x="0" y="1630324"/>
                    <a:pt x="0" y="1604818"/>
                  </a:cubicBezTo>
                  <a:lnTo>
                    <a:pt x="0" y="46182"/>
                  </a:lnTo>
                  <a:cubicBezTo>
                    <a:pt x="0" y="20676"/>
                    <a:pt x="20676" y="0"/>
                    <a:pt x="46182" y="0"/>
                  </a:cubicBezTo>
                  <a:close/>
                </a:path>
              </a:pathLst>
            </a:custGeom>
            <a:solidFill>
              <a:srgbClr val="13243A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19050"/>
              <a:ext cx="4191000" cy="1631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Interview</a:t>
              </a:r>
            </a:p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students</a:t>
              </a:r>
            </a:p>
          </p:txBody>
        </p:sp>
      </p:grpSp>
      <p:sp>
        <p:nvSpPr>
          <p:cNvPr name="AutoShape 8" id="8"/>
          <p:cNvSpPr/>
          <p:nvPr/>
        </p:nvSpPr>
        <p:spPr>
          <a:xfrm>
            <a:off x="4095750" y="3619500"/>
            <a:ext cx="952500" cy="0"/>
          </a:xfrm>
          <a:prstGeom prst="line">
            <a:avLst/>
          </a:prstGeom>
          <a:ln cap="rnd" w="38100">
            <a:solidFill>
              <a:srgbClr val="365A83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9" id="9"/>
          <p:cNvGrpSpPr/>
          <p:nvPr/>
        </p:nvGrpSpPr>
        <p:grpSpPr>
          <a:xfrm rot="0">
            <a:off x="5238750" y="3000375"/>
            <a:ext cx="3143250" cy="1238250"/>
            <a:chOff x="0" y="0"/>
            <a:chExt cx="4191000" cy="1651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191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4191000">
                  <a:moveTo>
                    <a:pt x="46182" y="0"/>
                  </a:moveTo>
                  <a:lnTo>
                    <a:pt x="4144818" y="0"/>
                  </a:lnTo>
                  <a:cubicBezTo>
                    <a:pt x="4170324" y="0"/>
                    <a:pt x="4191000" y="20676"/>
                    <a:pt x="4191000" y="46182"/>
                  </a:cubicBezTo>
                  <a:lnTo>
                    <a:pt x="4191000" y="1604818"/>
                  </a:lnTo>
                  <a:cubicBezTo>
                    <a:pt x="4191000" y="1630324"/>
                    <a:pt x="4170324" y="1651000"/>
                    <a:pt x="4144818" y="1651000"/>
                  </a:cubicBezTo>
                  <a:lnTo>
                    <a:pt x="46182" y="1651000"/>
                  </a:lnTo>
                  <a:cubicBezTo>
                    <a:pt x="20676" y="1651000"/>
                    <a:pt x="0" y="1630324"/>
                    <a:pt x="0" y="1604818"/>
                  </a:cubicBezTo>
                  <a:lnTo>
                    <a:pt x="0" y="46182"/>
                  </a:lnTo>
                  <a:cubicBezTo>
                    <a:pt x="0" y="20676"/>
                    <a:pt x="20676" y="0"/>
                    <a:pt x="46182" y="0"/>
                  </a:cubicBezTo>
                  <a:close/>
                </a:path>
              </a:pathLst>
            </a:custGeom>
            <a:solidFill>
              <a:srgbClr val="13243A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19050"/>
              <a:ext cx="4191000" cy="1631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Interview</a:t>
              </a:r>
            </a:p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seniors</a:t>
              </a:r>
            </a:p>
          </p:txBody>
        </p:sp>
      </p:grpSp>
      <p:sp>
        <p:nvSpPr>
          <p:cNvPr name="AutoShape 12" id="12"/>
          <p:cNvSpPr/>
          <p:nvPr/>
        </p:nvSpPr>
        <p:spPr>
          <a:xfrm>
            <a:off x="8382000" y="3619500"/>
            <a:ext cx="952500" cy="0"/>
          </a:xfrm>
          <a:prstGeom prst="line">
            <a:avLst/>
          </a:prstGeom>
          <a:ln cap="rnd" w="38100">
            <a:solidFill>
              <a:srgbClr val="365A83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3" id="13"/>
          <p:cNvGrpSpPr/>
          <p:nvPr/>
        </p:nvGrpSpPr>
        <p:grpSpPr>
          <a:xfrm rot="0">
            <a:off x="9525000" y="3000375"/>
            <a:ext cx="3143250" cy="1238250"/>
            <a:chOff x="0" y="0"/>
            <a:chExt cx="4191000" cy="1651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191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4191000">
                  <a:moveTo>
                    <a:pt x="46182" y="0"/>
                  </a:moveTo>
                  <a:lnTo>
                    <a:pt x="4144818" y="0"/>
                  </a:lnTo>
                  <a:cubicBezTo>
                    <a:pt x="4170324" y="0"/>
                    <a:pt x="4191000" y="20676"/>
                    <a:pt x="4191000" y="46182"/>
                  </a:cubicBezTo>
                  <a:lnTo>
                    <a:pt x="4191000" y="1604818"/>
                  </a:lnTo>
                  <a:cubicBezTo>
                    <a:pt x="4191000" y="1630324"/>
                    <a:pt x="4170324" y="1651000"/>
                    <a:pt x="4144818" y="1651000"/>
                  </a:cubicBezTo>
                  <a:lnTo>
                    <a:pt x="46182" y="1651000"/>
                  </a:lnTo>
                  <a:cubicBezTo>
                    <a:pt x="20676" y="1651000"/>
                    <a:pt x="0" y="1630324"/>
                    <a:pt x="0" y="1604818"/>
                  </a:cubicBezTo>
                  <a:lnTo>
                    <a:pt x="0" y="46182"/>
                  </a:lnTo>
                  <a:cubicBezTo>
                    <a:pt x="0" y="20676"/>
                    <a:pt x="20676" y="0"/>
                    <a:pt x="46182" y="0"/>
                  </a:cubicBezTo>
                  <a:close/>
                </a:path>
              </a:pathLst>
            </a:custGeom>
            <a:solidFill>
              <a:srgbClr val="13243A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19050"/>
              <a:ext cx="4191000" cy="1631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Interview</a:t>
              </a:r>
            </a:p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professors</a:t>
              </a:r>
            </a:p>
          </p:txBody>
        </p:sp>
      </p:grpSp>
      <p:sp>
        <p:nvSpPr>
          <p:cNvPr name="AutoShape 16" id="16"/>
          <p:cNvSpPr/>
          <p:nvPr/>
        </p:nvSpPr>
        <p:spPr>
          <a:xfrm>
            <a:off x="12668250" y="3619500"/>
            <a:ext cx="952500" cy="0"/>
          </a:xfrm>
          <a:prstGeom prst="line">
            <a:avLst/>
          </a:prstGeom>
          <a:ln cap="rnd" w="38100">
            <a:solidFill>
              <a:srgbClr val="365A83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7" id="17"/>
          <p:cNvGrpSpPr/>
          <p:nvPr/>
        </p:nvGrpSpPr>
        <p:grpSpPr>
          <a:xfrm rot="0">
            <a:off x="13811250" y="3000375"/>
            <a:ext cx="3143250" cy="1238250"/>
            <a:chOff x="0" y="0"/>
            <a:chExt cx="4191000" cy="1651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191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4191000">
                  <a:moveTo>
                    <a:pt x="46182" y="0"/>
                  </a:moveTo>
                  <a:lnTo>
                    <a:pt x="4144818" y="0"/>
                  </a:lnTo>
                  <a:cubicBezTo>
                    <a:pt x="4170324" y="0"/>
                    <a:pt x="4191000" y="20676"/>
                    <a:pt x="4191000" y="46182"/>
                  </a:cubicBezTo>
                  <a:lnTo>
                    <a:pt x="4191000" y="1604818"/>
                  </a:lnTo>
                  <a:cubicBezTo>
                    <a:pt x="4191000" y="1630324"/>
                    <a:pt x="4170324" y="1651000"/>
                    <a:pt x="4144818" y="1651000"/>
                  </a:cubicBezTo>
                  <a:lnTo>
                    <a:pt x="46182" y="1651000"/>
                  </a:lnTo>
                  <a:cubicBezTo>
                    <a:pt x="20676" y="1651000"/>
                    <a:pt x="0" y="1630324"/>
                    <a:pt x="0" y="1604818"/>
                  </a:cubicBezTo>
                  <a:lnTo>
                    <a:pt x="0" y="46182"/>
                  </a:lnTo>
                  <a:cubicBezTo>
                    <a:pt x="0" y="20676"/>
                    <a:pt x="20676" y="0"/>
                    <a:pt x="46182" y="0"/>
                  </a:cubicBezTo>
                  <a:close/>
                </a:path>
              </a:pathLst>
            </a:custGeom>
            <a:solidFill>
              <a:srgbClr val="13243A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19050"/>
              <a:ext cx="4191000" cy="1631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Find repeated</a:t>
              </a:r>
            </a:p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problems</a:t>
              </a:r>
            </a:p>
          </p:txBody>
        </p:sp>
      </p:grpSp>
      <p:sp>
        <p:nvSpPr>
          <p:cNvPr name="AutoShape 20" id="20"/>
          <p:cNvSpPr/>
          <p:nvPr/>
        </p:nvSpPr>
        <p:spPr>
          <a:xfrm>
            <a:off x="16954500" y="4238625"/>
            <a:ext cx="0" cy="1000125"/>
          </a:xfrm>
          <a:prstGeom prst="line">
            <a:avLst/>
          </a:prstGeom>
          <a:ln cap="rnd" w="38100">
            <a:solidFill>
              <a:srgbClr val="2F7DF6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1" id="21"/>
          <p:cNvGrpSpPr/>
          <p:nvPr/>
        </p:nvGrpSpPr>
        <p:grpSpPr>
          <a:xfrm rot="0">
            <a:off x="952500" y="5381625"/>
            <a:ext cx="3143250" cy="1238250"/>
            <a:chOff x="0" y="0"/>
            <a:chExt cx="4191000" cy="1651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191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4191000">
                  <a:moveTo>
                    <a:pt x="46182" y="0"/>
                  </a:moveTo>
                  <a:lnTo>
                    <a:pt x="4144818" y="0"/>
                  </a:lnTo>
                  <a:cubicBezTo>
                    <a:pt x="4170324" y="0"/>
                    <a:pt x="4191000" y="20676"/>
                    <a:pt x="4191000" y="46182"/>
                  </a:cubicBezTo>
                  <a:lnTo>
                    <a:pt x="4191000" y="1604818"/>
                  </a:lnTo>
                  <a:cubicBezTo>
                    <a:pt x="4191000" y="1630324"/>
                    <a:pt x="4170324" y="1651000"/>
                    <a:pt x="4144818" y="1651000"/>
                  </a:cubicBezTo>
                  <a:lnTo>
                    <a:pt x="46182" y="1651000"/>
                  </a:lnTo>
                  <a:cubicBezTo>
                    <a:pt x="20676" y="1651000"/>
                    <a:pt x="0" y="1630324"/>
                    <a:pt x="0" y="1604818"/>
                  </a:cubicBezTo>
                  <a:lnTo>
                    <a:pt x="0" y="46182"/>
                  </a:lnTo>
                  <a:cubicBezTo>
                    <a:pt x="0" y="20676"/>
                    <a:pt x="20676" y="0"/>
                    <a:pt x="46182" y="0"/>
                  </a:cubicBezTo>
                  <a:close/>
                </a:path>
              </a:pathLst>
            </a:custGeom>
            <a:solidFill>
              <a:srgbClr val="13243A"/>
            </a:solidFill>
            <a:ln cap="sq">
              <a:noFill/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19050"/>
              <a:ext cx="4191000" cy="1631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Manual</a:t>
              </a:r>
            </a:p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recommendations</a:t>
              </a:r>
            </a:p>
          </p:txBody>
        </p:sp>
      </p:grpSp>
      <p:sp>
        <p:nvSpPr>
          <p:cNvPr name="AutoShape 24" id="24"/>
          <p:cNvSpPr/>
          <p:nvPr/>
        </p:nvSpPr>
        <p:spPr>
          <a:xfrm>
            <a:off x="4095750" y="6000750"/>
            <a:ext cx="952500" cy="0"/>
          </a:xfrm>
          <a:prstGeom prst="line">
            <a:avLst/>
          </a:prstGeom>
          <a:ln cap="rnd" w="38100">
            <a:solidFill>
              <a:srgbClr val="365A83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5" id="25"/>
          <p:cNvGrpSpPr/>
          <p:nvPr/>
        </p:nvGrpSpPr>
        <p:grpSpPr>
          <a:xfrm rot="0">
            <a:off x="5238750" y="5381625"/>
            <a:ext cx="3143250" cy="1238250"/>
            <a:chOff x="0" y="0"/>
            <a:chExt cx="4191000" cy="16510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191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4191000">
                  <a:moveTo>
                    <a:pt x="46182" y="0"/>
                  </a:moveTo>
                  <a:lnTo>
                    <a:pt x="4144818" y="0"/>
                  </a:lnTo>
                  <a:cubicBezTo>
                    <a:pt x="4170324" y="0"/>
                    <a:pt x="4191000" y="20676"/>
                    <a:pt x="4191000" y="46182"/>
                  </a:cubicBezTo>
                  <a:lnTo>
                    <a:pt x="4191000" y="1604818"/>
                  </a:lnTo>
                  <a:cubicBezTo>
                    <a:pt x="4191000" y="1630324"/>
                    <a:pt x="4170324" y="1651000"/>
                    <a:pt x="4144818" y="1651000"/>
                  </a:cubicBezTo>
                  <a:lnTo>
                    <a:pt x="46182" y="1651000"/>
                  </a:lnTo>
                  <a:cubicBezTo>
                    <a:pt x="20676" y="1651000"/>
                    <a:pt x="0" y="1630324"/>
                    <a:pt x="0" y="1604818"/>
                  </a:cubicBezTo>
                  <a:lnTo>
                    <a:pt x="0" y="46182"/>
                  </a:lnTo>
                  <a:cubicBezTo>
                    <a:pt x="0" y="20676"/>
                    <a:pt x="20676" y="0"/>
                    <a:pt x="46182" y="0"/>
                  </a:cubicBezTo>
                  <a:close/>
                </a:path>
              </a:pathLst>
            </a:custGeom>
            <a:solidFill>
              <a:srgbClr val="13243A"/>
            </a:solidFill>
            <a:ln cap="sq">
              <a:noFill/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19050"/>
              <a:ext cx="4191000" cy="1631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Collect</a:t>
              </a:r>
            </a:p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feedback</a:t>
              </a:r>
            </a:p>
          </p:txBody>
        </p:sp>
      </p:grpSp>
      <p:sp>
        <p:nvSpPr>
          <p:cNvPr name="AutoShape 28" id="28"/>
          <p:cNvSpPr/>
          <p:nvPr/>
        </p:nvSpPr>
        <p:spPr>
          <a:xfrm>
            <a:off x="8382000" y="6000750"/>
            <a:ext cx="952500" cy="0"/>
          </a:xfrm>
          <a:prstGeom prst="line">
            <a:avLst/>
          </a:prstGeom>
          <a:ln cap="rnd" w="38100">
            <a:solidFill>
              <a:srgbClr val="365A83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9" id="29"/>
          <p:cNvGrpSpPr/>
          <p:nvPr/>
        </p:nvGrpSpPr>
        <p:grpSpPr>
          <a:xfrm rot="0">
            <a:off x="9525000" y="5381625"/>
            <a:ext cx="3143250" cy="1238250"/>
            <a:chOff x="0" y="0"/>
            <a:chExt cx="4191000" cy="1651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191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4191000">
                  <a:moveTo>
                    <a:pt x="46182" y="0"/>
                  </a:moveTo>
                  <a:lnTo>
                    <a:pt x="4144818" y="0"/>
                  </a:lnTo>
                  <a:cubicBezTo>
                    <a:pt x="4170324" y="0"/>
                    <a:pt x="4191000" y="20676"/>
                    <a:pt x="4191000" y="46182"/>
                  </a:cubicBezTo>
                  <a:lnTo>
                    <a:pt x="4191000" y="1604818"/>
                  </a:lnTo>
                  <a:cubicBezTo>
                    <a:pt x="4191000" y="1630324"/>
                    <a:pt x="4170324" y="1651000"/>
                    <a:pt x="4144818" y="1651000"/>
                  </a:cubicBezTo>
                  <a:lnTo>
                    <a:pt x="46182" y="1651000"/>
                  </a:lnTo>
                  <a:cubicBezTo>
                    <a:pt x="20676" y="1651000"/>
                    <a:pt x="0" y="1630324"/>
                    <a:pt x="0" y="1604818"/>
                  </a:cubicBezTo>
                  <a:lnTo>
                    <a:pt x="0" y="46182"/>
                  </a:lnTo>
                  <a:cubicBezTo>
                    <a:pt x="0" y="20676"/>
                    <a:pt x="20676" y="0"/>
                    <a:pt x="46182" y="0"/>
                  </a:cubicBezTo>
                  <a:close/>
                </a:path>
              </a:pathLst>
            </a:custGeom>
            <a:solidFill>
              <a:srgbClr val="13243A"/>
            </a:solidFill>
            <a:ln cap="sq">
              <a:noFill/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19050"/>
              <a:ext cx="4191000" cy="1631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Build</a:t>
              </a:r>
            </a:p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prototype</a:t>
              </a:r>
            </a:p>
          </p:txBody>
        </p:sp>
      </p:grpSp>
      <p:sp>
        <p:nvSpPr>
          <p:cNvPr name="AutoShape 32" id="32"/>
          <p:cNvSpPr/>
          <p:nvPr/>
        </p:nvSpPr>
        <p:spPr>
          <a:xfrm>
            <a:off x="12668250" y="6000750"/>
            <a:ext cx="952500" cy="0"/>
          </a:xfrm>
          <a:prstGeom prst="line">
            <a:avLst/>
          </a:prstGeom>
          <a:ln cap="rnd" w="38100">
            <a:solidFill>
              <a:srgbClr val="365A83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33" id="33"/>
          <p:cNvGrpSpPr/>
          <p:nvPr/>
        </p:nvGrpSpPr>
        <p:grpSpPr>
          <a:xfrm rot="0">
            <a:off x="13811250" y="5381625"/>
            <a:ext cx="3143250" cy="1238250"/>
            <a:chOff x="0" y="0"/>
            <a:chExt cx="4191000" cy="16510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191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4191000">
                  <a:moveTo>
                    <a:pt x="46182" y="0"/>
                  </a:moveTo>
                  <a:lnTo>
                    <a:pt x="4144818" y="0"/>
                  </a:lnTo>
                  <a:cubicBezTo>
                    <a:pt x="4170324" y="0"/>
                    <a:pt x="4191000" y="20676"/>
                    <a:pt x="4191000" y="46182"/>
                  </a:cubicBezTo>
                  <a:lnTo>
                    <a:pt x="4191000" y="1604818"/>
                  </a:lnTo>
                  <a:cubicBezTo>
                    <a:pt x="4191000" y="1630324"/>
                    <a:pt x="4170324" y="1651000"/>
                    <a:pt x="4144818" y="1651000"/>
                  </a:cubicBezTo>
                  <a:lnTo>
                    <a:pt x="46182" y="1651000"/>
                  </a:lnTo>
                  <a:cubicBezTo>
                    <a:pt x="20676" y="1651000"/>
                    <a:pt x="0" y="1630324"/>
                    <a:pt x="0" y="1604818"/>
                  </a:cubicBezTo>
                  <a:lnTo>
                    <a:pt x="0" y="46182"/>
                  </a:lnTo>
                  <a:cubicBezTo>
                    <a:pt x="0" y="20676"/>
                    <a:pt x="20676" y="0"/>
                    <a:pt x="46182" y="0"/>
                  </a:cubicBezTo>
                  <a:close/>
                </a:path>
              </a:pathLst>
            </a:custGeom>
            <a:solidFill>
              <a:srgbClr val="2F7DF6"/>
            </a:solidFill>
            <a:ln cap="sq">
              <a:noFill/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19050"/>
              <a:ext cx="4191000" cy="1631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Build</a:t>
              </a:r>
            </a:p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MVP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4381500" y="8067675"/>
            <a:ext cx="9525000" cy="358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6"/>
              </a:lnSpc>
            </a:pPr>
            <a:r>
              <a:rPr lang="en-US" sz="2175">
                <a:solidFill>
                  <a:srgbClr val="75AAFF"/>
                </a:solidFill>
                <a:latin typeface="Open Sans"/>
                <a:ea typeface="Open Sans"/>
                <a:cs typeface="Open Sans"/>
                <a:sym typeface="Open Sans"/>
              </a:rPr>
              <a:t>Evidence-driven development. No premature large platform.</a:t>
            </a:r>
          </a:p>
        </p:txBody>
      </p:sp>
      <p:sp>
        <p:nvSpPr>
          <p:cNvPr name="AutoShape 37" id="37"/>
          <p:cNvSpPr/>
          <p:nvPr/>
        </p:nvSpPr>
        <p:spPr>
          <a:xfrm>
            <a:off x="857250" y="9601200"/>
            <a:ext cx="16573500" cy="0"/>
          </a:xfrm>
          <a:prstGeom prst="line">
            <a:avLst/>
          </a:prstGeom>
          <a:ln cap="flat" w="9525">
            <a:solidFill>
              <a:srgbClr val="26364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8" id="38"/>
          <p:cNvSpPr txBox="true"/>
          <p:nvPr/>
        </p:nvSpPr>
        <p:spPr>
          <a:xfrm rot="0">
            <a:off x="857250" y="9772650"/>
            <a:ext cx="2857500" cy="196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PROJECTSFORGE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6764000" y="9772650"/>
            <a:ext cx="666750" cy="196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7250" y="571500"/>
            <a:ext cx="14287500" cy="1111568"/>
            <a:chOff x="0" y="0"/>
            <a:chExt cx="19050000" cy="148209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28575"/>
              <a:ext cx="8255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08" b="true">
                  <a:solidFill>
                    <a:srgbClr val="2F7DF6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11  /  PROJECTSFORGE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676275"/>
              <a:ext cx="19050000" cy="8058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67"/>
                </a:lnSpc>
              </a:pPr>
              <a:r>
                <a:rPr lang="en-US" sz="4350" b="true">
                  <a:solidFill>
                    <a:srgbClr val="101828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Ask about behavior, not approval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57250" y="2524125"/>
            <a:ext cx="7620000" cy="765810"/>
            <a:chOff x="0" y="0"/>
            <a:chExt cx="10160000" cy="1021080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660400" cy="660400"/>
              <a:chOff x="0" y="0"/>
              <a:chExt cx="660400" cy="6604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60400" cy="660400"/>
              </a:xfrm>
              <a:custGeom>
                <a:avLst/>
                <a:gdLst/>
                <a:ahLst/>
                <a:cxnLst/>
                <a:rect r="r" b="b" t="t" l="l"/>
                <a:pathLst>
                  <a:path h="660400" w="660400">
                    <a:moveTo>
                      <a:pt x="330200" y="0"/>
                    </a:moveTo>
                    <a:cubicBezTo>
                      <a:pt x="512564" y="0"/>
                      <a:pt x="660400" y="147836"/>
                      <a:pt x="660400" y="330200"/>
                    </a:cubicBezTo>
                    <a:cubicBezTo>
                      <a:pt x="660400" y="512564"/>
                      <a:pt x="512564" y="660400"/>
                      <a:pt x="330200" y="660400"/>
                    </a:cubicBezTo>
                    <a:cubicBezTo>
                      <a:pt x="147836" y="660400"/>
                      <a:pt x="0" y="512564"/>
                      <a:pt x="0" y="330200"/>
                    </a:cubicBezTo>
                    <a:cubicBezTo>
                      <a:pt x="0" y="147836"/>
                      <a:pt x="147836" y="0"/>
                      <a:pt x="330200" y="0"/>
                    </a:cubicBezTo>
                    <a:close/>
                  </a:path>
                </a:pathLst>
              </a:custGeom>
              <a:solidFill>
                <a:srgbClr val="2F7DF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04"/>
                  </a:lnSpc>
                </a:pPr>
                <a:r>
                  <a:rPr lang="en-US" sz="1575" b="true">
                    <a:solidFill>
                      <a:srgbClr val="FFFFFF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1</a:t>
                </a: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889000" y="234950"/>
              <a:ext cx="9271000" cy="7861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1800">
                  <a:solidFill>
                    <a:srgbClr val="101828"/>
                  </a:solidFill>
                  <a:latin typeface="Open Sans"/>
                  <a:ea typeface="Open Sans"/>
                  <a:cs typeface="Open Sans"/>
                  <a:sym typeface="Open Sans"/>
                </a:rPr>
                <a:t>“When you need a college project, where do you usually find the idea?”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953500" y="2524125"/>
            <a:ext cx="7620000" cy="495300"/>
            <a:chOff x="0" y="0"/>
            <a:chExt cx="10160000" cy="660400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660400" cy="660400"/>
              <a:chOff x="0" y="0"/>
              <a:chExt cx="660400" cy="6604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660400" cy="660400"/>
              </a:xfrm>
              <a:custGeom>
                <a:avLst/>
                <a:gdLst/>
                <a:ahLst/>
                <a:cxnLst/>
                <a:rect r="r" b="b" t="t" l="l"/>
                <a:pathLst>
                  <a:path h="660400" w="660400">
                    <a:moveTo>
                      <a:pt x="330200" y="0"/>
                    </a:moveTo>
                    <a:cubicBezTo>
                      <a:pt x="512564" y="0"/>
                      <a:pt x="660400" y="147836"/>
                      <a:pt x="660400" y="330200"/>
                    </a:cubicBezTo>
                    <a:cubicBezTo>
                      <a:pt x="660400" y="512564"/>
                      <a:pt x="512564" y="660400"/>
                      <a:pt x="330200" y="660400"/>
                    </a:cubicBezTo>
                    <a:cubicBezTo>
                      <a:pt x="147836" y="660400"/>
                      <a:pt x="0" y="512564"/>
                      <a:pt x="0" y="330200"/>
                    </a:cubicBezTo>
                    <a:cubicBezTo>
                      <a:pt x="0" y="147836"/>
                      <a:pt x="147836" y="0"/>
                      <a:pt x="330200" y="0"/>
                    </a:cubicBezTo>
                    <a:close/>
                  </a:path>
                </a:pathLst>
              </a:custGeom>
              <a:solidFill>
                <a:srgbClr val="2F7DF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04"/>
                  </a:lnSpc>
                </a:pPr>
                <a:r>
                  <a:rPr lang="en-US" sz="1575" b="true">
                    <a:solidFill>
                      <a:srgbClr val="FFFFFF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2</a:t>
                </a: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889000" y="234950"/>
              <a:ext cx="9271000" cy="3797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1800">
                  <a:solidFill>
                    <a:srgbClr val="101828"/>
                  </a:solidFill>
                  <a:latin typeface="Open Sans"/>
                  <a:ea typeface="Open Sans"/>
                  <a:cs typeface="Open Sans"/>
                  <a:sym typeface="Open Sans"/>
                </a:rPr>
                <a:t>“What was difficult after selecting the project?”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57250" y="4191000"/>
            <a:ext cx="7620000" cy="495300"/>
            <a:chOff x="0" y="0"/>
            <a:chExt cx="10160000" cy="660400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660400" cy="660400"/>
              <a:chOff x="0" y="0"/>
              <a:chExt cx="660400" cy="6604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660400" cy="660400"/>
              </a:xfrm>
              <a:custGeom>
                <a:avLst/>
                <a:gdLst/>
                <a:ahLst/>
                <a:cxnLst/>
                <a:rect r="r" b="b" t="t" l="l"/>
                <a:pathLst>
                  <a:path h="660400" w="660400">
                    <a:moveTo>
                      <a:pt x="330200" y="0"/>
                    </a:moveTo>
                    <a:cubicBezTo>
                      <a:pt x="512564" y="0"/>
                      <a:pt x="660400" y="147836"/>
                      <a:pt x="660400" y="330200"/>
                    </a:cubicBezTo>
                    <a:cubicBezTo>
                      <a:pt x="660400" y="512564"/>
                      <a:pt x="512564" y="660400"/>
                      <a:pt x="330200" y="660400"/>
                    </a:cubicBezTo>
                    <a:cubicBezTo>
                      <a:pt x="147836" y="660400"/>
                      <a:pt x="0" y="512564"/>
                      <a:pt x="0" y="330200"/>
                    </a:cubicBezTo>
                    <a:cubicBezTo>
                      <a:pt x="0" y="147836"/>
                      <a:pt x="147836" y="0"/>
                      <a:pt x="330200" y="0"/>
                    </a:cubicBezTo>
                    <a:close/>
                  </a:path>
                </a:pathLst>
              </a:custGeom>
              <a:solidFill>
                <a:srgbClr val="2F7DF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04"/>
                  </a:lnSpc>
                </a:pPr>
                <a:r>
                  <a:rPr lang="en-US" sz="1575" b="true">
                    <a:solidFill>
                      <a:srgbClr val="FFFFFF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3</a:t>
                </a: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889000" y="234950"/>
              <a:ext cx="9271000" cy="3797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1800">
                  <a:solidFill>
                    <a:srgbClr val="101828"/>
                  </a:solidFill>
                  <a:latin typeface="Open Sans"/>
                  <a:ea typeface="Open Sans"/>
                  <a:cs typeface="Open Sans"/>
                  <a:sym typeface="Open Sans"/>
                </a:rPr>
                <a:t>“How did you know the project matched your skill level?”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953500" y="4191000"/>
            <a:ext cx="7620000" cy="495300"/>
            <a:chOff x="0" y="0"/>
            <a:chExt cx="10160000" cy="660400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660400" cy="660400"/>
              <a:chOff x="0" y="0"/>
              <a:chExt cx="660400" cy="6604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660400" cy="660400"/>
              </a:xfrm>
              <a:custGeom>
                <a:avLst/>
                <a:gdLst/>
                <a:ahLst/>
                <a:cxnLst/>
                <a:rect r="r" b="b" t="t" l="l"/>
                <a:pathLst>
                  <a:path h="660400" w="660400">
                    <a:moveTo>
                      <a:pt x="330200" y="0"/>
                    </a:moveTo>
                    <a:cubicBezTo>
                      <a:pt x="512564" y="0"/>
                      <a:pt x="660400" y="147836"/>
                      <a:pt x="660400" y="330200"/>
                    </a:cubicBezTo>
                    <a:cubicBezTo>
                      <a:pt x="660400" y="512564"/>
                      <a:pt x="512564" y="660400"/>
                      <a:pt x="330200" y="660400"/>
                    </a:cubicBezTo>
                    <a:cubicBezTo>
                      <a:pt x="147836" y="660400"/>
                      <a:pt x="0" y="512564"/>
                      <a:pt x="0" y="330200"/>
                    </a:cubicBezTo>
                    <a:cubicBezTo>
                      <a:pt x="0" y="147836"/>
                      <a:pt x="147836" y="0"/>
                      <a:pt x="330200" y="0"/>
                    </a:cubicBezTo>
                    <a:close/>
                  </a:path>
                </a:pathLst>
              </a:custGeom>
              <a:solidFill>
                <a:srgbClr val="2F7DF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04"/>
                  </a:lnSpc>
                </a:pPr>
                <a:r>
                  <a:rPr lang="en-US" sz="1575" b="true">
                    <a:solidFill>
                      <a:srgbClr val="FFFFFF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4</a:t>
                </a: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889000" y="234950"/>
              <a:ext cx="9271000" cy="3797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1800">
                  <a:solidFill>
                    <a:srgbClr val="101828"/>
                  </a:solidFill>
                  <a:latin typeface="Open Sans"/>
                  <a:ea typeface="Open Sans"/>
                  <a:cs typeface="Open Sans"/>
                  <a:sym typeface="Open Sans"/>
                </a:rPr>
                <a:t>“What did you use ChatGPT for?”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857250" y="5857875"/>
            <a:ext cx="7620000" cy="495300"/>
            <a:chOff x="0" y="0"/>
            <a:chExt cx="10160000" cy="660400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660400" cy="660400"/>
              <a:chOff x="0" y="0"/>
              <a:chExt cx="660400" cy="6604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660400" cy="660400"/>
              </a:xfrm>
              <a:custGeom>
                <a:avLst/>
                <a:gdLst/>
                <a:ahLst/>
                <a:cxnLst/>
                <a:rect r="r" b="b" t="t" l="l"/>
                <a:pathLst>
                  <a:path h="660400" w="660400">
                    <a:moveTo>
                      <a:pt x="330200" y="0"/>
                    </a:moveTo>
                    <a:cubicBezTo>
                      <a:pt x="512564" y="0"/>
                      <a:pt x="660400" y="147836"/>
                      <a:pt x="660400" y="330200"/>
                    </a:cubicBezTo>
                    <a:cubicBezTo>
                      <a:pt x="660400" y="512564"/>
                      <a:pt x="512564" y="660400"/>
                      <a:pt x="330200" y="660400"/>
                    </a:cubicBezTo>
                    <a:cubicBezTo>
                      <a:pt x="147836" y="660400"/>
                      <a:pt x="0" y="512564"/>
                      <a:pt x="0" y="330200"/>
                    </a:cubicBezTo>
                    <a:cubicBezTo>
                      <a:pt x="0" y="147836"/>
                      <a:pt x="147836" y="0"/>
                      <a:pt x="330200" y="0"/>
                    </a:cubicBezTo>
                    <a:close/>
                  </a:path>
                </a:pathLst>
              </a:custGeom>
              <a:solidFill>
                <a:srgbClr val="2F7DF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04"/>
                  </a:lnSpc>
                </a:pPr>
                <a:r>
                  <a:rPr lang="en-US" sz="1575" b="true">
                    <a:solidFill>
                      <a:srgbClr val="FFFFFF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5</a:t>
                </a: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889000" y="234950"/>
              <a:ext cx="9271000" cy="3797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1800">
                  <a:solidFill>
                    <a:srgbClr val="101828"/>
                  </a:solidFill>
                  <a:latin typeface="Open Sans"/>
                  <a:ea typeface="Open Sans"/>
                  <a:cs typeface="Open Sans"/>
                  <a:sym typeface="Open Sans"/>
                </a:rPr>
                <a:t>“What was still difficult after using those tools?”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8953500" y="5857875"/>
            <a:ext cx="7620000" cy="495300"/>
            <a:chOff x="0" y="0"/>
            <a:chExt cx="10160000" cy="660400"/>
          </a:xfrm>
        </p:grpSpPr>
        <p:grpSp>
          <p:nvGrpSpPr>
            <p:cNvPr name="Group 31" id="31"/>
            <p:cNvGrpSpPr/>
            <p:nvPr/>
          </p:nvGrpSpPr>
          <p:grpSpPr>
            <a:xfrm rot="0">
              <a:off x="0" y="0"/>
              <a:ext cx="660400" cy="660400"/>
              <a:chOff x="0" y="0"/>
              <a:chExt cx="660400" cy="66040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660400" cy="660400"/>
              </a:xfrm>
              <a:custGeom>
                <a:avLst/>
                <a:gdLst/>
                <a:ahLst/>
                <a:cxnLst/>
                <a:rect r="r" b="b" t="t" l="l"/>
                <a:pathLst>
                  <a:path h="660400" w="660400">
                    <a:moveTo>
                      <a:pt x="330200" y="0"/>
                    </a:moveTo>
                    <a:cubicBezTo>
                      <a:pt x="512564" y="0"/>
                      <a:pt x="660400" y="147836"/>
                      <a:pt x="660400" y="330200"/>
                    </a:cubicBezTo>
                    <a:cubicBezTo>
                      <a:pt x="660400" y="512564"/>
                      <a:pt x="512564" y="660400"/>
                      <a:pt x="330200" y="660400"/>
                    </a:cubicBezTo>
                    <a:cubicBezTo>
                      <a:pt x="147836" y="660400"/>
                      <a:pt x="0" y="512564"/>
                      <a:pt x="0" y="330200"/>
                    </a:cubicBezTo>
                    <a:cubicBezTo>
                      <a:pt x="0" y="147836"/>
                      <a:pt x="147836" y="0"/>
                      <a:pt x="330200" y="0"/>
                    </a:cubicBezTo>
                    <a:close/>
                  </a:path>
                </a:pathLst>
              </a:custGeom>
              <a:solidFill>
                <a:srgbClr val="2F7DF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04"/>
                  </a:lnSpc>
                </a:pPr>
                <a:r>
                  <a:rPr lang="en-US" sz="1575" b="true">
                    <a:solidFill>
                      <a:srgbClr val="FFFFFF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6</a:t>
                </a:r>
              </a:p>
            </p:txBody>
          </p:sp>
        </p:grpSp>
        <p:sp>
          <p:nvSpPr>
            <p:cNvPr name="TextBox 34" id="34"/>
            <p:cNvSpPr txBox="true"/>
            <p:nvPr/>
          </p:nvSpPr>
          <p:spPr>
            <a:xfrm rot="0">
              <a:off x="889000" y="234950"/>
              <a:ext cx="9271000" cy="3797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1800">
                  <a:solidFill>
                    <a:srgbClr val="101828"/>
                  </a:solidFill>
                  <a:latin typeface="Open Sans"/>
                  <a:ea typeface="Open Sans"/>
                  <a:cs typeface="Open Sans"/>
                  <a:sym typeface="Open Sans"/>
                </a:rPr>
                <a:t>“What would you change about your project experience?”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4953000" y="7810500"/>
            <a:ext cx="8382000" cy="723900"/>
            <a:chOff x="0" y="0"/>
            <a:chExt cx="11176000" cy="9652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1176000" cy="965200"/>
            </a:xfrm>
            <a:custGeom>
              <a:avLst/>
              <a:gdLst/>
              <a:ahLst/>
              <a:cxnLst/>
              <a:rect r="r" b="b" t="t" l="l"/>
              <a:pathLst>
                <a:path h="965200" w="11176000">
                  <a:moveTo>
                    <a:pt x="17318" y="0"/>
                  </a:moveTo>
                  <a:lnTo>
                    <a:pt x="11158682" y="0"/>
                  </a:lnTo>
                  <a:cubicBezTo>
                    <a:pt x="11163275" y="0"/>
                    <a:pt x="11167680" y="1825"/>
                    <a:pt x="11170927" y="5072"/>
                  </a:cubicBezTo>
                  <a:cubicBezTo>
                    <a:pt x="11174175" y="8320"/>
                    <a:pt x="11176000" y="12725"/>
                    <a:pt x="11176000" y="17318"/>
                  </a:cubicBezTo>
                  <a:lnTo>
                    <a:pt x="11176000" y="947882"/>
                  </a:lnTo>
                  <a:cubicBezTo>
                    <a:pt x="11176000" y="952475"/>
                    <a:pt x="11174175" y="956880"/>
                    <a:pt x="11170927" y="960128"/>
                  </a:cubicBezTo>
                  <a:cubicBezTo>
                    <a:pt x="11167680" y="963375"/>
                    <a:pt x="11163275" y="965200"/>
                    <a:pt x="11158682" y="965200"/>
                  </a:cubicBezTo>
                  <a:lnTo>
                    <a:pt x="17318" y="965200"/>
                  </a:lnTo>
                  <a:cubicBezTo>
                    <a:pt x="12725" y="965200"/>
                    <a:pt x="8320" y="963375"/>
                    <a:pt x="5072" y="960128"/>
                  </a:cubicBezTo>
                  <a:cubicBezTo>
                    <a:pt x="1825" y="956880"/>
                    <a:pt x="0" y="952475"/>
                    <a:pt x="0" y="947882"/>
                  </a:cubicBezTo>
                  <a:lnTo>
                    <a:pt x="0" y="17318"/>
                  </a:lnTo>
                  <a:cubicBezTo>
                    <a:pt x="0" y="12725"/>
                    <a:pt x="1825" y="8320"/>
                    <a:pt x="5072" y="5072"/>
                  </a:cubicBezTo>
                  <a:cubicBezTo>
                    <a:pt x="8320" y="1825"/>
                    <a:pt x="12725" y="0"/>
                    <a:pt x="17318" y="0"/>
                  </a:cubicBezTo>
                  <a:close/>
                </a:path>
              </a:pathLst>
            </a:custGeom>
            <a:solidFill>
              <a:srgbClr val="101828"/>
            </a:solidFill>
            <a:ln cap="sq">
              <a:noFill/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19050"/>
              <a:ext cx="11176000" cy="946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AVOID: “Do you like ProjectsForge?”</a:t>
              </a:r>
            </a:p>
          </p:txBody>
        </p:sp>
      </p:grpSp>
      <p:sp>
        <p:nvSpPr>
          <p:cNvPr name="AutoShape 38" id="38"/>
          <p:cNvSpPr/>
          <p:nvPr/>
        </p:nvSpPr>
        <p:spPr>
          <a:xfrm>
            <a:off x="857250" y="9601200"/>
            <a:ext cx="16573500" cy="0"/>
          </a:xfrm>
          <a:prstGeom prst="line">
            <a:avLst/>
          </a:prstGeom>
          <a:ln cap="flat" w="9525">
            <a:solidFill>
              <a:srgbClr val="D9E1E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9" id="39"/>
          <p:cNvSpPr txBox="true"/>
          <p:nvPr/>
        </p:nvSpPr>
        <p:spPr>
          <a:xfrm rot="0">
            <a:off x="857250" y="9782175"/>
            <a:ext cx="2857500" cy="184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0"/>
              </a:lnSpc>
            </a:pPr>
            <a:r>
              <a:rPr lang="en-US" sz="1200">
                <a:solidFill>
                  <a:srgbClr val="667085"/>
                </a:solidFill>
                <a:latin typeface="Open Sans"/>
                <a:ea typeface="Open Sans"/>
                <a:cs typeface="Open Sans"/>
                <a:sym typeface="Open Sans"/>
              </a:rPr>
              <a:t>PROJECTSFORGE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6764000" y="9782175"/>
            <a:ext cx="666750" cy="184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60"/>
              </a:lnSpc>
            </a:pPr>
            <a:r>
              <a:rPr lang="en-US" sz="1200">
                <a:solidFill>
                  <a:srgbClr val="667085"/>
                </a:solidFill>
                <a:latin typeface="Open Sans"/>
                <a:ea typeface="Open Sans"/>
                <a:cs typeface="Open Sans"/>
                <a:sym typeface="Open San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7250" y="571500"/>
            <a:ext cx="14287500" cy="1111568"/>
            <a:chOff x="0" y="0"/>
            <a:chExt cx="19050000" cy="148209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28575"/>
              <a:ext cx="8255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08" b="true">
                  <a:solidFill>
                    <a:srgbClr val="2F7DF6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12  /  PROJECTSFORGE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676275"/>
              <a:ext cx="19050000" cy="8058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67"/>
                </a:lnSpc>
              </a:pPr>
              <a:r>
                <a:rPr lang="en-US" sz="4350" b="true">
                  <a:solidFill>
                    <a:srgbClr val="101828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MVP: only the essential loop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57250" y="2857500"/>
            <a:ext cx="3714750" cy="1619250"/>
            <a:chOff x="0" y="0"/>
            <a:chExt cx="4953000" cy="2159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953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4953000">
                  <a:moveTo>
                    <a:pt x="39077" y="0"/>
                  </a:moveTo>
                  <a:lnTo>
                    <a:pt x="4913923" y="0"/>
                  </a:lnTo>
                  <a:cubicBezTo>
                    <a:pt x="4935505" y="0"/>
                    <a:pt x="4953000" y="17495"/>
                    <a:pt x="4953000" y="39077"/>
                  </a:cubicBezTo>
                  <a:lnTo>
                    <a:pt x="4953000" y="2119923"/>
                  </a:lnTo>
                  <a:cubicBezTo>
                    <a:pt x="4953000" y="2141505"/>
                    <a:pt x="4935505" y="2159000"/>
                    <a:pt x="4913923" y="2159000"/>
                  </a:cubicBezTo>
                  <a:lnTo>
                    <a:pt x="39077" y="2159000"/>
                  </a:lnTo>
                  <a:cubicBezTo>
                    <a:pt x="17495" y="2159000"/>
                    <a:pt x="0" y="2141505"/>
                    <a:pt x="0" y="2119923"/>
                  </a:cubicBezTo>
                  <a:lnTo>
                    <a:pt x="0" y="39077"/>
                  </a:lnTo>
                  <a:cubicBezTo>
                    <a:pt x="0" y="17495"/>
                    <a:pt x="17495" y="0"/>
                    <a:pt x="39077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28575"/>
              <a:ext cx="4953000" cy="213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10182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01</a:t>
              </a:r>
            </a:p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10182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Student Profile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000625" y="2857500"/>
            <a:ext cx="3714750" cy="1619250"/>
            <a:chOff x="0" y="0"/>
            <a:chExt cx="4953000" cy="2159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953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4953000">
                  <a:moveTo>
                    <a:pt x="39077" y="0"/>
                  </a:moveTo>
                  <a:lnTo>
                    <a:pt x="4913923" y="0"/>
                  </a:lnTo>
                  <a:cubicBezTo>
                    <a:pt x="4935505" y="0"/>
                    <a:pt x="4953000" y="17495"/>
                    <a:pt x="4953000" y="39077"/>
                  </a:cubicBezTo>
                  <a:lnTo>
                    <a:pt x="4953000" y="2119923"/>
                  </a:lnTo>
                  <a:cubicBezTo>
                    <a:pt x="4953000" y="2141505"/>
                    <a:pt x="4935505" y="2159000"/>
                    <a:pt x="4913923" y="2159000"/>
                  </a:cubicBezTo>
                  <a:lnTo>
                    <a:pt x="39077" y="2159000"/>
                  </a:lnTo>
                  <a:cubicBezTo>
                    <a:pt x="17495" y="2159000"/>
                    <a:pt x="0" y="2141505"/>
                    <a:pt x="0" y="2119923"/>
                  </a:cubicBezTo>
                  <a:lnTo>
                    <a:pt x="0" y="39077"/>
                  </a:lnTo>
                  <a:cubicBezTo>
                    <a:pt x="0" y="17495"/>
                    <a:pt x="17495" y="0"/>
                    <a:pt x="39077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28575"/>
              <a:ext cx="4953000" cy="213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10182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02</a:t>
              </a:r>
            </a:p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10182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Project Database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44000" y="2857500"/>
            <a:ext cx="3714750" cy="1619250"/>
            <a:chOff x="0" y="0"/>
            <a:chExt cx="4953000" cy="2159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953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4953000">
                  <a:moveTo>
                    <a:pt x="39077" y="0"/>
                  </a:moveTo>
                  <a:lnTo>
                    <a:pt x="4913923" y="0"/>
                  </a:lnTo>
                  <a:cubicBezTo>
                    <a:pt x="4935505" y="0"/>
                    <a:pt x="4953000" y="17495"/>
                    <a:pt x="4953000" y="39077"/>
                  </a:cubicBezTo>
                  <a:lnTo>
                    <a:pt x="4953000" y="2119923"/>
                  </a:lnTo>
                  <a:cubicBezTo>
                    <a:pt x="4953000" y="2141505"/>
                    <a:pt x="4935505" y="2159000"/>
                    <a:pt x="4913923" y="2159000"/>
                  </a:cubicBezTo>
                  <a:lnTo>
                    <a:pt x="39077" y="2159000"/>
                  </a:lnTo>
                  <a:cubicBezTo>
                    <a:pt x="17495" y="2159000"/>
                    <a:pt x="0" y="2141505"/>
                    <a:pt x="0" y="2119923"/>
                  </a:cubicBezTo>
                  <a:lnTo>
                    <a:pt x="0" y="39077"/>
                  </a:lnTo>
                  <a:cubicBezTo>
                    <a:pt x="0" y="17495"/>
                    <a:pt x="17495" y="0"/>
                    <a:pt x="39077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28575"/>
              <a:ext cx="4953000" cy="213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10182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03</a:t>
              </a:r>
            </a:p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10182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Search &amp; Filters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3287375" y="2857500"/>
            <a:ext cx="3714750" cy="1619250"/>
            <a:chOff x="0" y="0"/>
            <a:chExt cx="4953000" cy="2159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953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4953000">
                  <a:moveTo>
                    <a:pt x="39077" y="0"/>
                  </a:moveTo>
                  <a:lnTo>
                    <a:pt x="4913923" y="0"/>
                  </a:lnTo>
                  <a:cubicBezTo>
                    <a:pt x="4935505" y="0"/>
                    <a:pt x="4953000" y="17495"/>
                    <a:pt x="4953000" y="39077"/>
                  </a:cubicBezTo>
                  <a:lnTo>
                    <a:pt x="4953000" y="2119923"/>
                  </a:lnTo>
                  <a:cubicBezTo>
                    <a:pt x="4953000" y="2141505"/>
                    <a:pt x="4935505" y="2159000"/>
                    <a:pt x="4913923" y="2159000"/>
                  </a:cubicBezTo>
                  <a:lnTo>
                    <a:pt x="39077" y="2159000"/>
                  </a:lnTo>
                  <a:cubicBezTo>
                    <a:pt x="17495" y="2159000"/>
                    <a:pt x="0" y="2141505"/>
                    <a:pt x="0" y="2119923"/>
                  </a:cubicBezTo>
                  <a:lnTo>
                    <a:pt x="0" y="39077"/>
                  </a:lnTo>
                  <a:cubicBezTo>
                    <a:pt x="0" y="17495"/>
                    <a:pt x="17495" y="0"/>
                    <a:pt x="39077" y="0"/>
                  </a:cubicBezTo>
                  <a:close/>
                </a:path>
              </a:pathLst>
            </a:custGeom>
            <a:solidFill>
              <a:srgbClr val="2F7DF6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28575"/>
              <a:ext cx="4953000" cy="213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04</a:t>
              </a:r>
            </a:p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Personalized Recommendations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57250" y="5048250"/>
            <a:ext cx="3714750" cy="1619250"/>
            <a:chOff x="0" y="0"/>
            <a:chExt cx="4953000" cy="2159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953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4953000">
                  <a:moveTo>
                    <a:pt x="39077" y="0"/>
                  </a:moveTo>
                  <a:lnTo>
                    <a:pt x="4913923" y="0"/>
                  </a:lnTo>
                  <a:cubicBezTo>
                    <a:pt x="4935505" y="0"/>
                    <a:pt x="4953000" y="17495"/>
                    <a:pt x="4953000" y="39077"/>
                  </a:cubicBezTo>
                  <a:lnTo>
                    <a:pt x="4953000" y="2119923"/>
                  </a:lnTo>
                  <a:cubicBezTo>
                    <a:pt x="4953000" y="2141505"/>
                    <a:pt x="4935505" y="2159000"/>
                    <a:pt x="4913923" y="2159000"/>
                  </a:cubicBezTo>
                  <a:lnTo>
                    <a:pt x="39077" y="2159000"/>
                  </a:lnTo>
                  <a:cubicBezTo>
                    <a:pt x="17495" y="2159000"/>
                    <a:pt x="0" y="2141505"/>
                    <a:pt x="0" y="2119923"/>
                  </a:cubicBezTo>
                  <a:lnTo>
                    <a:pt x="0" y="39077"/>
                  </a:lnTo>
                  <a:cubicBezTo>
                    <a:pt x="0" y="17495"/>
                    <a:pt x="17495" y="0"/>
                    <a:pt x="39077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28575"/>
              <a:ext cx="4953000" cy="213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10182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05</a:t>
              </a:r>
            </a:p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10182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Project Detail Page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5000625" y="5048250"/>
            <a:ext cx="3714750" cy="1619250"/>
            <a:chOff x="0" y="0"/>
            <a:chExt cx="4953000" cy="2159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953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4953000">
                  <a:moveTo>
                    <a:pt x="39077" y="0"/>
                  </a:moveTo>
                  <a:lnTo>
                    <a:pt x="4913923" y="0"/>
                  </a:lnTo>
                  <a:cubicBezTo>
                    <a:pt x="4935505" y="0"/>
                    <a:pt x="4953000" y="17495"/>
                    <a:pt x="4953000" y="39077"/>
                  </a:cubicBezTo>
                  <a:lnTo>
                    <a:pt x="4953000" y="2119923"/>
                  </a:lnTo>
                  <a:cubicBezTo>
                    <a:pt x="4953000" y="2141505"/>
                    <a:pt x="4935505" y="2159000"/>
                    <a:pt x="4913923" y="2159000"/>
                  </a:cubicBezTo>
                  <a:lnTo>
                    <a:pt x="39077" y="2159000"/>
                  </a:lnTo>
                  <a:cubicBezTo>
                    <a:pt x="17495" y="2159000"/>
                    <a:pt x="0" y="2141505"/>
                    <a:pt x="0" y="2119923"/>
                  </a:cubicBezTo>
                  <a:lnTo>
                    <a:pt x="0" y="39077"/>
                  </a:lnTo>
                  <a:cubicBezTo>
                    <a:pt x="0" y="17495"/>
                    <a:pt x="17495" y="0"/>
                    <a:pt x="39077" y="0"/>
                  </a:cubicBezTo>
                  <a:close/>
                </a:path>
              </a:pathLst>
            </a:custGeom>
            <a:solidFill>
              <a:srgbClr val="2F7DF6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28575"/>
              <a:ext cx="4953000" cy="213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06</a:t>
              </a:r>
            </a:p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Milestone Checklist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144000" y="5048250"/>
            <a:ext cx="3714750" cy="1619250"/>
            <a:chOff x="0" y="0"/>
            <a:chExt cx="4953000" cy="2159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953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4953000">
                  <a:moveTo>
                    <a:pt x="39077" y="0"/>
                  </a:moveTo>
                  <a:lnTo>
                    <a:pt x="4913923" y="0"/>
                  </a:lnTo>
                  <a:cubicBezTo>
                    <a:pt x="4935505" y="0"/>
                    <a:pt x="4953000" y="17495"/>
                    <a:pt x="4953000" y="39077"/>
                  </a:cubicBezTo>
                  <a:lnTo>
                    <a:pt x="4953000" y="2119923"/>
                  </a:lnTo>
                  <a:cubicBezTo>
                    <a:pt x="4953000" y="2141505"/>
                    <a:pt x="4935505" y="2159000"/>
                    <a:pt x="4913923" y="2159000"/>
                  </a:cubicBezTo>
                  <a:lnTo>
                    <a:pt x="39077" y="2159000"/>
                  </a:lnTo>
                  <a:cubicBezTo>
                    <a:pt x="17495" y="2159000"/>
                    <a:pt x="0" y="2141505"/>
                    <a:pt x="0" y="2119923"/>
                  </a:cubicBezTo>
                  <a:lnTo>
                    <a:pt x="0" y="39077"/>
                  </a:lnTo>
                  <a:cubicBezTo>
                    <a:pt x="0" y="17495"/>
                    <a:pt x="17495" y="0"/>
                    <a:pt x="39077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28575"/>
              <a:ext cx="4953000" cy="213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10182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07</a:t>
              </a:r>
            </a:p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10182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Save Projects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287375" y="5048250"/>
            <a:ext cx="3714750" cy="1619250"/>
            <a:chOff x="0" y="0"/>
            <a:chExt cx="4953000" cy="2159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953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4953000">
                  <a:moveTo>
                    <a:pt x="39077" y="0"/>
                  </a:moveTo>
                  <a:lnTo>
                    <a:pt x="4913923" y="0"/>
                  </a:lnTo>
                  <a:cubicBezTo>
                    <a:pt x="4935505" y="0"/>
                    <a:pt x="4953000" y="17495"/>
                    <a:pt x="4953000" y="39077"/>
                  </a:cubicBezTo>
                  <a:lnTo>
                    <a:pt x="4953000" y="2119923"/>
                  </a:lnTo>
                  <a:cubicBezTo>
                    <a:pt x="4953000" y="2141505"/>
                    <a:pt x="4935505" y="2159000"/>
                    <a:pt x="4913923" y="2159000"/>
                  </a:cubicBezTo>
                  <a:lnTo>
                    <a:pt x="39077" y="2159000"/>
                  </a:lnTo>
                  <a:cubicBezTo>
                    <a:pt x="17495" y="2159000"/>
                    <a:pt x="0" y="2141505"/>
                    <a:pt x="0" y="2119923"/>
                  </a:cubicBezTo>
                  <a:lnTo>
                    <a:pt x="0" y="39077"/>
                  </a:lnTo>
                  <a:cubicBezTo>
                    <a:pt x="0" y="17495"/>
                    <a:pt x="17495" y="0"/>
                    <a:pt x="39077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28575"/>
              <a:ext cx="4953000" cy="213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10182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08</a:t>
              </a:r>
            </a:p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10182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Feedback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5143500" y="7848600"/>
            <a:ext cx="8001000" cy="321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400" b="true">
                <a:solidFill>
                  <a:srgbClr val="10182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Avoid feature bloat at MVP stage.</a:t>
            </a:r>
          </a:p>
        </p:txBody>
      </p:sp>
      <p:sp>
        <p:nvSpPr>
          <p:cNvPr name="AutoShape 30" id="30"/>
          <p:cNvSpPr/>
          <p:nvPr/>
        </p:nvSpPr>
        <p:spPr>
          <a:xfrm>
            <a:off x="857250" y="9601200"/>
            <a:ext cx="16573500" cy="0"/>
          </a:xfrm>
          <a:prstGeom prst="line">
            <a:avLst/>
          </a:prstGeom>
          <a:ln cap="flat" w="9525">
            <a:solidFill>
              <a:srgbClr val="D9E1E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1" id="31"/>
          <p:cNvSpPr txBox="true"/>
          <p:nvPr/>
        </p:nvSpPr>
        <p:spPr>
          <a:xfrm rot="0">
            <a:off x="857250" y="9782175"/>
            <a:ext cx="2857500" cy="184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0"/>
              </a:lnSpc>
            </a:pPr>
            <a:r>
              <a:rPr lang="en-US" sz="1200">
                <a:solidFill>
                  <a:srgbClr val="667085"/>
                </a:solidFill>
                <a:latin typeface="Open Sans"/>
                <a:ea typeface="Open Sans"/>
                <a:cs typeface="Open Sans"/>
                <a:sym typeface="Open Sans"/>
              </a:rPr>
              <a:t>PROJECTSFORGE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6764000" y="9782175"/>
            <a:ext cx="666750" cy="184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60"/>
              </a:lnSpc>
            </a:pPr>
            <a:r>
              <a:rPr lang="en-US" sz="1200">
                <a:solidFill>
                  <a:srgbClr val="667085"/>
                </a:solidFill>
                <a:latin typeface="Open Sans"/>
                <a:ea typeface="Open Sans"/>
                <a:cs typeface="Open Sans"/>
                <a:sym typeface="Open San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7250" y="571500"/>
            <a:ext cx="14287500" cy="1111568"/>
            <a:chOff x="0" y="0"/>
            <a:chExt cx="19050000" cy="148209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28575"/>
              <a:ext cx="8255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08" b="true">
                  <a:solidFill>
                    <a:srgbClr val="75AA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13  /  PROJECTSFORGE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676275"/>
              <a:ext cx="19050000" cy="8058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67"/>
                </a:lnSpc>
              </a:pPr>
              <a:r>
                <a:rPr lang="en-US" sz="435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Future AI layer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52500" y="2667000"/>
            <a:ext cx="5143500" cy="1143000"/>
            <a:chOff x="0" y="0"/>
            <a:chExt cx="6858000" cy="1524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858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6858000">
                  <a:moveTo>
                    <a:pt x="28222" y="0"/>
                  </a:moveTo>
                  <a:lnTo>
                    <a:pt x="6829778" y="0"/>
                  </a:lnTo>
                  <a:cubicBezTo>
                    <a:pt x="6837263" y="0"/>
                    <a:pt x="6844441" y="2973"/>
                    <a:pt x="6849734" y="8266"/>
                  </a:cubicBezTo>
                  <a:cubicBezTo>
                    <a:pt x="6855027" y="13559"/>
                    <a:pt x="6858000" y="20737"/>
                    <a:pt x="6858000" y="28222"/>
                  </a:cubicBezTo>
                  <a:lnTo>
                    <a:pt x="6858000" y="1495778"/>
                  </a:lnTo>
                  <a:cubicBezTo>
                    <a:pt x="6858000" y="1503263"/>
                    <a:pt x="6855027" y="1510441"/>
                    <a:pt x="6849734" y="1515734"/>
                  </a:cubicBezTo>
                  <a:cubicBezTo>
                    <a:pt x="6844441" y="1521027"/>
                    <a:pt x="6837263" y="1524000"/>
                    <a:pt x="6829778" y="1524000"/>
                  </a:cubicBezTo>
                  <a:lnTo>
                    <a:pt x="28222" y="1524000"/>
                  </a:lnTo>
                  <a:cubicBezTo>
                    <a:pt x="20737" y="1524000"/>
                    <a:pt x="13559" y="1521027"/>
                    <a:pt x="8266" y="1515734"/>
                  </a:cubicBezTo>
                  <a:cubicBezTo>
                    <a:pt x="2973" y="1510441"/>
                    <a:pt x="0" y="1503263"/>
                    <a:pt x="0" y="1495778"/>
                  </a:cubicBezTo>
                  <a:lnTo>
                    <a:pt x="0" y="28222"/>
                  </a:lnTo>
                  <a:cubicBezTo>
                    <a:pt x="0" y="20737"/>
                    <a:pt x="2973" y="13559"/>
                    <a:pt x="8266" y="8266"/>
                  </a:cubicBezTo>
                  <a:cubicBezTo>
                    <a:pt x="13559" y="2973"/>
                    <a:pt x="20737" y="0"/>
                    <a:pt x="28222" y="0"/>
                  </a:cubicBezTo>
                  <a:close/>
                </a:path>
              </a:pathLst>
            </a:custGeom>
            <a:solidFill>
              <a:srgbClr val="13243A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28575"/>
              <a:ext cx="6858000" cy="1495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Project recommendation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572250" y="2667000"/>
            <a:ext cx="5143500" cy="1143000"/>
            <a:chOff x="0" y="0"/>
            <a:chExt cx="6858000" cy="1524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858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6858000">
                  <a:moveTo>
                    <a:pt x="28222" y="0"/>
                  </a:moveTo>
                  <a:lnTo>
                    <a:pt x="6829778" y="0"/>
                  </a:lnTo>
                  <a:cubicBezTo>
                    <a:pt x="6837263" y="0"/>
                    <a:pt x="6844441" y="2973"/>
                    <a:pt x="6849734" y="8266"/>
                  </a:cubicBezTo>
                  <a:cubicBezTo>
                    <a:pt x="6855027" y="13559"/>
                    <a:pt x="6858000" y="20737"/>
                    <a:pt x="6858000" y="28222"/>
                  </a:cubicBezTo>
                  <a:lnTo>
                    <a:pt x="6858000" y="1495778"/>
                  </a:lnTo>
                  <a:cubicBezTo>
                    <a:pt x="6858000" y="1503263"/>
                    <a:pt x="6855027" y="1510441"/>
                    <a:pt x="6849734" y="1515734"/>
                  </a:cubicBezTo>
                  <a:cubicBezTo>
                    <a:pt x="6844441" y="1521027"/>
                    <a:pt x="6837263" y="1524000"/>
                    <a:pt x="6829778" y="1524000"/>
                  </a:cubicBezTo>
                  <a:lnTo>
                    <a:pt x="28222" y="1524000"/>
                  </a:lnTo>
                  <a:cubicBezTo>
                    <a:pt x="20737" y="1524000"/>
                    <a:pt x="13559" y="1521027"/>
                    <a:pt x="8266" y="1515734"/>
                  </a:cubicBezTo>
                  <a:cubicBezTo>
                    <a:pt x="2973" y="1510441"/>
                    <a:pt x="0" y="1503263"/>
                    <a:pt x="0" y="1495778"/>
                  </a:cubicBezTo>
                  <a:lnTo>
                    <a:pt x="0" y="28222"/>
                  </a:lnTo>
                  <a:cubicBezTo>
                    <a:pt x="0" y="20737"/>
                    <a:pt x="2973" y="13559"/>
                    <a:pt x="8266" y="8266"/>
                  </a:cubicBezTo>
                  <a:cubicBezTo>
                    <a:pt x="13559" y="2973"/>
                    <a:pt x="20737" y="0"/>
                    <a:pt x="28222" y="0"/>
                  </a:cubicBezTo>
                  <a:close/>
                </a:path>
              </a:pathLst>
            </a:custGeom>
            <a:solidFill>
              <a:srgbClr val="13243A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28575"/>
              <a:ext cx="6858000" cy="1495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Skill-gap analysis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192000" y="2667000"/>
            <a:ext cx="5143500" cy="1143000"/>
            <a:chOff x="0" y="0"/>
            <a:chExt cx="6858000" cy="1524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858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6858000">
                  <a:moveTo>
                    <a:pt x="28222" y="0"/>
                  </a:moveTo>
                  <a:lnTo>
                    <a:pt x="6829778" y="0"/>
                  </a:lnTo>
                  <a:cubicBezTo>
                    <a:pt x="6837263" y="0"/>
                    <a:pt x="6844441" y="2973"/>
                    <a:pt x="6849734" y="8266"/>
                  </a:cubicBezTo>
                  <a:cubicBezTo>
                    <a:pt x="6855027" y="13559"/>
                    <a:pt x="6858000" y="20737"/>
                    <a:pt x="6858000" y="28222"/>
                  </a:cubicBezTo>
                  <a:lnTo>
                    <a:pt x="6858000" y="1495778"/>
                  </a:lnTo>
                  <a:cubicBezTo>
                    <a:pt x="6858000" y="1503263"/>
                    <a:pt x="6855027" y="1510441"/>
                    <a:pt x="6849734" y="1515734"/>
                  </a:cubicBezTo>
                  <a:cubicBezTo>
                    <a:pt x="6844441" y="1521027"/>
                    <a:pt x="6837263" y="1524000"/>
                    <a:pt x="6829778" y="1524000"/>
                  </a:cubicBezTo>
                  <a:lnTo>
                    <a:pt x="28222" y="1524000"/>
                  </a:lnTo>
                  <a:cubicBezTo>
                    <a:pt x="20737" y="1524000"/>
                    <a:pt x="13559" y="1521027"/>
                    <a:pt x="8266" y="1515734"/>
                  </a:cubicBezTo>
                  <a:cubicBezTo>
                    <a:pt x="2973" y="1510441"/>
                    <a:pt x="0" y="1503263"/>
                    <a:pt x="0" y="1495778"/>
                  </a:cubicBezTo>
                  <a:lnTo>
                    <a:pt x="0" y="28222"/>
                  </a:lnTo>
                  <a:cubicBezTo>
                    <a:pt x="0" y="20737"/>
                    <a:pt x="2973" y="13559"/>
                    <a:pt x="8266" y="8266"/>
                  </a:cubicBezTo>
                  <a:cubicBezTo>
                    <a:pt x="13559" y="2973"/>
                    <a:pt x="20737" y="0"/>
                    <a:pt x="28222" y="0"/>
                  </a:cubicBezTo>
                  <a:close/>
                </a:path>
              </a:pathLst>
            </a:custGeom>
            <a:solidFill>
              <a:srgbClr val="13243A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28575"/>
              <a:ext cx="6858000" cy="1495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Personalized roadmap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52500" y="4286250"/>
            <a:ext cx="5143500" cy="1143000"/>
            <a:chOff x="0" y="0"/>
            <a:chExt cx="6858000" cy="1524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858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6858000">
                  <a:moveTo>
                    <a:pt x="28222" y="0"/>
                  </a:moveTo>
                  <a:lnTo>
                    <a:pt x="6829778" y="0"/>
                  </a:lnTo>
                  <a:cubicBezTo>
                    <a:pt x="6837263" y="0"/>
                    <a:pt x="6844441" y="2973"/>
                    <a:pt x="6849734" y="8266"/>
                  </a:cubicBezTo>
                  <a:cubicBezTo>
                    <a:pt x="6855027" y="13559"/>
                    <a:pt x="6858000" y="20737"/>
                    <a:pt x="6858000" y="28222"/>
                  </a:cubicBezTo>
                  <a:lnTo>
                    <a:pt x="6858000" y="1495778"/>
                  </a:lnTo>
                  <a:cubicBezTo>
                    <a:pt x="6858000" y="1503263"/>
                    <a:pt x="6855027" y="1510441"/>
                    <a:pt x="6849734" y="1515734"/>
                  </a:cubicBezTo>
                  <a:cubicBezTo>
                    <a:pt x="6844441" y="1521027"/>
                    <a:pt x="6837263" y="1524000"/>
                    <a:pt x="6829778" y="1524000"/>
                  </a:cubicBezTo>
                  <a:lnTo>
                    <a:pt x="28222" y="1524000"/>
                  </a:lnTo>
                  <a:cubicBezTo>
                    <a:pt x="20737" y="1524000"/>
                    <a:pt x="13559" y="1521027"/>
                    <a:pt x="8266" y="1515734"/>
                  </a:cubicBezTo>
                  <a:cubicBezTo>
                    <a:pt x="2973" y="1510441"/>
                    <a:pt x="0" y="1503263"/>
                    <a:pt x="0" y="1495778"/>
                  </a:cubicBezTo>
                  <a:lnTo>
                    <a:pt x="0" y="28222"/>
                  </a:lnTo>
                  <a:cubicBezTo>
                    <a:pt x="0" y="20737"/>
                    <a:pt x="2973" y="13559"/>
                    <a:pt x="8266" y="8266"/>
                  </a:cubicBezTo>
                  <a:cubicBezTo>
                    <a:pt x="13559" y="2973"/>
                    <a:pt x="20737" y="0"/>
                    <a:pt x="28222" y="0"/>
                  </a:cubicBezTo>
                  <a:close/>
                </a:path>
              </a:pathLst>
            </a:custGeom>
            <a:solidFill>
              <a:srgbClr val="13243A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28575"/>
              <a:ext cx="6858000" cy="1495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Context-aware assistant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572250" y="4286250"/>
            <a:ext cx="5143500" cy="1143000"/>
            <a:chOff x="0" y="0"/>
            <a:chExt cx="6858000" cy="1524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858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6858000">
                  <a:moveTo>
                    <a:pt x="28222" y="0"/>
                  </a:moveTo>
                  <a:lnTo>
                    <a:pt x="6829778" y="0"/>
                  </a:lnTo>
                  <a:cubicBezTo>
                    <a:pt x="6837263" y="0"/>
                    <a:pt x="6844441" y="2973"/>
                    <a:pt x="6849734" y="8266"/>
                  </a:cubicBezTo>
                  <a:cubicBezTo>
                    <a:pt x="6855027" y="13559"/>
                    <a:pt x="6858000" y="20737"/>
                    <a:pt x="6858000" y="28222"/>
                  </a:cubicBezTo>
                  <a:lnTo>
                    <a:pt x="6858000" y="1495778"/>
                  </a:lnTo>
                  <a:cubicBezTo>
                    <a:pt x="6858000" y="1503263"/>
                    <a:pt x="6855027" y="1510441"/>
                    <a:pt x="6849734" y="1515734"/>
                  </a:cubicBezTo>
                  <a:cubicBezTo>
                    <a:pt x="6844441" y="1521027"/>
                    <a:pt x="6837263" y="1524000"/>
                    <a:pt x="6829778" y="1524000"/>
                  </a:cubicBezTo>
                  <a:lnTo>
                    <a:pt x="28222" y="1524000"/>
                  </a:lnTo>
                  <a:cubicBezTo>
                    <a:pt x="20737" y="1524000"/>
                    <a:pt x="13559" y="1521027"/>
                    <a:pt x="8266" y="1515734"/>
                  </a:cubicBezTo>
                  <a:cubicBezTo>
                    <a:pt x="2973" y="1510441"/>
                    <a:pt x="0" y="1503263"/>
                    <a:pt x="0" y="1495778"/>
                  </a:cubicBezTo>
                  <a:lnTo>
                    <a:pt x="0" y="28222"/>
                  </a:lnTo>
                  <a:cubicBezTo>
                    <a:pt x="0" y="20737"/>
                    <a:pt x="2973" y="13559"/>
                    <a:pt x="8266" y="8266"/>
                  </a:cubicBezTo>
                  <a:cubicBezTo>
                    <a:pt x="13559" y="2973"/>
                    <a:pt x="20737" y="0"/>
                    <a:pt x="28222" y="0"/>
                  </a:cubicBezTo>
                  <a:close/>
                </a:path>
              </a:pathLst>
            </a:custGeom>
            <a:solidFill>
              <a:srgbClr val="2F7DF6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28575"/>
              <a:ext cx="6858000" cy="1495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Debugging guidance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192000" y="4286250"/>
            <a:ext cx="5143500" cy="1143000"/>
            <a:chOff x="0" y="0"/>
            <a:chExt cx="6858000" cy="1524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858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6858000">
                  <a:moveTo>
                    <a:pt x="28222" y="0"/>
                  </a:moveTo>
                  <a:lnTo>
                    <a:pt x="6829778" y="0"/>
                  </a:lnTo>
                  <a:cubicBezTo>
                    <a:pt x="6837263" y="0"/>
                    <a:pt x="6844441" y="2973"/>
                    <a:pt x="6849734" y="8266"/>
                  </a:cubicBezTo>
                  <a:cubicBezTo>
                    <a:pt x="6855027" y="13559"/>
                    <a:pt x="6858000" y="20737"/>
                    <a:pt x="6858000" y="28222"/>
                  </a:cubicBezTo>
                  <a:lnTo>
                    <a:pt x="6858000" y="1495778"/>
                  </a:lnTo>
                  <a:cubicBezTo>
                    <a:pt x="6858000" y="1503263"/>
                    <a:pt x="6855027" y="1510441"/>
                    <a:pt x="6849734" y="1515734"/>
                  </a:cubicBezTo>
                  <a:cubicBezTo>
                    <a:pt x="6844441" y="1521027"/>
                    <a:pt x="6837263" y="1524000"/>
                    <a:pt x="6829778" y="1524000"/>
                  </a:cubicBezTo>
                  <a:lnTo>
                    <a:pt x="28222" y="1524000"/>
                  </a:lnTo>
                  <a:cubicBezTo>
                    <a:pt x="20737" y="1524000"/>
                    <a:pt x="13559" y="1521027"/>
                    <a:pt x="8266" y="1515734"/>
                  </a:cubicBezTo>
                  <a:cubicBezTo>
                    <a:pt x="2973" y="1510441"/>
                    <a:pt x="0" y="1503263"/>
                    <a:pt x="0" y="1495778"/>
                  </a:cubicBezTo>
                  <a:lnTo>
                    <a:pt x="0" y="28222"/>
                  </a:lnTo>
                  <a:cubicBezTo>
                    <a:pt x="0" y="20737"/>
                    <a:pt x="2973" y="13559"/>
                    <a:pt x="8266" y="8266"/>
                  </a:cubicBezTo>
                  <a:cubicBezTo>
                    <a:pt x="13559" y="2973"/>
                    <a:pt x="20737" y="0"/>
                    <a:pt x="28222" y="0"/>
                  </a:cubicBezTo>
                  <a:close/>
                </a:path>
              </a:pathLst>
            </a:custGeom>
            <a:solidFill>
              <a:srgbClr val="13243A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28575"/>
              <a:ext cx="6858000" cy="1495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Documentation assistant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52500" y="5905500"/>
            <a:ext cx="5143500" cy="1143000"/>
            <a:chOff x="0" y="0"/>
            <a:chExt cx="6858000" cy="1524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858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6858000">
                  <a:moveTo>
                    <a:pt x="28222" y="0"/>
                  </a:moveTo>
                  <a:lnTo>
                    <a:pt x="6829778" y="0"/>
                  </a:lnTo>
                  <a:cubicBezTo>
                    <a:pt x="6837263" y="0"/>
                    <a:pt x="6844441" y="2973"/>
                    <a:pt x="6849734" y="8266"/>
                  </a:cubicBezTo>
                  <a:cubicBezTo>
                    <a:pt x="6855027" y="13559"/>
                    <a:pt x="6858000" y="20737"/>
                    <a:pt x="6858000" y="28222"/>
                  </a:cubicBezTo>
                  <a:lnTo>
                    <a:pt x="6858000" y="1495778"/>
                  </a:lnTo>
                  <a:cubicBezTo>
                    <a:pt x="6858000" y="1503263"/>
                    <a:pt x="6855027" y="1510441"/>
                    <a:pt x="6849734" y="1515734"/>
                  </a:cubicBezTo>
                  <a:cubicBezTo>
                    <a:pt x="6844441" y="1521027"/>
                    <a:pt x="6837263" y="1524000"/>
                    <a:pt x="6829778" y="1524000"/>
                  </a:cubicBezTo>
                  <a:lnTo>
                    <a:pt x="28222" y="1524000"/>
                  </a:lnTo>
                  <a:cubicBezTo>
                    <a:pt x="20737" y="1524000"/>
                    <a:pt x="13559" y="1521027"/>
                    <a:pt x="8266" y="1515734"/>
                  </a:cubicBezTo>
                  <a:cubicBezTo>
                    <a:pt x="2973" y="1510441"/>
                    <a:pt x="0" y="1503263"/>
                    <a:pt x="0" y="1495778"/>
                  </a:cubicBezTo>
                  <a:lnTo>
                    <a:pt x="0" y="28222"/>
                  </a:lnTo>
                  <a:cubicBezTo>
                    <a:pt x="0" y="20737"/>
                    <a:pt x="2973" y="13559"/>
                    <a:pt x="8266" y="8266"/>
                  </a:cubicBezTo>
                  <a:cubicBezTo>
                    <a:pt x="13559" y="2973"/>
                    <a:pt x="20737" y="0"/>
                    <a:pt x="28222" y="0"/>
                  </a:cubicBezTo>
                  <a:close/>
                </a:path>
              </a:pathLst>
            </a:custGeom>
            <a:solidFill>
              <a:srgbClr val="13243A"/>
            </a:soli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28575"/>
              <a:ext cx="6858000" cy="1495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Presentation generator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572250" y="5905500"/>
            <a:ext cx="5143500" cy="1143000"/>
            <a:chOff x="0" y="0"/>
            <a:chExt cx="6858000" cy="1524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858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6858000">
                  <a:moveTo>
                    <a:pt x="28222" y="0"/>
                  </a:moveTo>
                  <a:lnTo>
                    <a:pt x="6829778" y="0"/>
                  </a:lnTo>
                  <a:cubicBezTo>
                    <a:pt x="6837263" y="0"/>
                    <a:pt x="6844441" y="2973"/>
                    <a:pt x="6849734" y="8266"/>
                  </a:cubicBezTo>
                  <a:cubicBezTo>
                    <a:pt x="6855027" y="13559"/>
                    <a:pt x="6858000" y="20737"/>
                    <a:pt x="6858000" y="28222"/>
                  </a:cubicBezTo>
                  <a:lnTo>
                    <a:pt x="6858000" y="1495778"/>
                  </a:lnTo>
                  <a:cubicBezTo>
                    <a:pt x="6858000" y="1503263"/>
                    <a:pt x="6855027" y="1510441"/>
                    <a:pt x="6849734" y="1515734"/>
                  </a:cubicBezTo>
                  <a:cubicBezTo>
                    <a:pt x="6844441" y="1521027"/>
                    <a:pt x="6837263" y="1524000"/>
                    <a:pt x="6829778" y="1524000"/>
                  </a:cubicBezTo>
                  <a:lnTo>
                    <a:pt x="28222" y="1524000"/>
                  </a:lnTo>
                  <a:cubicBezTo>
                    <a:pt x="20737" y="1524000"/>
                    <a:pt x="13559" y="1521027"/>
                    <a:pt x="8266" y="1515734"/>
                  </a:cubicBezTo>
                  <a:cubicBezTo>
                    <a:pt x="2973" y="1510441"/>
                    <a:pt x="0" y="1503263"/>
                    <a:pt x="0" y="1495778"/>
                  </a:cubicBezTo>
                  <a:lnTo>
                    <a:pt x="0" y="28222"/>
                  </a:lnTo>
                  <a:cubicBezTo>
                    <a:pt x="0" y="20737"/>
                    <a:pt x="2973" y="13559"/>
                    <a:pt x="8266" y="8266"/>
                  </a:cubicBezTo>
                  <a:cubicBezTo>
                    <a:pt x="13559" y="2973"/>
                    <a:pt x="20737" y="0"/>
                    <a:pt x="28222" y="0"/>
                  </a:cubicBezTo>
                  <a:close/>
                </a:path>
              </a:pathLst>
            </a:custGeom>
            <a:solidFill>
              <a:srgbClr val="13243A"/>
            </a:solidFill>
            <a:ln cap="sq">
              <a:noFill/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28575"/>
              <a:ext cx="6858000" cy="1495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Viva preparation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2192000" y="5905500"/>
            <a:ext cx="5143500" cy="1143000"/>
            <a:chOff x="0" y="0"/>
            <a:chExt cx="6858000" cy="1524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858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6858000">
                  <a:moveTo>
                    <a:pt x="28222" y="0"/>
                  </a:moveTo>
                  <a:lnTo>
                    <a:pt x="6829778" y="0"/>
                  </a:lnTo>
                  <a:cubicBezTo>
                    <a:pt x="6837263" y="0"/>
                    <a:pt x="6844441" y="2973"/>
                    <a:pt x="6849734" y="8266"/>
                  </a:cubicBezTo>
                  <a:cubicBezTo>
                    <a:pt x="6855027" y="13559"/>
                    <a:pt x="6858000" y="20737"/>
                    <a:pt x="6858000" y="28222"/>
                  </a:cubicBezTo>
                  <a:lnTo>
                    <a:pt x="6858000" y="1495778"/>
                  </a:lnTo>
                  <a:cubicBezTo>
                    <a:pt x="6858000" y="1503263"/>
                    <a:pt x="6855027" y="1510441"/>
                    <a:pt x="6849734" y="1515734"/>
                  </a:cubicBezTo>
                  <a:cubicBezTo>
                    <a:pt x="6844441" y="1521027"/>
                    <a:pt x="6837263" y="1524000"/>
                    <a:pt x="6829778" y="1524000"/>
                  </a:cubicBezTo>
                  <a:lnTo>
                    <a:pt x="28222" y="1524000"/>
                  </a:lnTo>
                  <a:cubicBezTo>
                    <a:pt x="20737" y="1524000"/>
                    <a:pt x="13559" y="1521027"/>
                    <a:pt x="8266" y="1515734"/>
                  </a:cubicBezTo>
                  <a:cubicBezTo>
                    <a:pt x="2973" y="1510441"/>
                    <a:pt x="0" y="1503263"/>
                    <a:pt x="0" y="1495778"/>
                  </a:cubicBezTo>
                  <a:lnTo>
                    <a:pt x="0" y="28222"/>
                  </a:lnTo>
                  <a:cubicBezTo>
                    <a:pt x="0" y="20737"/>
                    <a:pt x="2973" y="13559"/>
                    <a:pt x="8266" y="8266"/>
                  </a:cubicBezTo>
                  <a:cubicBezTo>
                    <a:pt x="13559" y="2973"/>
                    <a:pt x="20737" y="0"/>
                    <a:pt x="28222" y="0"/>
                  </a:cubicBezTo>
                  <a:close/>
                </a:path>
              </a:pathLst>
            </a:custGeom>
            <a:solidFill>
              <a:srgbClr val="13243A"/>
            </a:solidFill>
            <a:ln cap="sq">
              <a:noFill/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28575"/>
              <a:ext cx="6858000" cy="1495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Interview questions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3429000" y="8115300"/>
            <a:ext cx="11430000" cy="358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6"/>
              </a:lnSpc>
            </a:pPr>
            <a:r>
              <a:rPr lang="en-US" sz="2175">
                <a:solidFill>
                  <a:srgbClr val="75AAFF"/>
                </a:solidFill>
                <a:latin typeface="Open Sans"/>
                <a:ea typeface="Open Sans"/>
                <a:cs typeface="Open Sans"/>
                <a:sym typeface="Open Sans"/>
              </a:rPr>
              <a:t>AI supports learning and ownership — it should not promote copying.</a:t>
            </a:r>
          </a:p>
        </p:txBody>
      </p:sp>
      <p:sp>
        <p:nvSpPr>
          <p:cNvPr name="AutoShape 33" id="33"/>
          <p:cNvSpPr/>
          <p:nvPr/>
        </p:nvSpPr>
        <p:spPr>
          <a:xfrm>
            <a:off x="857250" y="9601200"/>
            <a:ext cx="16573500" cy="0"/>
          </a:xfrm>
          <a:prstGeom prst="line">
            <a:avLst/>
          </a:prstGeom>
          <a:ln cap="flat" w="9525">
            <a:solidFill>
              <a:srgbClr val="26364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4" id="34"/>
          <p:cNvSpPr txBox="true"/>
          <p:nvPr/>
        </p:nvSpPr>
        <p:spPr>
          <a:xfrm rot="0">
            <a:off x="857250" y="9772650"/>
            <a:ext cx="2857500" cy="196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PROJECTSFORGE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6764000" y="9772650"/>
            <a:ext cx="666750" cy="196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7250" y="571500"/>
            <a:ext cx="14287500" cy="1111568"/>
            <a:chOff x="0" y="0"/>
            <a:chExt cx="19050000" cy="148209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28575"/>
              <a:ext cx="8255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08" b="true">
                  <a:solidFill>
                    <a:srgbClr val="2F7DF6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14  /  PROJECTSFORGE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676275"/>
              <a:ext cx="19050000" cy="8058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67"/>
                </a:lnSpc>
              </a:pPr>
              <a:r>
                <a:rPr lang="en-US" sz="4350" b="true">
                  <a:solidFill>
                    <a:srgbClr val="101828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Professor &amp; industry contribution workflow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09625" y="3857625"/>
            <a:ext cx="2047875" cy="1143000"/>
            <a:chOff x="0" y="0"/>
            <a:chExt cx="2730500" cy="1524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305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2730500">
                  <a:moveTo>
                    <a:pt x="70884" y="0"/>
                  </a:moveTo>
                  <a:lnTo>
                    <a:pt x="2659616" y="0"/>
                  </a:lnTo>
                  <a:cubicBezTo>
                    <a:pt x="2698764" y="0"/>
                    <a:pt x="2730500" y="31736"/>
                    <a:pt x="2730500" y="70884"/>
                  </a:cubicBezTo>
                  <a:lnTo>
                    <a:pt x="2730500" y="1453116"/>
                  </a:lnTo>
                  <a:cubicBezTo>
                    <a:pt x="2730500" y="1492264"/>
                    <a:pt x="2698764" y="1524000"/>
                    <a:pt x="2659616" y="1524000"/>
                  </a:cubicBezTo>
                  <a:lnTo>
                    <a:pt x="70884" y="1524000"/>
                  </a:lnTo>
                  <a:cubicBezTo>
                    <a:pt x="31736" y="1524000"/>
                    <a:pt x="0" y="1492264"/>
                    <a:pt x="0" y="1453116"/>
                  </a:cubicBezTo>
                  <a:lnTo>
                    <a:pt x="0" y="70884"/>
                  </a:lnTo>
                  <a:cubicBezTo>
                    <a:pt x="0" y="31736"/>
                    <a:pt x="31736" y="0"/>
                    <a:pt x="70884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9525"/>
              <a:ext cx="2730500" cy="1514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32"/>
                </a:lnSpc>
              </a:pPr>
              <a:r>
                <a:rPr lang="en-US" sz="1575" b="true">
                  <a:solidFill>
                    <a:srgbClr val="10182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Professor</a:t>
              </a:r>
            </a:p>
          </p:txBody>
        </p:sp>
      </p:grpSp>
      <p:sp>
        <p:nvSpPr>
          <p:cNvPr name="AutoShape 8" id="8"/>
          <p:cNvSpPr/>
          <p:nvPr/>
        </p:nvSpPr>
        <p:spPr>
          <a:xfrm>
            <a:off x="2857500" y="4429125"/>
            <a:ext cx="333375" cy="0"/>
          </a:xfrm>
          <a:prstGeom prst="line">
            <a:avLst/>
          </a:prstGeom>
          <a:ln cap="rnd" w="38100">
            <a:solidFill>
              <a:srgbClr val="D9E1EC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9" id="9"/>
          <p:cNvGrpSpPr/>
          <p:nvPr/>
        </p:nvGrpSpPr>
        <p:grpSpPr>
          <a:xfrm rot="0">
            <a:off x="3286125" y="3857625"/>
            <a:ext cx="2047875" cy="1143000"/>
            <a:chOff x="0" y="0"/>
            <a:chExt cx="2730500" cy="1524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7305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2730500">
                  <a:moveTo>
                    <a:pt x="70884" y="0"/>
                  </a:moveTo>
                  <a:lnTo>
                    <a:pt x="2659616" y="0"/>
                  </a:lnTo>
                  <a:cubicBezTo>
                    <a:pt x="2698764" y="0"/>
                    <a:pt x="2730500" y="31736"/>
                    <a:pt x="2730500" y="70884"/>
                  </a:cubicBezTo>
                  <a:lnTo>
                    <a:pt x="2730500" y="1453116"/>
                  </a:lnTo>
                  <a:cubicBezTo>
                    <a:pt x="2730500" y="1492264"/>
                    <a:pt x="2698764" y="1524000"/>
                    <a:pt x="2659616" y="1524000"/>
                  </a:cubicBezTo>
                  <a:lnTo>
                    <a:pt x="70884" y="1524000"/>
                  </a:lnTo>
                  <a:cubicBezTo>
                    <a:pt x="31736" y="1524000"/>
                    <a:pt x="0" y="1492264"/>
                    <a:pt x="0" y="1453116"/>
                  </a:cubicBezTo>
                  <a:lnTo>
                    <a:pt x="0" y="70884"/>
                  </a:lnTo>
                  <a:cubicBezTo>
                    <a:pt x="0" y="31736"/>
                    <a:pt x="31736" y="0"/>
                    <a:pt x="70884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9525"/>
              <a:ext cx="2730500" cy="1514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32"/>
                </a:lnSpc>
              </a:pPr>
              <a:r>
                <a:rPr lang="en-US" sz="1575" b="true">
                  <a:solidFill>
                    <a:srgbClr val="10182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Project idea / challenge</a:t>
              </a:r>
            </a:p>
          </p:txBody>
        </p:sp>
      </p:grpSp>
      <p:sp>
        <p:nvSpPr>
          <p:cNvPr name="AutoShape 12" id="12"/>
          <p:cNvSpPr/>
          <p:nvPr/>
        </p:nvSpPr>
        <p:spPr>
          <a:xfrm>
            <a:off x="5334000" y="4429125"/>
            <a:ext cx="333375" cy="0"/>
          </a:xfrm>
          <a:prstGeom prst="line">
            <a:avLst/>
          </a:prstGeom>
          <a:ln cap="rnd" w="38100">
            <a:solidFill>
              <a:srgbClr val="D9E1EC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3" id="13"/>
          <p:cNvGrpSpPr/>
          <p:nvPr/>
        </p:nvGrpSpPr>
        <p:grpSpPr>
          <a:xfrm rot="0">
            <a:off x="5762625" y="3857625"/>
            <a:ext cx="2047875" cy="1143000"/>
            <a:chOff x="0" y="0"/>
            <a:chExt cx="2730500" cy="1524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7305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2730500">
                  <a:moveTo>
                    <a:pt x="70884" y="0"/>
                  </a:moveTo>
                  <a:lnTo>
                    <a:pt x="2659616" y="0"/>
                  </a:lnTo>
                  <a:cubicBezTo>
                    <a:pt x="2698764" y="0"/>
                    <a:pt x="2730500" y="31736"/>
                    <a:pt x="2730500" y="70884"/>
                  </a:cubicBezTo>
                  <a:lnTo>
                    <a:pt x="2730500" y="1453116"/>
                  </a:lnTo>
                  <a:cubicBezTo>
                    <a:pt x="2730500" y="1492264"/>
                    <a:pt x="2698764" y="1524000"/>
                    <a:pt x="2659616" y="1524000"/>
                  </a:cubicBezTo>
                  <a:lnTo>
                    <a:pt x="70884" y="1524000"/>
                  </a:lnTo>
                  <a:cubicBezTo>
                    <a:pt x="31736" y="1524000"/>
                    <a:pt x="0" y="1492264"/>
                    <a:pt x="0" y="1453116"/>
                  </a:cubicBezTo>
                  <a:lnTo>
                    <a:pt x="0" y="70884"/>
                  </a:lnTo>
                  <a:cubicBezTo>
                    <a:pt x="0" y="31736"/>
                    <a:pt x="31736" y="0"/>
                    <a:pt x="70884" y="0"/>
                  </a:cubicBezTo>
                  <a:close/>
                </a:path>
              </a:pathLst>
            </a:custGeom>
            <a:solidFill>
              <a:srgbClr val="2F7DF6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9525"/>
              <a:ext cx="2730500" cy="1514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32"/>
                </a:lnSpc>
              </a:pPr>
              <a:r>
                <a:rPr lang="en-US" sz="157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ProjectsForge</a:t>
              </a:r>
            </a:p>
          </p:txBody>
        </p:sp>
      </p:grpSp>
      <p:sp>
        <p:nvSpPr>
          <p:cNvPr name="AutoShape 16" id="16"/>
          <p:cNvSpPr/>
          <p:nvPr/>
        </p:nvSpPr>
        <p:spPr>
          <a:xfrm>
            <a:off x="7810500" y="4429125"/>
            <a:ext cx="333375" cy="0"/>
          </a:xfrm>
          <a:prstGeom prst="line">
            <a:avLst/>
          </a:prstGeom>
          <a:ln cap="rnd" w="38100">
            <a:solidFill>
              <a:srgbClr val="D9E1EC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7" id="17"/>
          <p:cNvGrpSpPr/>
          <p:nvPr/>
        </p:nvGrpSpPr>
        <p:grpSpPr>
          <a:xfrm rot="0">
            <a:off x="8239125" y="3857625"/>
            <a:ext cx="2047875" cy="1143000"/>
            <a:chOff x="0" y="0"/>
            <a:chExt cx="2730500" cy="1524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7305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2730500">
                  <a:moveTo>
                    <a:pt x="70884" y="0"/>
                  </a:moveTo>
                  <a:lnTo>
                    <a:pt x="2659616" y="0"/>
                  </a:lnTo>
                  <a:cubicBezTo>
                    <a:pt x="2698764" y="0"/>
                    <a:pt x="2730500" y="31736"/>
                    <a:pt x="2730500" y="70884"/>
                  </a:cubicBezTo>
                  <a:lnTo>
                    <a:pt x="2730500" y="1453116"/>
                  </a:lnTo>
                  <a:cubicBezTo>
                    <a:pt x="2730500" y="1492264"/>
                    <a:pt x="2698764" y="1524000"/>
                    <a:pt x="2659616" y="1524000"/>
                  </a:cubicBezTo>
                  <a:lnTo>
                    <a:pt x="70884" y="1524000"/>
                  </a:lnTo>
                  <a:cubicBezTo>
                    <a:pt x="31736" y="1524000"/>
                    <a:pt x="0" y="1492264"/>
                    <a:pt x="0" y="1453116"/>
                  </a:cubicBezTo>
                  <a:lnTo>
                    <a:pt x="0" y="70884"/>
                  </a:lnTo>
                  <a:cubicBezTo>
                    <a:pt x="0" y="31736"/>
                    <a:pt x="31736" y="0"/>
                    <a:pt x="70884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9525"/>
              <a:ext cx="2730500" cy="1514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32"/>
                </a:lnSpc>
              </a:pPr>
              <a:r>
                <a:rPr lang="en-US" sz="1575" b="true">
                  <a:solidFill>
                    <a:srgbClr val="10182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Suitable students</a:t>
              </a:r>
            </a:p>
          </p:txBody>
        </p:sp>
      </p:grpSp>
      <p:sp>
        <p:nvSpPr>
          <p:cNvPr name="AutoShape 20" id="20"/>
          <p:cNvSpPr/>
          <p:nvPr/>
        </p:nvSpPr>
        <p:spPr>
          <a:xfrm>
            <a:off x="10287000" y="4429125"/>
            <a:ext cx="333375" cy="0"/>
          </a:xfrm>
          <a:prstGeom prst="line">
            <a:avLst/>
          </a:prstGeom>
          <a:ln cap="rnd" w="38100">
            <a:solidFill>
              <a:srgbClr val="D9E1EC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1" id="21"/>
          <p:cNvGrpSpPr/>
          <p:nvPr/>
        </p:nvGrpSpPr>
        <p:grpSpPr>
          <a:xfrm rot="0">
            <a:off x="10715625" y="3857625"/>
            <a:ext cx="2047875" cy="1143000"/>
            <a:chOff x="0" y="0"/>
            <a:chExt cx="2730500" cy="1524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7305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2730500">
                  <a:moveTo>
                    <a:pt x="70884" y="0"/>
                  </a:moveTo>
                  <a:lnTo>
                    <a:pt x="2659616" y="0"/>
                  </a:lnTo>
                  <a:cubicBezTo>
                    <a:pt x="2698764" y="0"/>
                    <a:pt x="2730500" y="31736"/>
                    <a:pt x="2730500" y="70884"/>
                  </a:cubicBezTo>
                  <a:lnTo>
                    <a:pt x="2730500" y="1453116"/>
                  </a:lnTo>
                  <a:cubicBezTo>
                    <a:pt x="2730500" y="1492264"/>
                    <a:pt x="2698764" y="1524000"/>
                    <a:pt x="2659616" y="1524000"/>
                  </a:cubicBezTo>
                  <a:lnTo>
                    <a:pt x="70884" y="1524000"/>
                  </a:lnTo>
                  <a:cubicBezTo>
                    <a:pt x="31736" y="1524000"/>
                    <a:pt x="0" y="1492264"/>
                    <a:pt x="0" y="1453116"/>
                  </a:cubicBezTo>
                  <a:lnTo>
                    <a:pt x="0" y="70884"/>
                  </a:lnTo>
                  <a:cubicBezTo>
                    <a:pt x="0" y="31736"/>
                    <a:pt x="31736" y="0"/>
                    <a:pt x="70884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9525"/>
              <a:ext cx="2730500" cy="1514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32"/>
                </a:lnSpc>
              </a:pPr>
              <a:r>
                <a:rPr lang="en-US" sz="1575" b="true">
                  <a:solidFill>
                    <a:srgbClr val="10182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Build</a:t>
              </a:r>
            </a:p>
          </p:txBody>
        </p:sp>
      </p:grpSp>
      <p:sp>
        <p:nvSpPr>
          <p:cNvPr name="AutoShape 24" id="24"/>
          <p:cNvSpPr/>
          <p:nvPr/>
        </p:nvSpPr>
        <p:spPr>
          <a:xfrm>
            <a:off x="12763500" y="4429125"/>
            <a:ext cx="333375" cy="0"/>
          </a:xfrm>
          <a:prstGeom prst="line">
            <a:avLst/>
          </a:prstGeom>
          <a:ln cap="rnd" w="38100">
            <a:solidFill>
              <a:srgbClr val="D9E1EC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5" id="25"/>
          <p:cNvGrpSpPr/>
          <p:nvPr/>
        </p:nvGrpSpPr>
        <p:grpSpPr>
          <a:xfrm rot="0">
            <a:off x="13192125" y="3857625"/>
            <a:ext cx="2047875" cy="1143000"/>
            <a:chOff x="0" y="0"/>
            <a:chExt cx="2730500" cy="15240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7305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2730500">
                  <a:moveTo>
                    <a:pt x="70884" y="0"/>
                  </a:moveTo>
                  <a:lnTo>
                    <a:pt x="2659616" y="0"/>
                  </a:lnTo>
                  <a:cubicBezTo>
                    <a:pt x="2698764" y="0"/>
                    <a:pt x="2730500" y="31736"/>
                    <a:pt x="2730500" y="70884"/>
                  </a:cubicBezTo>
                  <a:lnTo>
                    <a:pt x="2730500" y="1453116"/>
                  </a:lnTo>
                  <a:cubicBezTo>
                    <a:pt x="2730500" y="1492264"/>
                    <a:pt x="2698764" y="1524000"/>
                    <a:pt x="2659616" y="1524000"/>
                  </a:cubicBezTo>
                  <a:lnTo>
                    <a:pt x="70884" y="1524000"/>
                  </a:lnTo>
                  <a:cubicBezTo>
                    <a:pt x="31736" y="1524000"/>
                    <a:pt x="0" y="1492264"/>
                    <a:pt x="0" y="1453116"/>
                  </a:cubicBezTo>
                  <a:lnTo>
                    <a:pt x="0" y="70884"/>
                  </a:lnTo>
                  <a:cubicBezTo>
                    <a:pt x="0" y="31736"/>
                    <a:pt x="31736" y="0"/>
                    <a:pt x="70884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9525"/>
              <a:ext cx="2730500" cy="1514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32"/>
                </a:lnSpc>
              </a:pPr>
              <a:r>
                <a:rPr lang="en-US" sz="1575" b="true">
                  <a:solidFill>
                    <a:srgbClr val="10182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Feedback</a:t>
              </a:r>
            </a:p>
          </p:txBody>
        </p:sp>
      </p:grpSp>
      <p:sp>
        <p:nvSpPr>
          <p:cNvPr name="AutoShape 28" id="28"/>
          <p:cNvSpPr/>
          <p:nvPr/>
        </p:nvSpPr>
        <p:spPr>
          <a:xfrm>
            <a:off x="15240000" y="4429125"/>
            <a:ext cx="333375" cy="0"/>
          </a:xfrm>
          <a:prstGeom prst="line">
            <a:avLst/>
          </a:prstGeom>
          <a:ln cap="rnd" w="38100">
            <a:solidFill>
              <a:srgbClr val="D9E1EC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9" id="29"/>
          <p:cNvGrpSpPr/>
          <p:nvPr/>
        </p:nvGrpSpPr>
        <p:grpSpPr>
          <a:xfrm rot="0">
            <a:off x="15668625" y="3857625"/>
            <a:ext cx="2047875" cy="1143000"/>
            <a:chOff x="0" y="0"/>
            <a:chExt cx="2730500" cy="1524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7305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2730500">
                  <a:moveTo>
                    <a:pt x="70884" y="0"/>
                  </a:moveTo>
                  <a:lnTo>
                    <a:pt x="2659616" y="0"/>
                  </a:lnTo>
                  <a:cubicBezTo>
                    <a:pt x="2698764" y="0"/>
                    <a:pt x="2730500" y="31736"/>
                    <a:pt x="2730500" y="70884"/>
                  </a:cubicBezTo>
                  <a:lnTo>
                    <a:pt x="2730500" y="1453116"/>
                  </a:lnTo>
                  <a:cubicBezTo>
                    <a:pt x="2730500" y="1492264"/>
                    <a:pt x="2698764" y="1524000"/>
                    <a:pt x="2659616" y="1524000"/>
                  </a:cubicBezTo>
                  <a:lnTo>
                    <a:pt x="70884" y="1524000"/>
                  </a:lnTo>
                  <a:cubicBezTo>
                    <a:pt x="31736" y="1524000"/>
                    <a:pt x="0" y="1492264"/>
                    <a:pt x="0" y="1453116"/>
                  </a:cubicBezTo>
                  <a:lnTo>
                    <a:pt x="0" y="70884"/>
                  </a:lnTo>
                  <a:cubicBezTo>
                    <a:pt x="0" y="31736"/>
                    <a:pt x="31736" y="0"/>
                    <a:pt x="70884" y="0"/>
                  </a:cubicBezTo>
                  <a:close/>
                </a:path>
              </a:pathLst>
            </a:custGeom>
            <a:solidFill>
              <a:srgbClr val="101828"/>
            </a:solidFill>
            <a:ln cap="sq">
              <a:noFill/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9525"/>
              <a:ext cx="2730500" cy="1514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32"/>
                </a:lnSpc>
              </a:pPr>
              <a:r>
                <a:rPr lang="en-US" sz="157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Verified evidence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2762250" y="6448425"/>
            <a:ext cx="428625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b="true" sz="1500" spc="120">
                <a:solidFill>
                  <a:srgbClr val="2F7DF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ATTRIBUTION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476500" y="6972300"/>
            <a:ext cx="4857750" cy="275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7"/>
              </a:lnSpc>
            </a:pPr>
            <a:r>
              <a:rPr lang="en-US" sz="1950" b="true">
                <a:solidFill>
                  <a:srgbClr val="10182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Contributor identity stays visible.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763250" y="6448425"/>
            <a:ext cx="428625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b="true" sz="1500" spc="120">
                <a:solidFill>
                  <a:srgbClr val="2F7DF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PERMISSIONS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382250" y="6972300"/>
            <a:ext cx="5048250" cy="275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7"/>
              </a:lnSpc>
            </a:pPr>
            <a:r>
              <a:rPr lang="en-US" sz="1950" b="true">
                <a:solidFill>
                  <a:srgbClr val="10182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Publish, edit and review controls.</a:t>
            </a:r>
          </a:p>
        </p:txBody>
      </p:sp>
      <p:sp>
        <p:nvSpPr>
          <p:cNvPr name="AutoShape 36" id="36"/>
          <p:cNvSpPr/>
          <p:nvPr/>
        </p:nvSpPr>
        <p:spPr>
          <a:xfrm>
            <a:off x="857250" y="9601200"/>
            <a:ext cx="16573500" cy="0"/>
          </a:xfrm>
          <a:prstGeom prst="line">
            <a:avLst/>
          </a:prstGeom>
          <a:ln cap="flat" w="9525">
            <a:solidFill>
              <a:srgbClr val="D9E1E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7" id="37"/>
          <p:cNvSpPr txBox="true"/>
          <p:nvPr/>
        </p:nvSpPr>
        <p:spPr>
          <a:xfrm rot="0">
            <a:off x="857250" y="9782175"/>
            <a:ext cx="2857500" cy="184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0"/>
              </a:lnSpc>
            </a:pPr>
            <a:r>
              <a:rPr lang="en-US" sz="1200">
                <a:solidFill>
                  <a:srgbClr val="667085"/>
                </a:solidFill>
                <a:latin typeface="Open Sans"/>
                <a:ea typeface="Open Sans"/>
                <a:cs typeface="Open Sans"/>
                <a:sym typeface="Open Sans"/>
              </a:rPr>
              <a:t>PROJECTSFORGE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6764000" y="9782175"/>
            <a:ext cx="666750" cy="184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60"/>
              </a:lnSpc>
            </a:pPr>
            <a:r>
              <a:rPr lang="en-US" sz="1200">
                <a:solidFill>
                  <a:srgbClr val="667085"/>
                </a:solidFill>
                <a:latin typeface="Open Sans"/>
                <a:ea typeface="Open Sans"/>
                <a:cs typeface="Open Sans"/>
                <a:sym typeface="Open San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7250" y="571500"/>
            <a:ext cx="14287500" cy="1111568"/>
            <a:chOff x="0" y="0"/>
            <a:chExt cx="19050000" cy="148209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28575"/>
              <a:ext cx="8255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08" b="true">
                  <a:solidFill>
                    <a:srgbClr val="2F7DF6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15  /  PROJECTSFORGE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676275"/>
              <a:ext cx="19050000" cy="8058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67"/>
                </a:lnSpc>
              </a:pPr>
              <a:r>
                <a:rPr lang="en-US" sz="4350" b="true">
                  <a:solidFill>
                    <a:srgbClr val="101828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Evidence-based project verification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001000" y="2286000"/>
            <a:ext cx="2286000" cy="1047750"/>
            <a:chOff x="0" y="0"/>
            <a:chExt cx="3048000" cy="1397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048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3048000">
                  <a:moveTo>
                    <a:pt x="63500" y="0"/>
                  </a:moveTo>
                  <a:lnTo>
                    <a:pt x="2984500" y="0"/>
                  </a:lnTo>
                  <a:cubicBezTo>
                    <a:pt x="3019570" y="0"/>
                    <a:pt x="3048000" y="28430"/>
                    <a:pt x="3048000" y="63500"/>
                  </a:cubicBezTo>
                  <a:lnTo>
                    <a:pt x="3048000" y="1333500"/>
                  </a:lnTo>
                  <a:cubicBezTo>
                    <a:pt x="3048000" y="1368570"/>
                    <a:pt x="3019570" y="1397000"/>
                    <a:pt x="2984500" y="1397000"/>
                  </a:cubicBezTo>
                  <a:lnTo>
                    <a:pt x="63500" y="1397000"/>
                  </a:lnTo>
                  <a:cubicBezTo>
                    <a:pt x="28430" y="1397000"/>
                    <a:pt x="0" y="1368570"/>
                    <a:pt x="0" y="13335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EAF2FF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19050"/>
              <a:ext cx="3048000" cy="1377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67"/>
                </a:lnSpc>
              </a:pPr>
              <a:r>
                <a:rPr lang="en-US" sz="1425" b="true">
                  <a:solidFill>
                    <a:srgbClr val="10182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GitHub / code evidence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245759" y="3308084"/>
            <a:ext cx="2286000" cy="1047750"/>
            <a:chOff x="0" y="0"/>
            <a:chExt cx="3048000" cy="1397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048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3048000">
                  <a:moveTo>
                    <a:pt x="63500" y="0"/>
                  </a:moveTo>
                  <a:lnTo>
                    <a:pt x="2984500" y="0"/>
                  </a:lnTo>
                  <a:cubicBezTo>
                    <a:pt x="3019570" y="0"/>
                    <a:pt x="3048000" y="28430"/>
                    <a:pt x="3048000" y="63500"/>
                  </a:cubicBezTo>
                  <a:lnTo>
                    <a:pt x="3048000" y="1333500"/>
                  </a:lnTo>
                  <a:cubicBezTo>
                    <a:pt x="3048000" y="1368570"/>
                    <a:pt x="3019570" y="1397000"/>
                    <a:pt x="2984500" y="1397000"/>
                  </a:cubicBezTo>
                  <a:lnTo>
                    <a:pt x="63500" y="1397000"/>
                  </a:lnTo>
                  <a:cubicBezTo>
                    <a:pt x="28430" y="1397000"/>
                    <a:pt x="0" y="1368570"/>
                    <a:pt x="0" y="13335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19050"/>
              <a:ext cx="3048000" cy="1377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67"/>
                </a:lnSpc>
              </a:pPr>
              <a:r>
                <a:rPr lang="en-US" sz="1425" b="true">
                  <a:solidFill>
                    <a:srgbClr val="10182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Demo video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294127" y="5604686"/>
            <a:ext cx="2286000" cy="1047750"/>
            <a:chOff x="0" y="0"/>
            <a:chExt cx="3048000" cy="1397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048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3048000">
                  <a:moveTo>
                    <a:pt x="63500" y="0"/>
                  </a:moveTo>
                  <a:lnTo>
                    <a:pt x="2984500" y="0"/>
                  </a:lnTo>
                  <a:cubicBezTo>
                    <a:pt x="3019570" y="0"/>
                    <a:pt x="3048000" y="28430"/>
                    <a:pt x="3048000" y="63500"/>
                  </a:cubicBezTo>
                  <a:lnTo>
                    <a:pt x="3048000" y="1333500"/>
                  </a:lnTo>
                  <a:cubicBezTo>
                    <a:pt x="3048000" y="1368570"/>
                    <a:pt x="3019570" y="1397000"/>
                    <a:pt x="2984500" y="1397000"/>
                  </a:cubicBezTo>
                  <a:lnTo>
                    <a:pt x="63500" y="1397000"/>
                  </a:lnTo>
                  <a:cubicBezTo>
                    <a:pt x="28430" y="1397000"/>
                    <a:pt x="0" y="1368570"/>
                    <a:pt x="0" y="13335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EAF2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19050"/>
              <a:ext cx="3048000" cy="1377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67"/>
                </a:lnSpc>
              </a:pPr>
              <a:r>
                <a:rPr lang="en-US" sz="1425" b="true">
                  <a:solidFill>
                    <a:srgbClr val="10182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Screenshots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356663" y="7446418"/>
            <a:ext cx="2286000" cy="1047750"/>
            <a:chOff x="0" y="0"/>
            <a:chExt cx="3048000" cy="1397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048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3048000">
                  <a:moveTo>
                    <a:pt x="63500" y="0"/>
                  </a:moveTo>
                  <a:lnTo>
                    <a:pt x="2984500" y="0"/>
                  </a:lnTo>
                  <a:cubicBezTo>
                    <a:pt x="3019570" y="0"/>
                    <a:pt x="3048000" y="28430"/>
                    <a:pt x="3048000" y="63500"/>
                  </a:cubicBezTo>
                  <a:lnTo>
                    <a:pt x="3048000" y="1333500"/>
                  </a:lnTo>
                  <a:cubicBezTo>
                    <a:pt x="3048000" y="1368570"/>
                    <a:pt x="3019570" y="1397000"/>
                    <a:pt x="2984500" y="1397000"/>
                  </a:cubicBezTo>
                  <a:lnTo>
                    <a:pt x="63500" y="1397000"/>
                  </a:lnTo>
                  <a:cubicBezTo>
                    <a:pt x="28430" y="1397000"/>
                    <a:pt x="0" y="1368570"/>
                    <a:pt x="0" y="13335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19050"/>
              <a:ext cx="3048000" cy="1377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67"/>
                </a:lnSpc>
              </a:pPr>
              <a:r>
                <a:rPr lang="en-US" sz="1425" b="true">
                  <a:solidFill>
                    <a:srgbClr val="10182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Architecture explanation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645337" y="7446418"/>
            <a:ext cx="2286000" cy="1047750"/>
            <a:chOff x="0" y="0"/>
            <a:chExt cx="3048000" cy="1397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048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3048000">
                  <a:moveTo>
                    <a:pt x="63500" y="0"/>
                  </a:moveTo>
                  <a:lnTo>
                    <a:pt x="2984500" y="0"/>
                  </a:lnTo>
                  <a:cubicBezTo>
                    <a:pt x="3019570" y="0"/>
                    <a:pt x="3048000" y="28430"/>
                    <a:pt x="3048000" y="63500"/>
                  </a:cubicBezTo>
                  <a:lnTo>
                    <a:pt x="3048000" y="1333500"/>
                  </a:lnTo>
                  <a:cubicBezTo>
                    <a:pt x="3048000" y="1368570"/>
                    <a:pt x="3019570" y="1397000"/>
                    <a:pt x="2984500" y="1397000"/>
                  </a:cubicBezTo>
                  <a:lnTo>
                    <a:pt x="63500" y="1397000"/>
                  </a:lnTo>
                  <a:cubicBezTo>
                    <a:pt x="28430" y="1397000"/>
                    <a:pt x="0" y="1368570"/>
                    <a:pt x="0" y="13335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EAF2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19050"/>
              <a:ext cx="3048000" cy="1377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67"/>
                </a:lnSpc>
              </a:pPr>
              <a:r>
                <a:rPr lang="en-US" sz="1425" b="true">
                  <a:solidFill>
                    <a:srgbClr val="10182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Student contribution statement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707873" y="5604686"/>
            <a:ext cx="2286000" cy="1047750"/>
            <a:chOff x="0" y="0"/>
            <a:chExt cx="3048000" cy="1397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048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3048000">
                  <a:moveTo>
                    <a:pt x="63500" y="0"/>
                  </a:moveTo>
                  <a:lnTo>
                    <a:pt x="2984500" y="0"/>
                  </a:lnTo>
                  <a:cubicBezTo>
                    <a:pt x="3019570" y="0"/>
                    <a:pt x="3048000" y="28430"/>
                    <a:pt x="3048000" y="63500"/>
                  </a:cubicBezTo>
                  <a:lnTo>
                    <a:pt x="3048000" y="1333500"/>
                  </a:lnTo>
                  <a:cubicBezTo>
                    <a:pt x="3048000" y="1368570"/>
                    <a:pt x="3019570" y="1397000"/>
                    <a:pt x="2984500" y="1397000"/>
                  </a:cubicBezTo>
                  <a:lnTo>
                    <a:pt x="63500" y="1397000"/>
                  </a:lnTo>
                  <a:cubicBezTo>
                    <a:pt x="28430" y="1397000"/>
                    <a:pt x="0" y="1368570"/>
                    <a:pt x="0" y="13335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19050"/>
              <a:ext cx="3048000" cy="1377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67"/>
                </a:lnSpc>
              </a:pPr>
              <a:r>
                <a:rPr lang="en-US" sz="1425" b="true">
                  <a:solidFill>
                    <a:srgbClr val="10182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Documentation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3756241" y="3308084"/>
            <a:ext cx="2286000" cy="1047750"/>
            <a:chOff x="0" y="0"/>
            <a:chExt cx="3048000" cy="1397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048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3048000">
                  <a:moveTo>
                    <a:pt x="63500" y="0"/>
                  </a:moveTo>
                  <a:lnTo>
                    <a:pt x="2984500" y="0"/>
                  </a:lnTo>
                  <a:cubicBezTo>
                    <a:pt x="3019570" y="0"/>
                    <a:pt x="3048000" y="28430"/>
                    <a:pt x="3048000" y="63500"/>
                  </a:cubicBezTo>
                  <a:lnTo>
                    <a:pt x="3048000" y="1333500"/>
                  </a:lnTo>
                  <a:cubicBezTo>
                    <a:pt x="3048000" y="1368570"/>
                    <a:pt x="3019570" y="1397000"/>
                    <a:pt x="2984500" y="1397000"/>
                  </a:cubicBezTo>
                  <a:lnTo>
                    <a:pt x="63500" y="1397000"/>
                  </a:lnTo>
                  <a:cubicBezTo>
                    <a:pt x="28430" y="1397000"/>
                    <a:pt x="0" y="1368570"/>
                    <a:pt x="0" y="13335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EAF2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19050"/>
              <a:ext cx="3048000" cy="1377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67"/>
                </a:lnSpc>
              </a:pPr>
              <a:r>
                <a:rPr lang="en-US" sz="1425" b="true">
                  <a:solidFill>
                    <a:srgbClr val="10182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Mentor / peer feedback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524750" y="3905250"/>
            <a:ext cx="3238500" cy="3238500"/>
            <a:chOff x="0" y="0"/>
            <a:chExt cx="4318000" cy="4318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318000" cy="4318000"/>
            </a:xfrm>
            <a:custGeom>
              <a:avLst/>
              <a:gdLst/>
              <a:ahLst/>
              <a:cxnLst/>
              <a:rect r="r" b="b" t="t" l="l"/>
              <a:pathLst>
                <a:path h="4318000" w="4318000">
                  <a:moveTo>
                    <a:pt x="2159000" y="0"/>
                  </a:moveTo>
                  <a:cubicBezTo>
                    <a:pt x="3351383" y="0"/>
                    <a:pt x="4318000" y="966617"/>
                    <a:pt x="4318000" y="2159000"/>
                  </a:cubicBezTo>
                  <a:cubicBezTo>
                    <a:pt x="4318000" y="3351383"/>
                    <a:pt x="3351383" y="4318000"/>
                    <a:pt x="2159000" y="4318000"/>
                  </a:cubicBezTo>
                  <a:cubicBezTo>
                    <a:pt x="966617" y="4318000"/>
                    <a:pt x="0" y="3351383"/>
                    <a:pt x="0" y="2159000"/>
                  </a:cubicBezTo>
                  <a:cubicBezTo>
                    <a:pt x="0" y="966617"/>
                    <a:pt x="966617" y="0"/>
                    <a:pt x="2159000" y="0"/>
                  </a:cubicBezTo>
                  <a:close/>
                </a:path>
              </a:pathLst>
            </a:custGeom>
            <a:solidFill>
              <a:srgbClr val="2F7DF6"/>
            </a:solidFill>
            <a:ln cap="sq">
              <a:noFill/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4318000" cy="4365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69"/>
                </a:lnSpc>
              </a:pPr>
              <a:r>
                <a:rPr lang="en-US" sz="255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VERIFIED</a:t>
              </a:r>
            </a:p>
            <a:p>
              <a:pPr algn="ctr">
                <a:lnSpc>
                  <a:spcPts val="3569"/>
                </a:lnSpc>
              </a:pPr>
              <a:r>
                <a:rPr lang="en-US" sz="255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EVIDENCE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4572000" y="8562975"/>
            <a:ext cx="9144000" cy="263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2"/>
              </a:lnSpc>
            </a:pPr>
            <a:r>
              <a:rPr lang="en-US" sz="1725">
                <a:solidFill>
                  <a:srgbClr val="667085"/>
                </a:solidFill>
                <a:latin typeface="Open Sans"/>
                <a:ea typeface="Open Sans"/>
                <a:cs typeface="Open Sans"/>
                <a:sym typeface="Open Sans"/>
              </a:rPr>
              <a:t>Verification means documented evidence — not absolute proof of originality.</a:t>
            </a:r>
          </a:p>
        </p:txBody>
      </p:sp>
      <p:sp>
        <p:nvSpPr>
          <p:cNvPr name="AutoShape 30" id="30"/>
          <p:cNvSpPr/>
          <p:nvPr/>
        </p:nvSpPr>
        <p:spPr>
          <a:xfrm>
            <a:off x="857250" y="9601200"/>
            <a:ext cx="16573500" cy="0"/>
          </a:xfrm>
          <a:prstGeom prst="line">
            <a:avLst/>
          </a:prstGeom>
          <a:ln cap="flat" w="9525">
            <a:solidFill>
              <a:srgbClr val="D9E1E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1" id="31"/>
          <p:cNvSpPr txBox="true"/>
          <p:nvPr/>
        </p:nvSpPr>
        <p:spPr>
          <a:xfrm rot="0">
            <a:off x="857250" y="9782175"/>
            <a:ext cx="2857500" cy="184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0"/>
              </a:lnSpc>
            </a:pPr>
            <a:r>
              <a:rPr lang="en-US" sz="1200">
                <a:solidFill>
                  <a:srgbClr val="667085"/>
                </a:solidFill>
                <a:latin typeface="Open Sans"/>
                <a:ea typeface="Open Sans"/>
                <a:cs typeface="Open Sans"/>
                <a:sym typeface="Open Sans"/>
              </a:rPr>
              <a:t>PROJECTSFORGE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6764000" y="9782175"/>
            <a:ext cx="666750" cy="184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60"/>
              </a:lnSpc>
            </a:pPr>
            <a:r>
              <a:rPr lang="en-US" sz="1200">
                <a:solidFill>
                  <a:srgbClr val="667085"/>
                </a:solidFill>
                <a:latin typeface="Open Sans"/>
                <a:ea typeface="Open Sans"/>
                <a:cs typeface="Open Sans"/>
                <a:sym typeface="Open San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7250" y="571500"/>
            <a:ext cx="14287500" cy="1111568"/>
            <a:chOff x="0" y="0"/>
            <a:chExt cx="19050000" cy="148209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28575"/>
              <a:ext cx="8255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08" b="true">
                  <a:solidFill>
                    <a:srgbClr val="75AA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16  /  PROJECTSFORGE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676275"/>
              <a:ext cx="19050000" cy="8058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67"/>
                </a:lnSpc>
              </a:pPr>
              <a:r>
                <a:rPr lang="en-US" sz="435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Turn a project into career evidence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62000" y="4095750"/>
            <a:ext cx="1762125" cy="1095375"/>
            <a:chOff x="0" y="0"/>
            <a:chExt cx="2349500" cy="14605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49500" cy="1460500"/>
            </a:xfrm>
            <a:custGeom>
              <a:avLst/>
              <a:gdLst/>
              <a:ahLst/>
              <a:cxnLst/>
              <a:rect r="r" b="b" t="t" l="l"/>
              <a:pathLst>
                <a:path h="1460500" w="2349500">
                  <a:moveTo>
                    <a:pt x="82378" y="0"/>
                  </a:moveTo>
                  <a:lnTo>
                    <a:pt x="2267122" y="0"/>
                  </a:lnTo>
                  <a:cubicBezTo>
                    <a:pt x="2312618" y="0"/>
                    <a:pt x="2349500" y="36882"/>
                    <a:pt x="2349500" y="82378"/>
                  </a:cubicBezTo>
                  <a:lnTo>
                    <a:pt x="2349500" y="1378122"/>
                  </a:lnTo>
                  <a:cubicBezTo>
                    <a:pt x="2349500" y="1423618"/>
                    <a:pt x="2312618" y="1460500"/>
                    <a:pt x="2267122" y="1460500"/>
                  </a:cubicBezTo>
                  <a:lnTo>
                    <a:pt x="82378" y="1460500"/>
                  </a:lnTo>
                  <a:cubicBezTo>
                    <a:pt x="36882" y="1460500"/>
                    <a:pt x="0" y="1423618"/>
                    <a:pt x="0" y="1378122"/>
                  </a:cubicBezTo>
                  <a:lnTo>
                    <a:pt x="0" y="82378"/>
                  </a:lnTo>
                  <a:cubicBezTo>
                    <a:pt x="0" y="36882"/>
                    <a:pt x="36882" y="0"/>
                    <a:pt x="82378" y="0"/>
                  </a:cubicBezTo>
                  <a:close/>
                </a:path>
              </a:pathLst>
            </a:custGeom>
            <a:solidFill>
              <a:srgbClr val="2F7DF6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19050"/>
              <a:ext cx="2349500" cy="1441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50"/>
                </a:lnSpc>
              </a:pPr>
              <a:r>
                <a:rPr lang="en-US" sz="150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Project</a:t>
              </a:r>
            </a:p>
          </p:txBody>
        </p:sp>
      </p:grpSp>
      <p:sp>
        <p:nvSpPr>
          <p:cNvPr name="AutoShape 8" id="8"/>
          <p:cNvSpPr/>
          <p:nvPr/>
        </p:nvSpPr>
        <p:spPr>
          <a:xfrm>
            <a:off x="2524125" y="4638675"/>
            <a:ext cx="285750" cy="0"/>
          </a:xfrm>
          <a:prstGeom prst="line">
            <a:avLst/>
          </a:prstGeom>
          <a:ln cap="rnd" w="38100">
            <a:solidFill>
              <a:srgbClr val="365A83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9" id="9"/>
          <p:cNvGrpSpPr/>
          <p:nvPr/>
        </p:nvGrpSpPr>
        <p:grpSpPr>
          <a:xfrm rot="0">
            <a:off x="2905125" y="4095750"/>
            <a:ext cx="1762125" cy="1095375"/>
            <a:chOff x="0" y="0"/>
            <a:chExt cx="2349500" cy="14605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349500" cy="1460500"/>
            </a:xfrm>
            <a:custGeom>
              <a:avLst/>
              <a:gdLst/>
              <a:ahLst/>
              <a:cxnLst/>
              <a:rect r="r" b="b" t="t" l="l"/>
              <a:pathLst>
                <a:path h="1460500" w="2349500">
                  <a:moveTo>
                    <a:pt x="82378" y="0"/>
                  </a:moveTo>
                  <a:lnTo>
                    <a:pt x="2267122" y="0"/>
                  </a:lnTo>
                  <a:cubicBezTo>
                    <a:pt x="2312618" y="0"/>
                    <a:pt x="2349500" y="36882"/>
                    <a:pt x="2349500" y="82378"/>
                  </a:cubicBezTo>
                  <a:lnTo>
                    <a:pt x="2349500" y="1378122"/>
                  </a:lnTo>
                  <a:cubicBezTo>
                    <a:pt x="2349500" y="1423618"/>
                    <a:pt x="2312618" y="1460500"/>
                    <a:pt x="2267122" y="1460500"/>
                  </a:cubicBezTo>
                  <a:lnTo>
                    <a:pt x="82378" y="1460500"/>
                  </a:lnTo>
                  <a:cubicBezTo>
                    <a:pt x="36882" y="1460500"/>
                    <a:pt x="0" y="1423618"/>
                    <a:pt x="0" y="1378122"/>
                  </a:cubicBezTo>
                  <a:lnTo>
                    <a:pt x="0" y="82378"/>
                  </a:lnTo>
                  <a:cubicBezTo>
                    <a:pt x="0" y="36882"/>
                    <a:pt x="36882" y="0"/>
                    <a:pt x="82378" y="0"/>
                  </a:cubicBezTo>
                  <a:close/>
                </a:path>
              </a:pathLst>
            </a:custGeom>
            <a:solidFill>
              <a:srgbClr val="13243A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19050"/>
              <a:ext cx="2349500" cy="1441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50"/>
                </a:lnSpc>
              </a:pPr>
              <a:r>
                <a:rPr lang="en-US" sz="150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GitHub</a:t>
              </a:r>
            </a:p>
          </p:txBody>
        </p:sp>
      </p:grpSp>
      <p:sp>
        <p:nvSpPr>
          <p:cNvPr name="AutoShape 12" id="12"/>
          <p:cNvSpPr/>
          <p:nvPr/>
        </p:nvSpPr>
        <p:spPr>
          <a:xfrm>
            <a:off x="4667250" y="4638675"/>
            <a:ext cx="285750" cy="0"/>
          </a:xfrm>
          <a:prstGeom prst="line">
            <a:avLst/>
          </a:prstGeom>
          <a:ln cap="rnd" w="38100">
            <a:solidFill>
              <a:srgbClr val="365A83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3" id="13"/>
          <p:cNvGrpSpPr/>
          <p:nvPr/>
        </p:nvGrpSpPr>
        <p:grpSpPr>
          <a:xfrm rot="0">
            <a:off x="5048250" y="4095750"/>
            <a:ext cx="1762125" cy="1095375"/>
            <a:chOff x="0" y="0"/>
            <a:chExt cx="2349500" cy="14605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349500" cy="1460500"/>
            </a:xfrm>
            <a:custGeom>
              <a:avLst/>
              <a:gdLst/>
              <a:ahLst/>
              <a:cxnLst/>
              <a:rect r="r" b="b" t="t" l="l"/>
              <a:pathLst>
                <a:path h="1460500" w="2349500">
                  <a:moveTo>
                    <a:pt x="82378" y="0"/>
                  </a:moveTo>
                  <a:lnTo>
                    <a:pt x="2267122" y="0"/>
                  </a:lnTo>
                  <a:cubicBezTo>
                    <a:pt x="2312618" y="0"/>
                    <a:pt x="2349500" y="36882"/>
                    <a:pt x="2349500" y="82378"/>
                  </a:cubicBezTo>
                  <a:lnTo>
                    <a:pt x="2349500" y="1378122"/>
                  </a:lnTo>
                  <a:cubicBezTo>
                    <a:pt x="2349500" y="1423618"/>
                    <a:pt x="2312618" y="1460500"/>
                    <a:pt x="2267122" y="1460500"/>
                  </a:cubicBezTo>
                  <a:lnTo>
                    <a:pt x="82378" y="1460500"/>
                  </a:lnTo>
                  <a:cubicBezTo>
                    <a:pt x="36882" y="1460500"/>
                    <a:pt x="0" y="1423618"/>
                    <a:pt x="0" y="1378122"/>
                  </a:cubicBezTo>
                  <a:lnTo>
                    <a:pt x="0" y="82378"/>
                  </a:lnTo>
                  <a:cubicBezTo>
                    <a:pt x="0" y="36882"/>
                    <a:pt x="36882" y="0"/>
                    <a:pt x="82378" y="0"/>
                  </a:cubicBezTo>
                  <a:close/>
                </a:path>
              </a:pathLst>
            </a:custGeom>
            <a:solidFill>
              <a:srgbClr val="13243A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19050"/>
              <a:ext cx="2349500" cy="1441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50"/>
                </a:lnSpc>
              </a:pPr>
              <a:r>
                <a:rPr lang="en-US" sz="150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Portfolio</a:t>
              </a:r>
            </a:p>
          </p:txBody>
        </p:sp>
      </p:grpSp>
      <p:sp>
        <p:nvSpPr>
          <p:cNvPr name="AutoShape 16" id="16"/>
          <p:cNvSpPr/>
          <p:nvPr/>
        </p:nvSpPr>
        <p:spPr>
          <a:xfrm>
            <a:off x="6810375" y="4638675"/>
            <a:ext cx="285750" cy="0"/>
          </a:xfrm>
          <a:prstGeom prst="line">
            <a:avLst/>
          </a:prstGeom>
          <a:ln cap="rnd" w="38100">
            <a:solidFill>
              <a:srgbClr val="365A83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7" id="17"/>
          <p:cNvGrpSpPr/>
          <p:nvPr/>
        </p:nvGrpSpPr>
        <p:grpSpPr>
          <a:xfrm rot="0">
            <a:off x="7191375" y="4095750"/>
            <a:ext cx="1762125" cy="1095375"/>
            <a:chOff x="0" y="0"/>
            <a:chExt cx="2349500" cy="14605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349500" cy="1460500"/>
            </a:xfrm>
            <a:custGeom>
              <a:avLst/>
              <a:gdLst/>
              <a:ahLst/>
              <a:cxnLst/>
              <a:rect r="r" b="b" t="t" l="l"/>
              <a:pathLst>
                <a:path h="1460500" w="2349500">
                  <a:moveTo>
                    <a:pt x="82378" y="0"/>
                  </a:moveTo>
                  <a:lnTo>
                    <a:pt x="2267122" y="0"/>
                  </a:lnTo>
                  <a:cubicBezTo>
                    <a:pt x="2312618" y="0"/>
                    <a:pt x="2349500" y="36882"/>
                    <a:pt x="2349500" y="82378"/>
                  </a:cubicBezTo>
                  <a:lnTo>
                    <a:pt x="2349500" y="1378122"/>
                  </a:lnTo>
                  <a:cubicBezTo>
                    <a:pt x="2349500" y="1423618"/>
                    <a:pt x="2312618" y="1460500"/>
                    <a:pt x="2267122" y="1460500"/>
                  </a:cubicBezTo>
                  <a:lnTo>
                    <a:pt x="82378" y="1460500"/>
                  </a:lnTo>
                  <a:cubicBezTo>
                    <a:pt x="36882" y="1460500"/>
                    <a:pt x="0" y="1423618"/>
                    <a:pt x="0" y="1378122"/>
                  </a:cubicBezTo>
                  <a:lnTo>
                    <a:pt x="0" y="82378"/>
                  </a:lnTo>
                  <a:cubicBezTo>
                    <a:pt x="0" y="36882"/>
                    <a:pt x="36882" y="0"/>
                    <a:pt x="82378" y="0"/>
                  </a:cubicBezTo>
                  <a:close/>
                </a:path>
              </a:pathLst>
            </a:custGeom>
            <a:solidFill>
              <a:srgbClr val="13243A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19050"/>
              <a:ext cx="2349500" cy="1441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50"/>
                </a:lnSpc>
              </a:pPr>
              <a:r>
                <a:rPr lang="en-US" sz="150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Resume</a:t>
              </a:r>
            </a:p>
          </p:txBody>
        </p:sp>
      </p:grpSp>
      <p:sp>
        <p:nvSpPr>
          <p:cNvPr name="AutoShape 20" id="20"/>
          <p:cNvSpPr/>
          <p:nvPr/>
        </p:nvSpPr>
        <p:spPr>
          <a:xfrm>
            <a:off x="8953500" y="4638675"/>
            <a:ext cx="285750" cy="0"/>
          </a:xfrm>
          <a:prstGeom prst="line">
            <a:avLst/>
          </a:prstGeom>
          <a:ln cap="rnd" w="38100">
            <a:solidFill>
              <a:srgbClr val="365A83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1" id="21"/>
          <p:cNvGrpSpPr/>
          <p:nvPr/>
        </p:nvGrpSpPr>
        <p:grpSpPr>
          <a:xfrm rot="0">
            <a:off x="9334500" y="4095750"/>
            <a:ext cx="1762125" cy="1095375"/>
            <a:chOff x="0" y="0"/>
            <a:chExt cx="2349500" cy="14605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349500" cy="1460500"/>
            </a:xfrm>
            <a:custGeom>
              <a:avLst/>
              <a:gdLst/>
              <a:ahLst/>
              <a:cxnLst/>
              <a:rect r="r" b="b" t="t" l="l"/>
              <a:pathLst>
                <a:path h="1460500" w="2349500">
                  <a:moveTo>
                    <a:pt x="82378" y="0"/>
                  </a:moveTo>
                  <a:lnTo>
                    <a:pt x="2267122" y="0"/>
                  </a:lnTo>
                  <a:cubicBezTo>
                    <a:pt x="2312618" y="0"/>
                    <a:pt x="2349500" y="36882"/>
                    <a:pt x="2349500" y="82378"/>
                  </a:cubicBezTo>
                  <a:lnTo>
                    <a:pt x="2349500" y="1378122"/>
                  </a:lnTo>
                  <a:cubicBezTo>
                    <a:pt x="2349500" y="1423618"/>
                    <a:pt x="2312618" y="1460500"/>
                    <a:pt x="2267122" y="1460500"/>
                  </a:cubicBezTo>
                  <a:lnTo>
                    <a:pt x="82378" y="1460500"/>
                  </a:lnTo>
                  <a:cubicBezTo>
                    <a:pt x="36882" y="1460500"/>
                    <a:pt x="0" y="1423618"/>
                    <a:pt x="0" y="1378122"/>
                  </a:cubicBezTo>
                  <a:lnTo>
                    <a:pt x="0" y="82378"/>
                  </a:lnTo>
                  <a:cubicBezTo>
                    <a:pt x="0" y="36882"/>
                    <a:pt x="36882" y="0"/>
                    <a:pt x="82378" y="0"/>
                  </a:cubicBezTo>
                  <a:close/>
                </a:path>
              </a:pathLst>
            </a:custGeom>
            <a:solidFill>
              <a:srgbClr val="13243A"/>
            </a:solidFill>
            <a:ln cap="sq">
              <a:noFill/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19050"/>
              <a:ext cx="2349500" cy="1441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50"/>
                </a:lnSpc>
              </a:pPr>
              <a:r>
                <a:rPr lang="en-US" sz="150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Presentation</a:t>
              </a:r>
            </a:p>
          </p:txBody>
        </p:sp>
      </p:grpSp>
      <p:sp>
        <p:nvSpPr>
          <p:cNvPr name="AutoShape 24" id="24"/>
          <p:cNvSpPr/>
          <p:nvPr/>
        </p:nvSpPr>
        <p:spPr>
          <a:xfrm>
            <a:off x="11096625" y="4638675"/>
            <a:ext cx="285750" cy="0"/>
          </a:xfrm>
          <a:prstGeom prst="line">
            <a:avLst/>
          </a:prstGeom>
          <a:ln cap="rnd" w="38100">
            <a:solidFill>
              <a:srgbClr val="365A83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5" id="25"/>
          <p:cNvGrpSpPr/>
          <p:nvPr/>
        </p:nvGrpSpPr>
        <p:grpSpPr>
          <a:xfrm rot="0">
            <a:off x="11477625" y="4095750"/>
            <a:ext cx="1762125" cy="1095375"/>
            <a:chOff x="0" y="0"/>
            <a:chExt cx="2349500" cy="14605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349500" cy="1460500"/>
            </a:xfrm>
            <a:custGeom>
              <a:avLst/>
              <a:gdLst/>
              <a:ahLst/>
              <a:cxnLst/>
              <a:rect r="r" b="b" t="t" l="l"/>
              <a:pathLst>
                <a:path h="1460500" w="2349500">
                  <a:moveTo>
                    <a:pt x="82378" y="0"/>
                  </a:moveTo>
                  <a:lnTo>
                    <a:pt x="2267122" y="0"/>
                  </a:lnTo>
                  <a:cubicBezTo>
                    <a:pt x="2312618" y="0"/>
                    <a:pt x="2349500" y="36882"/>
                    <a:pt x="2349500" y="82378"/>
                  </a:cubicBezTo>
                  <a:lnTo>
                    <a:pt x="2349500" y="1378122"/>
                  </a:lnTo>
                  <a:cubicBezTo>
                    <a:pt x="2349500" y="1423618"/>
                    <a:pt x="2312618" y="1460500"/>
                    <a:pt x="2267122" y="1460500"/>
                  </a:cubicBezTo>
                  <a:lnTo>
                    <a:pt x="82378" y="1460500"/>
                  </a:lnTo>
                  <a:cubicBezTo>
                    <a:pt x="36882" y="1460500"/>
                    <a:pt x="0" y="1423618"/>
                    <a:pt x="0" y="1378122"/>
                  </a:cubicBezTo>
                  <a:lnTo>
                    <a:pt x="0" y="82378"/>
                  </a:lnTo>
                  <a:cubicBezTo>
                    <a:pt x="0" y="36882"/>
                    <a:pt x="36882" y="0"/>
                    <a:pt x="82378" y="0"/>
                  </a:cubicBezTo>
                  <a:close/>
                </a:path>
              </a:pathLst>
            </a:custGeom>
            <a:solidFill>
              <a:srgbClr val="13243A"/>
            </a:solidFill>
            <a:ln cap="sq">
              <a:noFill/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19050"/>
              <a:ext cx="2349500" cy="1441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50"/>
                </a:lnSpc>
              </a:pPr>
              <a:r>
                <a:rPr lang="en-US" sz="150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Viva</a:t>
              </a:r>
            </a:p>
          </p:txBody>
        </p:sp>
      </p:grpSp>
      <p:sp>
        <p:nvSpPr>
          <p:cNvPr name="AutoShape 28" id="28"/>
          <p:cNvSpPr/>
          <p:nvPr/>
        </p:nvSpPr>
        <p:spPr>
          <a:xfrm>
            <a:off x="13239750" y="4638675"/>
            <a:ext cx="285750" cy="0"/>
          </a:xfrm>
          <a:prstGeom prst="line">
            <a:avLst/>
          </a:prstGeom>
          <a:ln cap="rnd" w="38100">
            <a:solidFill>
              <a:srgbClr val="365A83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9" id="29"/>
          <p:cNvGrpSpPr/>
          <p:nvPr/>
        </p:nvGrpSpPr>
        <p:grpSpPr>
          <a:xfrm rot="0">
            <a:off x="13620750" y="4095750"/>
            <a:ext cx="1762125" cy="1095375"/>
            <a:chOff x="0" y="0"/>
            <a:chExt cx="2349500" cy="14605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349500" cy="1460500"/>
            </a:xfrm>
            <a:custGeom>
              <a:avLst/>
              <a:gdLst/>
              <a:ahLst/>
              <a:cxnLst/>
              <a:rect r="r" b="b" t="t" l="l"/>
              <a:pathLst>
                <a:path h="1460500" w="2349500">
                  <a:moveTo>
                    <a:pt x="82378" y="0"/>
                  </a:moveTo>
                  <a:lnTo>
                    <a:pt x="2267122" y="0"/>
                  </a:lnTo>
                  <a:cubicBezTo>
                    <a:pt x="2312618" y="0"/>
                    <a:pt x="2349500" y="36882"/>
                    <a:pt x="2349500" y="82378"/>
                  </a:cubicBezTo>
                  <a:lnTo>
                    <a:pt x="2349500" y="1378122"/>
                  </a:lnTo>
                  <a:cubicBezTo>
                    <a:pt x="2349500" y="1423618"/>
                    <a:pt x="2312618" y="1460500"/>
                    <a:pt x="2267122" y="1460500"/>
                  </a:cubicBezTo>
                  <a:lnTo>
                    <a:pt x="82378" y="1460500"/>
                  </a:lnTo>
                  <a:cubicBezTo>
                    <a:pt x="36882" y="1460500"/>
                    <a:pt x="0" y="1423618"/>
                    <a:pt x="0" y="1378122"/>
                  </a:cubicBezTo>
                  <a:lnTo>
                    <a:pt x="0" y="82378"/>
                  </a:lnTo>
                  <a:cubicBezTo>
                    <a:pt x="0" y="36882"/>
                    <a:pt x="36882" y="0"/>
                    <a:pt x="82378" y="0"/>
                  </a:cubicBezTo>
                  <a:close/>
                </a:path>
              </a:pathLst>
            </a:custGeom>
            <a:solidFill>
              <a:srgbClr val="13243A"/>
            </a:solidFill>
            <a:ln cap="sq">
              <a:noFill/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19050"/>
              <a:ext cx="2349500" cy="1441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50"/>
                </a:lnSpc>
              </a:pPr>
              <a:r>
                <a:rPr lang="en-US" sz="150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Interview</a:t>
              </a:r>
            </a:p>
          </p:txBody>
        </p:sp>
      </p:grpSp>
      <p:sp>
        <p:nvSpPr>
          <p:cNvPr name="AutoShape 32" id="32"/>
          <p:cNvSpPr/>
          <p:nvPr/>
        </p:nvSpPr>
        <p:spPr>
          <a:xfrm>
            <a:off x="15382875" y="4638675"/>
            <a:ext cx="285750" cy="0"/>
          </a:xfrm>
          <a:prstGeom prst="line">
            <a:avLst/>
          </a:prstGeom>
          <a:ln cap="rnd" w="38100">
            <a:solidFill>
              <a:srgbClr val="365A83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33" id="33"/>
          <p:cNvGrpSpPr/>
          <p:nvPr/>
        </p:nvGrpSpPr>
        <p:grpSpPr>
          <a:xfrm rot="0">
            <a:off x="15763875" y="4095750"/>
            <a:ext cx="1762125" cy="1095375"/>
            <a:chOff x="0" y="0"/>
            <a:chExt cx="2349500" cy="14605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349500" cy="1460500"/>
            </a:xfrm>
            <a:custGeom>
              <a:avLst/>
              <a:gdLst/>
              <a:ahLst/>
              <a:cxnLst/>
              <a:rect r="r" b="b" t="t" l="l"/>
              <a:pathLst>
                <a:path h="1460500" w="2349500">
                  <a:moveTo>
                    <a:pt x="82378" y="0"/>
                  </a:moveTo>
                  <a:lnTo>
                    <a:pt x="2267122" y="0"/>
                  </a:lnTo>
                  <a:cubicBezTo>
                    <a:pt x="2312618" y="0"/>
                    <a:pt x="2349500" y="36882"/>
                    <a:pt x="2349500" y="82378"/>
                  </a:cubicBezTo>
                  <a:lnTo>
                    <a:pt x="2349500" y="1378122"/>
                  </a:lnTo>
                  <a:cubicBezTo>
                    <a:pt x="2349500" y="1423618"/>
                    <a:pt x="2312618" y="1460500"/>
                    <a:pt x="2267122" y="1460500"/>
                  </a:cubicBezTo>
                  <a:lnTo>
                    <a:pt x="82378" y="1460500"/>
                  </a:lnTo>
                  <a:cubicBezTo>
                    <a:pt x="36882" y="1460500"/>
                    <a:pt x="0" y="1423618"/>
                    <a:pt x="0" y="1378122"/>
                  </a:cubicBezTo>
                  <a:lnTo>
                    <a:pt x="0" y="82378"/>
                  </a:lnTo>
                  <a:cubicBezTo>
                    <a:pt x="0" y="36882"/>
                    <a:pt x="36882" y="0"/>
                    <a:pt x="82378" y="0"/>
                  </a:cubicBezTo>
                  <a:close/>
                </a:path>
              </a:pathLst>
            </a:custGeom>
            <a:solidFill>
              <a:srgbClr val="2F7DF6"/>
            </a:solidFill>
            <a:ln cap="sq">
              <a:noFill/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19050"/>
              <a:ext cx="2349500" cy="1441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50"/>
                </a:lnSpc>
              </a:pPr>
              <a:r>
                <a:rPr lang="en-US" sz="150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Internship / job readiness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2857500" y="6705600"/>
            <a:ext cx="12573000" cy="354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6"/>
              </a:lnSpc>
            </a:pPr>
            <a:r>
              <a:rPr lang="en-US" sz="2625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“A project should become evidence of what a student can actually do.”</a:t>
            </a:r>
          </a:p>
        </p:txBody>
      </p:sp>
      <p:sp>
        <p:nvSpPr>
          <p:cNvPr name="AutoShape 37" id="37"/>
          <p:cNvSpPr/>
          <p:nvPr/>
        </p:nvSpPr>
        <p:spPr>
          <a:xfrm>
            <a:off x="857250" y="9601200"/>
            <a:ext cx="16573500" cy="0"/>
          </a:xfrm>
          <a:prstGeom prst="line">
            <a:avLst/>
          </a:prstGeom>
          <a:ln cap="flat" w="9525">
            <a:solidFill>
              <a:srgbClr val="26364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8" id="38"/>
          <p:cNvSpPr txBox="true"/>
          <p:nvPr/>
        </p:nvSpPr>
        <p:spPr>
          <a:xfrm rot="0">
            <a:off x="857250" y="9772650"/>
            <a:ext cx="2857500" cy="196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PROJECTSFORGE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6764000" y="9772650"/>
            <a:ext cx="666750" cy="196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7250" y="571500"/>
            <a:ext cx="14287500" cy="1111568"/>
            <a:chOff x="0" y="0"/>
            <a:chExt cx="19050000" cy="148209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28575"/>
              <a:ext cx="8255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08" b="true">
                  <a:solidFill>
                    <a:srgbClr val="2F7DF6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17  /  PROJECTSFORGE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676275"/>
              <a:ext cx="19050000" cy="8058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67"/>
                </a:lnSpc>
              </a:pPr>
              <a:r>
                <a:rPr lang="en-US" sz="4350" b="true">
                  <a:solidFill>
                    <a:srgbClr val="101828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Business model possibilities to validate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57250" y="2714625"/>
            <a:ext cx="4857750" cy="1238250"/>
            <a:chOff x="0" y="0"/>
            <a:chExt cx="6477000" cy="1651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477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6477000">
                  <a:moveTo>
                    <a:pt x="29882" y="0"/>
                  </a:moveTo>
                  <a:lnTo>
                    <a:pt x="6447118" y="0"/>
                  </a:lnTo>
                  <a:cubicBezTo>
                    <a:pt x="6463621" y="0"/>
                    <a:pt x="6477000" y="13379"/>
                    <a:pt x="6477000" y="29882"/>
                  </a:cubicBezTo>
                  <a:lnTo>
                    <a:pt x="6477000" y="1621118"/>
                  </a:lnTo>
                  <a:cubicBezTo>
                    <a:pt x="6477000" y="1637621"/>
                    <a:pt x="6463621" y="1651000"/>
                    <a:pt x="6447118" y="1651000"/>
                  </a:cubicBezTo>
                  <a:lnTo>
                    <a:pt x="29882" y="1651000"/>
                  </a:lnTo>
                  <a:cubicBezTo>
                    <a:pt x="13379" y="1651000"/>
                    <a:pt x="0" y="1637621"/>
                    <a:pt x="0" y="1621118"/>
                  </a:cubicBezTo>
                  <a:lnTo>
                    <a:pt x="0" y="29882"/>
                  </a:lnTo>
                  <a:cubicBezTo>
                    <a:pt x="0" y="13379"/>
                    <a:pt x="13379" y="0"/>
                    <a:pt x="29882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28575"/>
              <a:ext cx="6477000" cy="1622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10182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Freemium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381750" y="2714625"/>
            <a:ext cx="4857750" cy="1238250"/>
            <a:chOff x="0" y="0"/>
            <a:chExt cx="6477000" cy="1651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477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6477000">
                  <a:moveTo>
                    <a:pt x="29882" y="0"/>
                  </a:moveTo>
                  <a:lnTo>
                    <a:pt x="6447118" y="0"/>
                  </a:lnTo>
                  <a:cubicBezTo>
                    <a:pt x="6463621" y="0"/>
                    <a:pt x="6477000" y="13379"/>
                    <a:pt x="6477000" y="29882"/>
                  </a:cubicBezTo>
                  <a:lnTo>
                    <a:pt x="6477000" y="1621118"/>
                  </a:lnTo>
                  <a:cubicBezTo>
                    <a:pt x="6477000" y="1637621"/>
                    <a:pt x="6463621" y="1651000"/>
                    <a:pt x="6447118" y="1651000"/>
                  </a:cubicBezTo>
                  <a:lnTo>
                    <a:pt x="29882" y="1651000"/>
                  </a:lnTo>
                  <a:cubicBezTo>
                    <a:pt x="13379" y="1651000"/>
                    <a:pt x="0" y="1637621"/>
                    <a:pt x="0" y="1621118"/>
                  </a:cubicBezTo>
                  <a:lnTo>
                    <a:pt x="0" y="29882"/>
                  </a:lnTo>
                  <a:cubicBezTo>
                    <a:pt x="0" y="13379"/>
                    <a:pt x="13379" y="0"/>
                    <a:pt x="29882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28575"/>
              <a:ext cx="6477000" cy="1622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10182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Premium project workspace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906250" y="2714625"/>
            <a:ext cx="4857750" cy="1238250"/>
            <a:chOff x="0" y="0"/>
            <a:chExt cx="6477000" cy="1651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477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6477000">
                  <a:moveTo>
                    <a:pt x="29882" y="0"/>
                  </a:moveTo>
                  <a:lnTo>
                    <a:pt x="6447118" y="0"/>
                  </a:lnTo>
                  <a:cubicBezTo>
                    <a:pt x="6463621" y="0"/>
                    <a:pt x="6477000" y="13379"/>
                    <a:pt x="6477000" y="29882"/>
                  </a:cubicBezTo>
                  <a:lnTo>
                    <a:pt x="6477000" y="1621118"/>
                  </a:lnTo>
                  <a:cubicBezTo>
                    <a:pt x="6477000" y="1637621"/>
                    <a:pt x="6463621" y="1651000"/>
                    <a:pt x="6447118" y="1651000"/>
                  </a:cubicBezTo>
                  <a:lnTo>
                    <a:pt x="29882" y="1651000"/>
                  </a:lnTo>
                  <a:cubicBezTo>
                    <a:pt x="13379" y="1651000"/>
                    <a:pt x="0" y="1637621"/>
                    <a:pt x="0" y="1621118"/>
                  </a:cubicBezTo>
                  <a:lnTo>
                    <a:pt x="0" y="29882"/>
                  </a:lnTo>
                  <a:cubicBezTo>
                    <a:pt x="0" y="13379"/>
                    <a:pt x="13379" y="0"/>
                    <a:pt x="29882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28575"/>
              <a:ext cx="6477000" cy="1622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10182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AI / project guidance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57250" y="4524375"/>
            <a:ext cx="4857750" cy="1238250"/>
            <a:chOff x="0" y="0"/>
            <a:chExt cx="6477000" cy="1651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477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6477000">
                  <a:moveTo>
                    <a:pt x="29882" y="0"/>
                  </a:moveTo>
                  <a:lnTo>
                    <a:pt x="6447118" y="0"/>
                  </a:lnTo>
                  <a:cubicBezTo>
                    <a:pt x="6463621" y="0"/>
                    <a:pt x="6477000" y="13379"/>
                    <a:pt x="6477000" y="29882"/>
                  </a:cubicBezTo>
                  <a:lnTo>
                    <a:pt x="6477000" y="1621118"/>
                  </a:lnTo>
                  <a:cubicBezTo>
                    <a:pt x="6477000" y="1637621"/>
                    <a:pt x="6463621" y="1651000"/>
                    <a:pt x="6447118" y="1651000"/>
                  </a:cubicBezTo>
                  <a:lnTo>
                    <a:pt x="29882" y="1651000"/>
                  </a:lnTo>
                  <a:cubicBezTo>
                    <a:pt x="13379" y="1651000"/>
                    <a:pt x="0" y="1637621"/>
                    <a:pt x="0" y="1621118"/>
                  </a:cubicBezTo>
                  <a:lnTo>
                    <a:pt x="0" y="29882"/>
                  </a:lnTo>
                  <a:cubicBezTo>
                    <a:pt x="0" y="13379"/>
                    <a:pt x="13379" y="0"/>
                    <a:pt x="29882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28575"/>
              <a:ext cx="6477000" cy="1622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10182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College / institution plans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381750" y="4524375"/>
            <a:ext cx="4857750" cy="1238250"/>
            <a:chOff x="0" y="0"/>
            <a:chExt cx="6477000" cy="1651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477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6477000">
                  <a:moveTo>
                    <a:pt x="29882" y="0"/>
                  </a:moveTo>
                  <a:lnTo>
                    <a:pt x="6447118" y="0"/>
                  </a:lnTo>
                  <a:cubicBezTo>
                    <a:pt x="6463621" y="0"/>
                    <a:pt x="6477000" y="13379"/>
                    <a:pt x="6477000" y="29882"/>
                  </a:cubicBezTo>
                  <a:lnTo>
                    <a:pt x="6477000" y="1621118"/>
                  </a:lnTo>
                  <a:cubicBezTo>
                    <a:pt x="6477000" y="1637621"/>
                    <a:pt x="6463621" y="1651000"/>
                    <a:pt x="6447118" y="1651000"/>
                  </a:cubicBezTo>
                  <a:lnTo>
                    <a:pt x="29882" y="1651000"/>
                  </a:lnTo>
                  <a:cubicBezTo>
                    <a:pt x="13379" y="1651000"/>
                    <a:pt x="0" y="1637621"/>
                    <a:pt x="0" y="1621118"/>
                  </a:cubicBezTo>
                  <a:lnTo>
                    <a:pt x="0" y="29882"/>
                  </a:lnTo>
                  <a:cubicBezTo>
                    <a:pt x="0" y="13379"/>
                    <a:pt x="13379" y="0"/>
                    <a:pt x="29882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28575"/>
              <a:ext cx="6477000" cy="1622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10182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Mentor review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906250" y="4524375"/>
            <a:ext cx="4857750" cy="1238250"/>
            <a:chOff x="0" y="0"/>
            <a:chExt cx="6477000" cy="1651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477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6477000">
                  <a:moveTo>
                    <a:pt x="29882" y="0"/>
                  </a:moveTo>
                  <a:lnTo>
                    <a:pt x="6447118" y="0"/>
                  </a:lnTo>
                  <a:cubicBezTo>
                    <a:pt x="6463621" y="0"/>
                    <a:pt x="6477000" y="13379"/>
                    <a:pt x="6477000" y="29882"/>
                  </a:cubicBezTo>
                  <a:lnTo>
                    <a:pt x="6477000" y="1621118"/>
                  </a:lnTo>
                  <a:cubicBezTo>
                    <a:pt x="6477000" y="1637621"/>
                    <a:pt x="6463621" y="1651000"/>
                    <a:pt x="6447118" y="1651000"/>
                  </a:cubicBezTo>
                  <a:lnTo>
                    <a:pt x="29882" y="1651000"/>
                  </a:lnTo>
                  <a:cubicBezTo>
                    <a:pt x="13379" y="1651000"/>
                    <a:pt x="0" y="1637621"/>
                    <a:pt x="0" y="1621118"/>
                  </a:cubicBezTo>
                  <a:lnTo>
                    <a:pt x="0" y="29882"/>
                  </a:lnTo>
                  <a:cubicBezTo>
                    <a:pt x="0" y="13379"/>
                    <a:pt x="13379" y="0"/>
                    <a:pt x="29882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28575"/>
              <a:ext cx="6477000" cy="1622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10182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Industry challenge programs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334000" y="7429500"/>
            <a:ext cx="7620000" cy="1238250"/>
            <a:chOff x="0" y="0"/>
            <a:chExt cx="10160000" cy="1651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16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10160000">
                  <a:moveTo>
                    <a:pt x="19050" y="0"/>
                  </a:moveTo>
                  <a:lnTo>
                    <a:pt x="10140950" y="0"/>
                  </a:lnTo>
                  <a:cubicBezTo>
                    <a:pt x="10151471" y="0"/>
                    <a:pt x="10160000" y="8529"/>
                    <a:pt x="10160000" y="19050"/>
                  </a:cubicBezTo>
                  <a:lnTo>
                    <a:pt x="10160000" y="1631950"/>
                  </a:lnTo>
                  <a:cubicBezTo>
                    <a:pt x="10160000" y="1642471"/>
                    <a:pt x="10151471" y="1651000"/>
                    <a:pt x="10140950" y="1651000"/>
                  </a:cubicBezTo>
                  <a:lnTo>
                    <a:pt x="19050" y="1651000"/>
                  </a:lnTo>
                  <a:cubicBezTo>
                    <a:pt x="8529" y="1651000"/>
                    <a:pt x="0" y="1642471"/>
                    <a:pt x="0" y="163195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101828"/>
            </a:soli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28575"/>
              <a:ext cx="10160000" cy="1622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Recruitment / internship partnerships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5334000" y="8820150"/>
            <a:ext cx="7620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b="true" sz="1650" spc="132">
                <a:solidFill>
                  <a:srgbClr val="2F7DF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Test monetization only after proving user value.</a:t>
            </a:r>
          </a:p>
        </p:txBody>
      </p:sp>
      <p:sp>
        <p:nvSpPr>
          <p:cNvPr name="AutoShape 27" id="27"/>
          <p:cNvSpPr/>
          <p:nvPr/>
        </p:nvSpPr>
        <p:spPr>
          <a:xfrm>
            <a:off x="857250" y="9601200"/>
            <a:ext cx="16573500" cy="0"/>
          </a:xfrm>
          <a:prstGeom prst="line">
            <a:avLst/>
          </a:prstGeom>
          <a:ln cap="flat" w="9525">
            <a:solidFill>
              <a:srgbClr val="D9E1E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8" id="28"/>
          <p:cNvSpPr txBox="true"/>
          <p:nvPr/>
        </p:nvSpPr>
        <p:spPr>
          <a:xfrm rot="0">
            <a:off x="857250" y="9782175"/>
            <a:ext cx="2857500" cy="184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0"/>
              </a:lnSpc>
            </a:pPr>
            <a:r>
              <a:rPr lang="en-US" sz="1200">
                <a:solidFill>
                  <a:srgbClr val="667085"/>
                </a:solidFill>
                <a:latin typeface="Open Sans"/>
                <a:ea typeface="Open Sans"/>
                <a:cs typeface="Open Sans"/>
                <a:sym typeface="Open Sans"/>
              </a:rPr>
              <a:t>PROJECTSFORGE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6764000" y="9782175"/>
            <a:ext cx="666750" cy="184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60"/>
              </a:lnSpc>
            </a:pPr>
            <a:r>
              <a:rPr lang="en-US" sz="1200">
                <a:solidFill>
                  <a:srgbClr val="667085"/>
                </a:solidFill>
                <a:latin typeface="Open Sans"/>
                <a:ea typeface="Open Sans"/>
                <a:cs typeface="Open Sans"/>
                <a:sym typeface="Open San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7250" y="571500"/>
            <a:ext cx="14287500" cy="1111568"/>
            <a:chOff x="0" y="0"/>
            <a:chExt cx="19050000" cy="148209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28575"/>
              <a:ext cx="8255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08" b="true">
                  <a:solidFill>
                    <a:srgbClr val="2F7DF6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18  /  PROJECTSFORGE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676275"/>
              <a:ext cx="19050000" cy="8058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67"/>
                </a:lnSpc>
              </a:pPr>
              <a:r>
                <a:rPr lang="en-US" sz="4350" b="true">
                  <a:solidFill>
                    <a:srgbClr val="101828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90 days: learn, prototype, pilot</a:t>
              </a:r>
            </a:p>
          </p:txBody>
        </p:sp>
      </p:grpSp>
      <p:sp>
        <p:nvSpPr>
          <p:cNvPr name="AutoShape 5" id="5"/>
          <p:cNvSpPr/>
          <p:nvPr/>
        </p:nvSpPr>
        <p:spPr>
          <a:xfrm>
            <a:off x="1428750" y="4953000"/>
            <a:ext cx="15430500" cy="0"/>
          </a:xfrm>
          <a:prstGeom prst="line">
            <a:avLst/>
          </a:prstGeom>
          <a:ln cap="rnd" w="76200">
            <a:solidFill>
              <a:srgbClr val="D9E1E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762125" y="4619625"/>
            <a:ext cx="666750" cy="666750"/>
            <a:chOff x="0" y="0"/>
            <a:chExt cx="889000" cy="889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89000" cy="889000"/>
            </a:xfrm>
            <a:custGeom>
              <a:avLst/>
              <a:gdLst/>
              <a:ahLst/>
              <a:cxnLst/>
              <a:rect r="r" b="b" t="t" l="l"/>
              <a:pathLst>
                <a:path h="889000" w="889000">
                  <a:moveTo>
                    <a:pt x="444500" y="0"/>
                  </a:moveTo>
                  <a:cubicBezTo>
                    <a:pt x="689991" y="0"/>
                    <a:pt x="889000" y="199009"/>
                    <a:pt x="889000" y="444500"/>
                  </a:cubicBezTo>
                  <a:cubicBezTo>
                    <a:pt x="889000" y="689991"/>
                    <a:pt x="689991" y="889000"/>
                    <a:pt x="444500" y="889000"/>
                  </a:cubicBezTo>
                  <a:cubicBezTo>
                    <a:pt x="199009" y="889000"/>
                    <a:pt x="0" y="689991"/>
                    <a:pt x="0" y="444500"/>
                  </a:cubicBezTo>
                  <a:cubicBezTo>
                    <a:pt x="0" y="199009"/>
                    <a:pt x="199009" y="0"/>
                    <a:pt x="444500" y="0"/>
                  </a:cubicBezTo>
                  <a:close/>
                </a:path>
              </a:pathLst>
            </a:custGeom>
            <a:solidFill>
              <a:srgbClr val="101828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889000" cy="92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0"/>
                </a:lnSpc>
              </a:pPr>
              <a:r>
                <a:rPr lang="en-US" sz="165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1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762000" y="2733675"/>
            <a:ext cx="2476500" cy="215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4"/>
              </a:lnSpc>
            </a:pPr>
            <a:r>
              <a:rPr lang="en-US" b="true" sz="1275" spc="102">
                <a:solidFill>
                  <a:srgbClr val="2F7DF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WEEKS 1–2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62000" y="3171825"/>
            <a:ext cx="2476500" cy="276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6"/>
              </a:lnSpc>
            </a:pPr>
            <a:r>
              <a:rPr lang="en-US" sz="2025" b="true">
                <a:solidFill>
                  <a:srgbClr val="10182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Interviews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62000" y="3600450"/>
            <a:ext cx="2476500" cy="220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5"/>
              </a:lnSpc>
            </a:pPr>
            <a:r>
              <a:rPr lang="en-US" sz="1350">
                <a:solidFill>
                  <a:srgbClr val="667085"/>
                </a:solidFill>
                <a:latin typeface="Open Sans"/>
                <a:ea typeface="Open Sans"/>
                <a:cs typeface="Open Sans"/>
                <a:sym typeface="Open Sans"/>
              </a:rPr>
              <a:t>Students • seniors • professors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4619625" y="4619625"/>
            <a:ext cx="666750" cy="666750"/>
            <a:chOff x="0" y="0"/>
            <a:chExt cx="889000" cy="889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89000" cy="889000"/>
            </a:xfrm>
            <a:custGeom>
              <a:avLst/>
              <a:gdLst/>
              <a:ahLst/>
              <a:cxnLst/>
              <a:rect r="r" b="b" t="t" l="l"/>
              <a:pathLst>
                <a:path h="889000" w="889000">
                  <a:moveTo>
                    <a:pt x="444500" y="0"/>
                  </a:moveTo>
                  <a:cubicBezTo>
                    <a:pt x="689991" y="0"/>
                    <a:pt x="889000" y="199009"/>
                    <a:pt x="889000" y="444500"/>
                  </a:cubicBezTo>
                  <a:cubicBezTo>
                    <a:pt x="889000" y="689991"/>
                    <a:pt x="689991" y="889000"/>
                    <a:pt x="444500" y="889000"/>
                  </a:cubicBezTo>
                  <a:cubicBezTo>
                    <a:pt x="199009" y="889000"/>
                    <a:pt x="0" y="689991"/>
                    <a:pt x="0" y="444500"/>
                  </a:cubicBezTo>
                  <a:cubicBezTo>
                    <a:pt x="0" y="199009"/>
                    <a:pt x="199009" y="0"/>
                    <a:pt x="444500" y="0"/>
                  </a:cubicBezTo>
                  <a:close/>
                </a:path>
              </a:pathLst>
            </a:custGeom>
            <a:solidFill>
              <a:srgbClr val="101828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889000" cy="92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0"/>
                </a:lnSpc>
              </a:pPr>
              <a:r>
                <a:rPr lang="en-US" sz="165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3619500" y="5591175"/>
            <a:ext cx="2476500" cy="215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4"/>
              </a:lnSpc>
            </a:pPr>
            <a:r>
              <a:rPr lang="en-US" b="true" sz="1275" spc="102">
                <a:solidFill>
                  <a:srgbClr val="2F7DF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WEEKS 3–4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619500" y="6029325"/>
            <a:ext cx="2476500" cy="276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6"/>
              </a:lnSpc>
            </a:pPr>
            <a:r>
              <a:rPr lang="en-US" sz="2025" b="true">
                <a:solidFill>
                  <a:srgbClr val="10182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Find patterns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619500" y="6457950"/>
            <a:ext cx="2476500" cy="220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5"/>
              </a:lnSpc>
            </a:pPr>
            <a:r>
              <a:rPr lang="en-US" sz="1350">
                <a:solidFill>
                  <a:srgbClr val="667085"/>
                </a:solidFill>
                <a:latin typeface="Open Sans"/>
                <a:ea typeface="Open Sans"/>
                <a:cs typeface="Open Sans"/>
                <a:sym typeface="Open Sans"/>
              </a:rPr>
              <a:t>Repeated problems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7477125" y="4619625"/>
            <a:ext cx="666750" cy="666750"/>
            <a:chOff x="0" y="0"/>
            <a:chExt cx="889000" cy="889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89000" cy="889000"/>
            </a:xfrm>
            <a:custGeom>
              <a:avLst/>
              <a:gdLst/>
              <a:ahLst/>
              <a:cxnLst/>
              <a:rect r="r" b="b" t="t" l="l"/>
              <a:pathLst>
                <a:path h="889000" w="889000">
                  <a:moveTo>
                    <a:pt x="444500" y="0"/>
                  </a:moveTo>
                  <a:cubicBezTo>
                    <a:pt x="689991" y="0"/>
                    <a:pt x="889000" y="199009"/>
                    <a:pt x="889000" y="444500"/>
                  </a:cubicBezTo>
                  <a:cubicBezTo>
                    <a:pt x="889000" y="689991"/>
                    <a:pt x="689991" y="889000"/>
                    <a:pt x="444500" y="889000"/>
                  </a:cubicBezTo>
                  <a:cubicBezTo>
                    <a:pt x="199009" y="889000"/>
                    <a:pt x="0" y="689991"/>
                    <a:pt x="0" y="444500"/>
                  </a:cubicBezTo>
                  <a:cubicBezTo>
                    <a:pt x="0" y="199009"/>
                    <a:pt x="199009" y="0"/>
                    <a:pt x="444500" y="0"/>
                  </a:cubicBezTo>
                  <a:close/>
                </a:path>
              </a:pathLst>
            </a:custGeom>
            <a:solidFill>
              <a:srgbClr val="101828"/>
            </a:soli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889000" cy="92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0"/>
                </a:lnSpc>
              </a:pPr>
              <a:r>
                <a:rPr lang="en-US" sz="165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3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6477000" y="2733675"/>
            <a:ext cx="2476500" cy="215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4"/>
              </a:lnSpc>
            </a:pPr>
            <a:r>
              <a:rPr lang="en-US" b="true" sz="1275" spc="102">
                <a:solidFill>
                  <a:srgbClr val="2F7DF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WEEKS 5–6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477000" y="3171825"/>
            <a:ext cx="2476500" cy="276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6"/>
              </a:lnSpc>
            </a:pPr>
            <a:r>
              <a:rPr lang="en-US" sz="2025" b="true">
                <a:solidFill>
                  <a:srgbClr val="10182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Manual MVP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477000" y="3600450"/>
            <a:ext cx="2476500" cy="220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5"/>
              </a:lnSpc>
            </a:pPr>
            <a:r>
              <a:rPr lang="en-US" sz="1350">
                <a:solidFill>
                  <a:srgbClr val="667085"/>
                </a:solidFill>
                <a:latin typeface="Open Sans"/>
                <a:ea typeface="Open Sans"/>
                <a:cs typeface="Open Sans"/>
                <a:sym typeface="Open Sans"/>
              </a:rPr>
              <a:t>Human-led recommendations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0334625" y="4619625"/>
            <a:ext cx="666750" cy="666750"/>
            <a:chOff x="0" y="0"/>
            <a:chExt cx="889000" cy="889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89000" cy="889000"/>
            </a:xfrm>
            <a:custGeom>
              <a:avLst/>
              <a:gdLst/>
              <a:ahLst/>
              <a:cxnLst/>
              <a:rect r="r" b="b" t="t" l="l"/>
              <a:pathLst>
                <a:path h="889000" w="889000">
                  <a:moveTo>
                    <a:pt x="444500" y="0"/>
                  </a:moveTo>
                  <a:cubicBezTo>
                    <a:pt x="689991" y="0"/>
                    <a:pt x="889000" y="199009"/>
                    <a:pt x="889000" y="444500"/>
                  </a:cubicBezTo>
                  <a:cubicBezTo>
                    <a:pt x="889000" y="689991"/>
                    <a:pt x="689991" y="889000"/>
                    <a:pt x="444500" y="889000"/>
                  </a:cubicBezTo>
                  <a:cubicBezTo>
                    <a:pt x="199009" y="889000"/>
                    <a:pt x="0" y="689991"/>
                    <a:pt x="0" y="444500"/>
                  </a:cubicBezTo>
                  <a:cubicBezTo>
                    <a:pt x="0" y="199009"/>
                    <a:pt x="199009" y="0"/>
                    <a:pt x="444500" y="0"/>
                  </a:cubicBezTo>
                  <a:close/>
                </a:path>
              </a:pathLst>
            </a:custGeom>
            <a:solidFill>
              <a:srgbClr val="101828"/>
            </a:solidFill>
            <a:ln cap="sq">
              <a:noFill/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889000" cy="92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0"/>
                </a:lnSpc>
              </a:pPr>
              <a:r>
                <a:rPr lang="en-US" sz="165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4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9334500" y="5591175"/>
            <a:ext cx="2476500" cy="215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4"/>
              </a:lnSpc>
            </a:pPr>
            <a:r>
              <a:rPr lang="en-US" b="true" sz="1275" spc="102">
                <a:solidFill>
                  <a:srgbClr val="2F7DF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WEEKS 7–8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334500" y="6029325"/>
            <a:ext cx="2476500" cy="276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6"/>
              </a:lnSpc>
            </a:pPr>
            <a:r>
              <a:rPr lang="en-US" sz="2025" b="true">
                <a:solidFill>
                  <a:srgbClr val="10182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Prototype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334500" y="6457950"/>
            <a:ext cx="2476500" cy="220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5"/>
              </a:lnSpc>
            </a:pPr>
            <a:r>
              <a:rPr lang="en-US" sz="1350">
                <a:solidFill>
                  <a:srgbClr val="667085"/>
                </a:solidFill>
                <a:latin typeface="Open Sans"/>
                <a:ea typeface="Open Sans"/>
                <a:cs typeface="Open Sans"/>
                <a:sym typeface="Open Sans"/>
              </a:rPr>
              <a:t>Test the workflow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3192125" y="4619625"/>
            <a:ext cx="666750" cy="666750"/>
            <a:chOff x="0" y="0"/>
            <a:chExt cx="889000" cy="8890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89000" cy="889000"/>
            </a:xfrm>
            <a:custGeom>
              <a:avLst/>
              <a:gdLst/>
              <a:ahLst/>
              <a:cxnLst/>
              <a:rect r="r" b="b" t="t" l="l"/>
              <a:pathLst>
                <a:path h="889000" w="889000">
                  <a:moveTo>
                    <a:pt x="444500" y="0"/>
                  </a:moveTo>
                  <a:cubicBezTo>
                    <a:pt x="689991" y="0"/>
                    <a:pt x="889000" y="199009"/>
                    <a:pt x="889000" y="444500"/>
                  </a:cubicBezTo>
                  <a:cubicBezTo>
                    <a:pt x="889000" y="689991"/>
                    <a:pt x="689991" y="889000"/>
                    <a:pt x="444500" y="889000"/>
                  </a:cubicBezTo>
                  <a:cubicBezTo>
                    <a:pt x="199009" y="889000"/>
                    <a:pt x="0" y="689991"/>
                    <a:pt x="0" y="444500"/>
                  </a:cubicBezTo>
                  <a:cubicBezTo>
                    <a:pt x="0" y="199009"/>
                    <a:pt x="199009" y="0"/>
                    <a:pt x="444500" y="0"/>
                  </a:cubicBezTo>
                  <a:close/>
                </a:path>
              </a:pathLst>
            </a:custGeom>
            <a:solidFill>
              <a:srgbClr val="101828"/>
            </a:solidFill>
            <a:ln cap="sq">
              <a:noFill/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889000" cy="92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0"/>
                </a:lnSpc>
              </a:pPr>
              <a:r>
                <a:rPr lang="en-US" sz="165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5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2192000" y="2733675"/>
            <a:ext cx="2476500" cy="215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4"/>
              </a:lnSpc>
            </a:pPr>
            <a:r>
              <a:rPr lang="en-US" b="true" sz="1275" spc="102">
                <a:solidFill>
                  <a:srgbClr val="2F7DF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WEEKS 9–10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192000" y="3171825"/>
            <a:ext cx="2476500" cy="276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6"/>
              </a:lnSpc>
            </a:pPr>
            <a:r>
              <a:rPr lang="en-US" sz="2025" b="true">
                <a:solidFill>
                  <a:srgbClr val="10182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Build MVP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192000" y="3600450"/>
            <a:ext cx="2476500" cy="220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5"/>
              </a:lnSpc>
            </a:pPr>
            <a:r>
              <a:rPr lang="en-US" sz="1350">
                <a:solidFill>
                  <a:srgbClr val="667085"/>
                </a:solidFill>
                <a:latin typeface="Open Sans"/>
                <a:ea typeface="Open Sans"/>
                <a:cs typeface="Open Sans"/>
                <a:sym typeface="Open Sans"/>
              </a:rPr>
              <a:t>Essential loop only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6049625" y="4619625"/>
            <a:ext cx="666750" cy="666750"/>
            <a:chOff x="0" y="0"/>
            <a:chExt cx="889000" cy="8890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89000" cy="889000"/>
            </a:xfrm>
            <a:custGeom>
              <a:avLst/>
              <a:gdLst/>
              <a:ahLst/>
              <a:cxnLst/>
              <a:rect r="r" b="b" t="t" l="l"/>
              <a:pathLst>
                <a:path h="889000" w="889000">
                  <a:moveTo>
                    <a:pt x="444500" y="0"/>
                  </a:moveTo>
                  <a:cubicBezTo>
                    <a:pt x="689991" y="0"/>
                    <a:pt x="889000" y="199009"/>
                    <a:pt x="889000" y="444500"/>
                  </a:cubicBezTo>
                  <a:cubicBezTo>
                    <a:pt x="889000" y="689991"/>
                    <a:pt x="689991" y="889000"/>
                    <a:pt x="444500" y="889000"/>
                  </a:cubicBezTo>
                  <a:cubicBezTo>
                    <a:pt x="199009" y="889000"/>
                    <a:pt x="0" y="689991"/>
                    <a:pt x="0" y="444500"/>
                  </a:cubicBezTo>
                  <a:cubicBezTo>
                    <a:pt x="0" y="199009"/>
                    <a:pt x="199009" y="0"/>
                    <a:pt x="444500" y="0"/>
                  </a:cubicBezTo>
                  <a:close/>
                </a:path>
              </a:pathLst>
            </a:custGeom>
            <a:solidFill>
              <a:srgbClr val="2F7DF6"/>
            </a:solidFill>
            <a:ln cap="sq">
              <a:noFill/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889000" cy="92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0"/>
                </a:lnSpc>
              </a:pPr>
              <a:r>
                <a:rPr lang="en-US" sz="165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6</a:t>
              </a: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15049500" y="5591175"/>
            <a:ext cx="2476500" cy="215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4"/>
              </a:lnSpc>
            </a:pPr>
            <a:r>
              <a:rPr lang="en-US" b="true" sz="1275" spc="102">
                <a:solidFill>
                  <a:srgbClr val="2F7DF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WEEKS 11–12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5049500" y="6029325"/>
            <a:ext cx="2476500" cy="276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6"/>
              </a:lnSpc>
            </a:pPr>
            <a:r>
              <a:rPr lang="en-US" sz="2025" b="true">
                <a:solidFill>
                  <a:srgbClr val="10182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Pilot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5049500" y="6457950"/>
            <a:ext cx="2476500" cy="220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5"/>
              </a:lnSpc>
            </a:pPr>
            <a:r>
              <a:rPr lang="en-US" sz="1350">
                <a:solidFill>
                  <a:srgbClr val="667085"/>
                </a:solidFill>
                <a:latin typeface="Open Sans"/>
                <a:ea typeface="Open Sans"/>
                <a:cs typeface="Open Sans"/>
                <a:sym typeface="Open Sans"/>
              </a:rPr>
              <a:t>Observe student use</a:t>
            </a:r>
          </a:p>
        </p:txBody>
      </p:sp>
      <p:sp>
        <p:nvSpPr>
          <p:cNvPr name="AutoShape 42" id="42"/>
          <p:cNvSpPr/>
          <p:nvPr/>
        </p:nvSpPr>
        <p:spPr>
          <a:xfrm>
            <a:off x="857250" y="9601200"/>
            <a:ext cx="16573500" cy="0"/>
          </a:xfrm>
          <a:prstGeom prst="line">
            <a:avLst/>
          </a:prstGeom>
          <a:ln cap="flat" w="9525">
            <a:solidFill>
              <a:srgbClr val="D9E1E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3" id="43"/>
          <p:cNvSpPr txBox="true"/>
          <p:nvPr/>
        </p:nvSpPr>
        <p:spPr>
          <a:xfrm rot="0">
            <a:off x="857250" y="9782175"/>
            <a:ext cx="2857500" cy="184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0"/>
              </a:lnSpc>
            </a:pPr>
            <a:r>
              <a:rPr lang="en-US" sz="1200">
                <a:solidFill>
                  <a:srgbClr val="667085"/>
                </a:solidFill>
                <a:latin typeface="Open Sans"/>
                <a:ea typeface="Open Sans"/>
                <a:cs typeface="Open Sans"/>
                <a:sym typeface="Open Sans"/>
              </a:rPr>
              <a:t>PROJECTSFORGE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6764000" y="9782175"/>
            <a:ext cx="666750" cy="184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60"/>
              </a:lnSpc>
            </a:pPr>
            <a:r>
              <a:rPr lang="en-US" sz="1200">
                <a:solidFill>
                  <a:srgbClr val="667085"/>
                </a:solidFill>
                <a:latin typeface="Open Sans"/>
                <a:ea typeface="Open Sans"/>
                <a:cs typeface="Open Sans"/>
                <a:sym typeface="Open San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7250" y="571500"/>
            <a:ext cx="14287500" cy="1111568"/>
            <a:chOff x="0" y="0"/>
            <a:chExt cx="19050000" cy="148209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28575"/>
              <a:ext cx="8255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08" b="true">
                  <a:solidFill>
                    <a:srgbClr val="2F7DF6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19  /  PROJECTSFORGE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676275"/>
              <a:ext cx="19050000" cy="8058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67"/>
                </a:lnSpc>
              </a:pPr>
              <a:r>
                <a:rPr lang="en-US" sz="4350" b="true">
                  <a:solidFill>
                    <a:srgbClr val="101828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Success means evidence of value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57250" y="2619375"/>
            <a:ext cx="4972050" cy="1047750"/>
            <a:chOff x="0" y="0"/>
            <a:chExt cx="6629400" cy="1397000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228600"/>
              <a:ext cx="914400" cy="914400"/>
              <a:chOff x="0" y="0"/>
              <a:chExt cx="914400" cy="9144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914400" cy="914400"/>
              </a:xfrm>
              <a:custGeom>
                <a:avLst/>
                <a:gdLst/>
                <a:ahLst/>
                <a:cxnLst/>
                <a:rect r="r" b="b" t="t" l="l"/>
                <a:pathLst>
                  <a:path h="914400" w="914400">
                    <a:moveTo>
                      <a:pt x="457200" y="0"/>
                    </a:moveTo>
                    <a:cubicBezTo>
                      <a:pt x="709705" y="0"/>
                      <a:pt x="914400" y="204695"/>
                      <a:pt x="914400" y="457200"/>
                    </a:cubicBezTo>
                    <a:cubicBezTo>
                      <a:pt x="914400" y="709705"/>
                      <a:pt x="709705" y="914400"/>
                      <a:pt x="457200" y="914400"/>
                    </a:cubicBezTo>
                    <a:cubicBezTo>
                      <a:pt x="204695" y="914400"/>
                      <a:pt x="0" y="709705"/>
                      <a:pt x="0" y="457200"/>
                    </a:cubicBezTo>
                    <a:cubicBezTo>
                      <a:pt x="0" y="204695"/>
                      <a:pt x="204695" y="0"/>
                      <a:pt x="457200" y="0"/>
                    </a:cubicBezTo>
                    <a:close/>
                  </a:path>
                </a:pathLst>
              </a:custGeom>
              <a:solidFill>
                <a:srgbClr val="2F7DF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914400" cy="952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  <a:r>
                  <a:rPr lang="en-US" sz="1800" b="true">
                    <a:solidFill>
                      <a:srgbClr val="FFFFFF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1</a:t>
                </a: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168400" y="0"/>
              <a:ext cx="5461000" cy="1397000"/>
              <a:chOff x="0" y="0"/>
              <a:chExt cx="5461000" cy="13970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5461000" cy="1397000"/>
              </a:xfrm>
              <a:custGeom>
                <a:avLst/>
                <a:gdLst/>
                <a:ahLst/>
                <a:cxnLst/>
                <a:rect r="r" b="b" t="t" l="l"/>
                <a:pathLst>
                  <a:path h="1397000" w="5461000">
                    <a:moveTo>
                      <a:pt x="35442" y="0"/>
                    </a:moveTo>
                    <a:lnTo>
                      <a:pt x="5425558" y="0"/>
                    </a:lnTo>
                    <a:cubicBezTo>
                      <a:pt x="5434958" y="0"/>
                      <a:pt x="5443973" y="3734"/>
                      <a:pt x="5450619" y="10381"/>
                    </a:cubicBezTo>
                    <a:cubicBezTo>
                      <a:pt x="5457266" y="17027"/>
                      <a:pt x="5461000" y="26042"/>
                      <a:pt x="5461000" y="35442"/>
                    </a:cubicBezTo>
                    <a:lnTo>
                      <a:pt x="5461000" y="1361558"/>
                    </a:lnTo>
                    <a:cubicBezTo>
                      <a:pt x="5461000" y="1370958"/>
                      <a:pt x="5457266" y="1379973"/>
                      <a:pt x="5450619" y="1386619"/>
                    </a:cubicBezTo>
                    <a:cubicBezTo>
                      <a:pt x="5443973" y="1393266"/>
                      <a:pt x="5434958" y="1397000"/>
                      <a:pt x="5425558" y="1397000"/>
                    </a:cubicBezTo>
                    <a:lnTo>
                      <a:pt x="35442" y="1397000"/>
                    </a:lnTo>
                    <a:cubicBezTo>
                      <a:pt x="26042" y="1397000"/>
                      <a:pt x="17027" y="1393266"/>
                      <a:pt x="10381" y="1386619"/>
                    </a:cubicBezTo>
                    <a:cubicBezTo>
                      <a:pt x="3734" y="1379973"/>
                      <a:pt x="0" y="1370958"/>
                      <a:pt x="0" y="1361558"/>
                    </a:cubicBezTo>
                    <a:lnTo>
                      <a:pt x="0" y="35442"/>
                    </a:lnTo>
                    <a:cubicBezTo>
                      <a:pt x="0" y="26042"/>
                      <a:pt x="3734" y="17027"/>
                      <a:pt x="10381" y="10381"/>
                    </a:cubicBezTo>
                    <a:cubicBezTo>
                      <a:pt x="17027" y="3734"/>
                      <a:pt x="26042" y="0"/>
                      <a:pt x="3544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9525"/>
                <a:ext cx="5461000" cy="13874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732"/>
                  </a:lnSpc>
                </a:pPr>
                <a:r>
                  <a:rPr lang="en-US" sz="1575" b="true">
                    <a:solidFill>
                      <a:srgbClr val="101828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Interviews completed</a:t>
                </a: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 rot="0">
            <a:off x="6477000" y="2619375"/>
            <a:ext cx="4972050" cy="1047750"/>
            <a:chOff x="0" y="0"/>
            <a:chExt cx="6629400" cy="1397000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228600"/>
              <a:ext cx="914400" cy="914400"/>
              <a:chOff x="0" y="0"/>
              <a:chExt cx="914400" cy="9144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914400" cy="914400"/>
              </a:xfrm>
              <a:custGeom>
                <a:avLst/>
                <a:gdLst/>
                <a:ahLst/>
                <a:cxnLst/>
                <a:rect r="r" b="b" t="t" l="l"/>
                <a:pathLst>
                  <a:path h="914400" w="914400">
                    <a:moveTo>
                      <a:pt x="457200" y="0"/>
                    </a:moveTo>
                    <a:cubicBezTo>
                      <a:pt x="709705" y="0"/>
                      <a:pt x="914400" y="204695"/>
                      <a:pt x="914400" y="457200"/>
                    </a:cubicBezTo>
                    <a:cubicBezTo>
                      <a:pt x="914400" y="709705"/>
                      <a:pt x="709705" y="914400"/>
                      <a:pt x="457200" y="914400"/>
                    </a:cubicBezTo>
                    <a:cubicBezTo>
                      <a:pt x="204695" y="914400"/>
                      <a:pt x="0" y="709705"/>
                      <a:pt x="0" y="457200"/>
                    </a:cubicBezTo>
                    <a:cubicBezTo>
                      <a:pt x="0" y="204695"/>
                      <a:pt x="204695" y="0"/>
                      <a:pt x="457200" y="0"/>
                    </a:cubicBezTo>
                    <a:close/>
                  </a:path>
                </a:pathLst>
              </a:custGeom>
              <a:solidFill>
                <a:srgbClr val="2F7DF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914400" cy="952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  <a:r>
                  <a:rPr lang="en-US" sz="1800" b="true">
                    <a:solidFill>
                      <a:srgbClr val="FFFFFF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2</a:t>
                </a: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1168400" y="0"/>
              <a:ext cx="5461000" cy="1397000"/>
              <a:chOff x="0" y="0"/>
              <a:chExt cx="5461000" cy="13970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5461000" cy="1397000"/>
              </a:xfrm>
              <a:custGeom>
                <a:avLst/>
                <a:gdLst/>
                <a:ahLst/>
                <a:cxnLst/>
                <a:rect r="r" b="b" t="t" l="l"/>
                <a:pathLst>
                  <a:path h="1397000" w="5461000">
                    <a:moveTo>
                      <a:pt x="35442" y="0"/>
                    </a:moveTo>
                    <a:lnTo>
                      <a:pt x="5425558" y="0"/>
                    </a:lnTo>
                    <a:cubicBezTo>
                      <a:pt x="5434958" y="0"/>
                      <a:pt x="5443973" y="3734"/>
                      <a:pt x="5450619" y="10381"/>
                    </a:cubicBezTo>
                    <a:cubicBezTo>
                      <a:pt x="5457266" y="17027"/>
                      <a:pt x="5461000" y="26042"/>
                      <a:pt x="5461000" y="35442"/>
                    </a:cubicBezTo>
                    <a:lnTo>
                      <a:pt x="5461000" y="1361558"/>
                    </a:lnTo>
                    <a:cubicBezTo>
                      <a:pt x="5461000" y="1370958"/>
                      <a:pt x="5457266" y="1379973"/>
                      <a:pt x="5450619" y="1386619"/>
                    </a:cubicBezTo>
                    <a:cubicBezTo>
                      <a:pt x="5443973" y="1393266"/>
                      <a:pt x="5434958" y="1397000"/>
                      <a:pt x="5425558" y="1397000"/>
                    </a:cubicBezTo>
                    <a:lnTo>
                      <a:pt x="35442" y="1397000"/>
                    </a:lnTo>
                    <a:cubicBezTo>
                      <a:pt x="26042" y="1397000"/>
                      <a:pt x="17027" y="1393266"/>
                      <a:pt x="10381" y="1386619"/>
                    </a:cubicBezTo>
                    <a:cubicBezTo>
                      <a:pt x="3734" y="1379973"/>
                      <a:pt x="0" y="1370958"/>
                      <a:pt x="0" y="1361558"/>
                    </a:cubicBezTo>
                    <a:lnTo>
                      <a:pt x="0" y="35442"/>
                    </a:lnTo>
                    <a:cubicBezTo>
                      <a:pt x="0" y="26042"/>
                      <a:pt x="3734" y="17027"/>
                      <a:pt x="10381" y="10381"/>
                    </a:cubicBezTo>
                    <a:cubicBezTo>
                      <a:pt x="17027" y="3734"/>
                      <a:pt x="26042" y="0"/>
                      <a:pt x="3544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9525"/>
                <a:ext cx="5461000" cy="13874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732"/>
                  </a:lnSpc>
                </a:pPr>
                <a:r>
                  <a:rPr lang="en-US" sz="1575" b="true">
                    <a:solidFill>
                      <a:srgbClr val="101828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% reporting target problem</a:t>
                </a:r>
              </a:p>
            </p:txBody>
          </p:sp>
        </p:grpSp>
      </p:grpSp>
      <p:grpSp>
        <p:nvGrpSpPr>
          <p:cNvPr name="Group 19" id="19"/>
          <p:cNvGrpSpPr/>
          <p:nvPr/>
        </p:nvGrpSpPr>
        <p:grpSpPr>
          <a:xfrm rot="0">
            <a:off x="12096750" y="2619375"/>
            <a:ext cx="4972050" cy="1047750"/>
            <a:chOff x="0" y="0"/>
            <a:chExt cx="6629400" cy="1397000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228600"/>
              <a:ext cx="914400" cy="914400"/>
              <a:chOff x="0" y="0"/>
              <a:chExt cx="914400" cy="9144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914400" cy="914400"/>
              </a:xfrm>
              <a:custGeom>
                <a:avLst/>
                <a:gdLst/>
                <a:ahLst/>
                <a:cxnLst/>
                <a:rect r="r" b="b" t="t" l="l"/>
                <a:pathLst>
                  <a:path h="914400" w="914400">
                    <a:moveTo>
                      <a:pt x="457200" y="0"/>
                    </a:moveTo>
                    <a:cubicBezTo>
                      <a:pt x="709705" y="0"/>
                      <a:pt x="914400" y="204695"/>
                      <a:pt x="914400" y="457200"/>
                    </a:cubicBezTo>
                    <a:cubicBezTo>
                      <a:pt x="914400" y="709705"/>
                      <a:pt x="709705" y="914400"/>
                      <a:pt x="457200" y="914400"/>
                    </a:cubicBezTo>
                    <a:cubicBezTo>
                      <a:pt x="204695" y="914400"/>
                      <a:pt x="0" y="709705"/>
                      <a:pt x="0" y="457200"/>
                    </a:cubicBezTo>
                    <a:cubicBezTo>
                      <a:pt x="0" y="204695"/>
                      <a:pt x="204695" y="0"/>
                      <a:pt x="457200" y="0"/>
                    </a:cubicBezTo>
                    <a:close/>
                  </a:path>
                </a:pathLst>
              </a:custGeom>
              <a:solidFill>
                <a:srgbClr val="2F7DF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38100"/>
                <a:ext cx="914400" cy="952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  <a:r>
                  <a:rPr lang="en-US" sz="1800" b="true">
                    <a:solidFill>
                      <a:srgbClr val="FFFFFF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3</a:t>
                </a: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0">
              <a:off x="1168400" y="0"/>
              <a:ext cx="5461000" cy="1397000"/>
              <a:chOff x="0" y="0"/>
              <a:chExt cx="5461000" cy="13970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5461000" cy="1397000"/>
              </a:xfrm>
              <a:custGeom>
                <a:avLst/>
                <a:gdLst/>
                <a:ahLst/>
                <a:cxnLst/>
                <a:rect r="r" b="b" t="t" l="l"/>
                <a:pathLst>
                  <a:path h="1397000" w="5461000">
                    <a:moveTo>
                      <a:pt x="35442" y="0"/>
                    </a:moveTo>
                    <a:lnTo>
                      <a:pt x="5425558" y="0"/>
                    </a:lnTo>
                    <a:cubicBezTo>
                      <a:pt x="5434958" y="0"/>
                      <a:pt x="5443973" y="3734"/>
                      <a:pt x="5450619" y="10381"/>
                    </a:cubicBezTo>
                    <a:cubicBezTo>
                      <a:pt x="5457266" y="17027"/>
                      <a:pt x="5461000" y="26042"/>
                      <a:pt x="5461000" y="35442"/>
                    </a:cubicBezTo>
                    <a:lnTo>
                      <a:pt x="5461000" y="1361558"/>
                    </a:lnTo>
                    <a:cubicBezTo>
                      <a:pt x="5461000" y="1370958"/>
                      <a:pt x="5457266" y="1379973"/>
                      <a:pt x="5450619" y="1386619"/>
                    </a:cubicBezTo>
                    <a:cubicBezTo>
                      <a:pt x="5443973" y="1393266"/>
                      <a:pt x="5434958" y="1397000"/>
                      <a:pt x="5425558" y="1397000"/>
                    </a:cubicBezTo>
                    <a:lnTo>
                      <a:pt x="35442" y="1397000"/>
                    </a:lnTo>
                    <a:cubicBezTo>
                      <a:pt x="26042" y="1397000"/>
                      <a:pt x="17027" y="1393266"/>
                      <a:pt x="10381" y="1386619"/>
                    </a:cubicBezTo>
                    <a:cubicBezTo>
                      <a:pt x="3734" y="1379973"/>
                      <a:pt x="0" y="1370958"/>
                      <a:pt x="0" y="1361558"/>
                    </a:cubicBezTo>
                    <a:lnTo>
                      <a:pt x="0" y="35442"/>
                    </a:lnTo>
                    <a:cubicBezTo>
                      <a:pt x="0" y="26042"/>
                      <a:pt x="3734" y="17027"/>
                      <a:pt x="10381" y="10381"/>
                    </a:cubicBezTo>
                    <a:cubicBezTo>
                      <a:pt x="17027" y="3734"/>
                      <a:pt x="26042" y="0"/>
                      <a:pt x="3544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9525"/>
                <a:ext cx="5461000" cy="13874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732"/>
                  </a:lnSpc>
                </a:pPr>
                <a:r>
                  <a:rPr lang="en-US" sz="1575" b="true">
                    <a:solidFill>
                      <a:srgbClr val="101828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Testing recommendations</a:t>
                </a:r>
              </a:p>
            </p:txBody>
          </p:sp>
        </p:grpSp>
      </p:grpSp>
      <p:grpSp>
        <p:nvGrpSpPr>
          <p:cNvPr name="Group 26" id="26"/>
          <p:cNvGrpSpPr/>
          <p:nvPr/>
        </p:nvGrpSpPr>
        <p:grpSpPr>
          <a:xfrm rot="0">
            <a:off x="857250" y="4429125"/>
            <a:ext cx="4972050" cy="1047750"/>
            <a:chOff x="0" y="0"/>
            <a:chExt cx="6629400" cy="1397000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228600"/>
              <a:ext cx="914400" cy="914400"/>
              <a:chOff x="0" y="0"/>
              <a:chExt cx="914400" cy="9144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914400" cy="914400"/>
              </a:xfrm>
              <a:custGeom>
                <a:avLst/>
                <a:gdLst/>
                <a:ahLst/>
                <a:cxnLst/>
                <a:rect r="r" b="b" t="t" l="l"/>
                <a:pathLst>
                  <a:path h="914400" w="914400">
                    <a:moveTo>
                      <a:pt x="457200" y="0"/>
                    </a:moveTo>
                    <a:cubicBezTo>
                      <a:pt x="709705" y="0"/>
                      <a:pt x="914400" y="204695"/>
                      <a:pt x="914400" y="457200"/>
                    </a:cubicBezTo>
                    <a:cubicBezTo>
                      <a:pt x="914400" y="709705"/>
                      <a:pt x="709705" y="914400"/>
                      <a:pt x="457200" y="914400"/>
                    </a:cubicBezTo>
                    <a:cubicBezTo>
                      <a:pt x="204695" y="914400"/>
                      <a:pt x="0" y="709705"/>
                      <a:pt x="0" y="457200"/>
                    </a:cubicBezTo>
                    <a:cubicBezTo>
                      <a:pt x="0" y="204695"/>
                      <a:pt x="204695" y="0"/>
                      <a:pt x="457200" y="0"/>
                    </a:cubicBezTo>
                    <a:close/>
                  </a:path>
                </a:pathLst>
              </a:custGeom>
              <a:solidFill>
                <a:srgbClr val="10182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38100"/>
                <a:ext cx="914400" cy="952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  <a:r>
                  <a:rPr lang="en-US" sz="1800" b="true">
                    <a:solidFill>
                      <a:srgbClr val="FFFFFF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4</a:t>
                </a: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1168400" y="0"/>
              <a:ext cx="5461000" cy="1397000"/>
              <a:chOff x="0" y="0"/>
              <a:chExt cx="5461000" cy="139700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5461000" cy="1397000"/>
              </a:xfrm>
              <a:custGeom>
                <a:avLst/>
                <a:gdLst/>
                <a:ahLst/>
                <a:cxnLst/>
                <a:rect r="r" b="b" t="t" l="l"/>
                <a:pathLst>
                  <a:path h="1397000" w="5461000">
                    <a:moveTo>
                      <a:pt x="35442" y="0"/>
                    </a:moveTo>
                    <a:lnTo>
                      <a:pt x="5425558" y="0"/>
                    </a:lnTo>
                    <a:cubicBezTo>
                      <a:pt x="5434958" y="0"/>
                      <a:pt x="5443973" y="3734"/>
                      <a:pt x="5450619" y="10381"/>
                    </a:cubicBezTo>
                    <a:cubicBezTo>
                      <a:pt x="5457266" y="17027"/>
                      <a:pt x="5461000" y="26042"/>
                      <a:pt x="5461000" y="35442"/>
                    </a:cubicBezTo>
                    <a:lnTo>
                      <a:pt x="5461000" y="1361558"/>
                    </a:lnTo>
                    <a:cubicBezTo>
                      <a:pt x="5461000" y="1370958"/>
                      <a:pt x="5457266" y="1379973"/>
                      <a:pt x="5450619" y="1386619"/>
                    </a:cubicBezTo>
                    <a:cubicBezTo>
                      <a:pt x="5443973" y="1393266"/>
                      <a:pt x="5434958" y="1397000"/>
                      <a:pt x="5425558" y="1397000"/>
                    </a:cubicBezTo>
                    <a:lnTo>
                      <a:pt x="35442" y="1397000"/>
                    </a:lnTo>
                    <a:cubicBezTo>
                      <a:pt x="26042" y="1397000"/>
                      <a:pt x="17027" y="1393266"/>
                      <a:pt x="10381" y="1386619"/>
                    </a:cubicBezTo>
                    <a:cubicBezTo>
                      <a:pt x="3734" y="1379973"/>
                      <a:pt x="0" y="1370958"/>
                      <a:pt x="0" y="1361558"/>
                    </a:cubicBezTo>
                    <a:lnTo>
                      <a:pt x="0" y="35442"/>
                    </a:lnTo>
                    <a:cubicBezTo>
                      <a:pt x="0" y="26042"/>
                      <a:pt x="3734" y="17027"/>
                      <a:pt x="10381" y="10381"/>
                    </a:cubicBezTo>
                    <a:cubicBezTo>
                      <a:pt x="17027" y="3734"/>
                      <a:pt x="26042" y="0"/>
                      <a:pt x="3544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9525"/>
                <a:ext cx="5461000" cy="13874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732"/>
                  </a:lnSpc>
                </a:pPr>
                <a:r>
                  <a:rPr lang="en-US" sz="1575" b="true">
                    <a:solidFill>
                      <a:srgbClr val="101828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Recommendation usefulness</a:t>
                </a:r>
              </a:p>
            </p:txBody>
          </p:sp>
        </p:grpSp>
      </p:grpSp>
      <p:grpSp>
        <p:nvGrpSpPr>
          <p:cNvPr name="Group 33" id="33"/>
          <p:cNvGrpSpPr/>
          <p:nvPr/>
        </p:nvGrpSpPr>
        <p:grpSpPr>
          <a:xfrm rot="0">
            <a:off x="6477000" y="4429125"/>
            <a:ext cx="4972050" cy="1047750"/>
            <a:chOff x="0" y="0"/>
            <a:chExt cx="6629400" cy="1397000"/>
          </a:xfrm>
        </p:grpSpPr>
        <p:grpSp>
          <p:nvGrpSpPr>
            <p:cNvPr name="Group 34" id="34"/>
            <p:cNvGrpSpPr/>
            <p:nvPr/>
          </p:nvGrpSpPr>
          <p:grpSpPr>
            <a:xfrm rot="0">
              <a:off x="0" y="228600"/>
              <a:ext cx="914400" cy="914400"/>
              <a:chOff x="0" y="0"/>
              <a:chExt cx="914400" cy="91440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914400" cy="914400"/>
              </a:xfrm>
              <a:custGeom>
                <a:avLst/>
                <a:gdLst/>
                <a:ahLst/>
                <a:cxnLst/>
                <a:rect r="r" b="b" t="t" l="l"/>
                <a:pathLst>
                  <a:path h="914400" w="914400">
                    <a:moveTo>
                      <a:pt x="457200" y="0"/>
                    </a:moveTo>
                    <a:cubicBezTo>
                      <a:pt x="709705" y="0"/>
                      <a:pt x="914400" y="204695"/>
                      <a:pt x="914400" y="457200"/>
                    </a:cubicBezTo>
                    <a:cubicBezTo>
                      <a:pt x="914400" y="709705"/>
                      <a:pt x="709705" y="914400"/>
                      <a:pt x="457200" y="914400"/>
                    </a:cubicBezTo>
                    <a:cubicBezTo>
                      <a:pt x="204695" y="914400"/>
                      <a:pt x="0" y="709705"/>
                      <a:pt x="0" y="457200"/>
                    </a:cubicBezTo>
                    <a:cubicBezTo>
                      <a:pt x="0" y="204695"/>
                      <a:pt x="204695" y="0"/>
                      <a:pt x="457200" y="0"/>
                    </a:cubicBezTo>
                    <a:close/>
                  </a:path>
                </a:pathLst>
              </a:custGeom>
              <a:solidFill>
                <a:srgbClr val="10182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38100"/>
                <a:ext cx="914400" cy="952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  <a:r>
                  <a:rPr lang="en-US" sz="1800" b="true">
                    <a:solidFill>
                      <a:srgbClr val="FFFFFF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5</a:t>
                </a: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0">
              <a:off x="1168400" y="0"/>
              <a:ext cx="5461000" cy="1397000"/>
              <a:chOff x="0" y="0"/>
              <a:chExt cx="5461000" cy="1397000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5461000" cy="1397000"/>
              </a:xfrm>
              <a:custGeom>
                <a:avLst/>
                <a:gdLst/>
                <a:ahLst/>
                <a:cxnLst/>
                <a:rect r="r" b="b" t="t" l="l"/>
                <a:pathLst>
                  <a:path h="1397000" w="5461000">
                    <a:moveTo>
                      <a:pt x="35442" y="0"/>
                    </a:moveTo>
                    <a:lnTo>
                      <a:pt x="5425558" y="0"/>
                    </a:lnTo>
                    <a:cubicBezTo>
                      <a:pt x="5434958" y="0"/>
                      <a:pt x="5443973" y="3734"/>
                      <a:pt x="5450619" y="10381"/>
                    </a:cubicBezTo>
                    <a:cubicBezTo>
                      <a:pt x="5457266" y="17027"/>
                      <a:pt x="5461000" y="26042"/>
                      <a:pt x="5461000" y="35442"/>
                    </a:cubicBezTo>
                    <a:lnTo>
                      <a:pt x="5461000" y="1361558"/>
                    </a:lnTo>
                    <a:cubicBezTo>
                      <a:pt x="5461000" y="1370958"/>
                      <a:pt x="5457266" y="1379973"/>
                      <a:pt x="5450619" y="1386619"/>
                    </a:cubicBezTo>
                    <a:cubicBezTo>
                      <a:pt x="5443973" y="1393266"/>
                      <a:pt x="5434958" y="1397000"/>
                      <a:pt x="5425558" y="1397000"/>
                    </a:cubicBezTo>
                    <a:lnTo>
                      <a:pt x="35442" y="1397000"/>
                    </a:lnTo>
                    <a:cubicBezTo>
                      <a:pt x="26042" y="1397000"/>
                      <a:pt x="17027" y="1393266"/>
                      <a:pt x="10381" y="1386619"/>
                    </a:cubicBezTo>
                    <a:cubicBezTo>
                      <a:pt x="3734" y="1379973"/>
                      <a:pt x="0" y="1370958"/>
                      <a:pt x="0" y="1361558"/>
                    </a:cubicBezTo>
                    <a:lnTo>
                      <a:pt x="0" y="35442"/>
                    </a:lnTo>
                    <a:cubicBezTo>
                      <a:pt x="0" y="26042"/>
                      <a:pt x="3734" y="17027"/>
                      <a:pt x="10381" y="10381"/>
                    </a:cubicBezTo>
                    <a:cubicBezTo>
                      <a:pt x="17027" y="3734"/>
                      <a:pt x="26042" y="0"/>
                      <a:pt x="3544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9525"/>
                <a:ext cx="5461000" cy="13874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732"/>
                  </a:lnSpc>
                </a:pPr>
                <a:r>
                  <a:rPr lang="en-US" sz="1575" b="true">
                    <a:solidFill>
                      <a:srgbClr val="101828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Projects saved / started</a:t>
                </a:r>
              </a:p>
            </p:txBody>
          </p:sp>
        </p:grpSp>
      </p:grpSp>
      <p:grpSp>
        <p:nvGrpSpPr>
          <p:cNvPr name="Group 40" id="40"/>
          <p:cNvGrpSpPr/>
          <p:nvPr/>
        </p:nvGrpSpPr>
        <p:grpSpPr>
          <a:xfrm rot="0">
            <a:off x="12096750" y="4429125"/>
            <a:ext cx="4972050" cy="1047750"/>
            <a:chOff x="0" y="0"/>
            <a:chExt cx="6629400" cy="1397000"/>
          </a:xfrm>
        </p:grpSpPr>
        <p:grpSp>
          <p:nvGrpSpPr>
            <p:cNvPr name="Group 41" id="41"/>
            <p:cNvGrpSpPr/>
            <p:nvPr/>
          </p:nvGrpSpPr>
          <p:grpSpPr>
            <a:xfrm rot="0">
              <a:off x="0" y="228600"/>
              <a:ext cx="914400" cy="914400"/>
              <a:chOff x="0" y="0"/>
              <a:chExt cx="914400" cy="914400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914400" cy="914400"/>
              </a:xfrm>
              <a:custGeom>
                <a:avLst/>
                <a:gdLst/>
                <a:ahLst/>
                <a:cxnLst/>
                <a:rect r="r" b="b" t="t" l="l"/>
                <a:pathLst>
                  <a:path h="914400" w="914400">
                    <a:moveTo>
                      <a:pt x="457200" y="0"/>
                    </a:moveTo>
                    <a:cubicBezTo>
                      <a:pt x="709705" y="0"/>
                      <a:pt x="914400" y="204695"/>
                      <a:pt x="914400" y="457200"/>
                    </a:cubicBezTo>
                    <a:cubicBezTo>
                      <a:pt x="914400" y="709705"/>
                      <a:pt x="709705" y="914400"/>
                      <a:pt x="457200" y="914400"/>
                    </a:cubicBezTo>
                    <a:cubicBezTo>
                      <a:pt x="204695" y="914400"/>
                      <a:pt x="0" y="709705"/>
                      <a:pt x="0" y="457200"/>
                    </a:cubicBezTo>
                    <a:cubicBezTo>
                      <a:pt x="0" y="204695"/>
                      <a:pt x="204695" y="0"/>
                      <a:pt x="457200" y="0"/>
                    </a:cubicBezTo>
                    <a:close/>
                  </a:path>
                </a:pathLst>
              </a:custGeom>
              <a:solidFill>
                <a:srgbClr val="10182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0" y="-38100"/>
                <a:ext cx="914400" cy="952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  <a:r>
                  <a:rPr lang="en-US" sz="1800" b="true">
                    <a:solidFill>
                      <a:srgbClr val="FFFFFF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6</a:t>
                </a:r>
              </a:p>
            </p:txBody>
          </p:sp>
        </p:grpSp>
        <p:grpSp>
          <p:nvGrpSpPr>
            <p:cNvPr name="Group 44" id="44"/>
            <p:cNvGrpSpPr/>
            <p:nvPr/>
          </p:nvGrpSpPr>
          <p:grpSpPr>
            <a:xfrm rot="0">
              <a:off x="1168400" y="0"/>
              <a:ext cx="5461000" cy="1397000"/>
              <a:chOff x="0" y="0"/>
              <a:chExt cx="5461000" cy="1397000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5461000" cy="1397000"/>
              </a:xfrm>
              <a:custGeom>
                <a:avLst/>
                <a:gdLst/>
                <a:ahLst/>
                <a:cxnLst/>
                <a:rect r="r" b="b" t="t" l="l"/>
                <a:pathLst>
                  <a:path h="1397000" w="5461000">
                    <a:moveTo>
                      <a:pt x="35442" y="0"/>
                    </a:moveTo>
                    <a:lnTo>
                      <a:pt x="5425558" y="0"/>
                    </a:lnTo>
                    <a:cubicBezTo>
                      <a:pt x="5434958" y="0"/>
                      <a:pt x="5443973" y="3734"/>
                      <a:pt x="5450619" y="10381"/>
                    </a:cubicBezTo>
                    <a:cubicBezTo>
                      <a:pt x="5457266" y="17027"/>
                      <a:pt x="5461000" y="26042"/>
                      <a:pt x="5461000" y="35442"/>
                    </a:cubicBezTo>
                    <a:lnTo>
                      <a:pt x="5461000" y="1361558"/>
                    </a:lnTo>
                    <a:cubicBezTo>
                      <a:pt x="5461000" y="1370958"/>
                      <a:pt x="5457266" y="1379973"/>
                      <a:pt x="5450619" y="1386619"/>
                    </a:cubicBezTo>
                    <a:cubicBezTo>
                      <a:pt x="5443973" y="1393266"/>
                      <a:pt x="5434958" y="1397000"/>
                      <a:pt x="5425558" y="1397000"/>
                    </a:cubicBezTo>
                    <a:lnTo>
                      <a:pt x="35442" y="1397000"/>
                    </a:lnTo>
                    <a:cubicBezTo>
                      <a:pt x="26042" y="1397000"/>
                      <a:pt x="17027" y="1393266"/>
                      <a:pt x="10381" y="1386619"/>
                    </a:cubicBezTo>
                    <a:cubicBezTo>
                      <a:pt x="3734" y="1379973"/>
                      <a:pt x="0" y="1370958"/>
                      <a:pt x="0" y="1361558"/>
                    </a:cubicBezTo>
                    <a:lnTo>
                      <a:pt x="0" y="35442"/>
                    </a:lnTo>
                    <a:cubicBezTo>
                      <a:pt x="0" y="26042"/>
                      <a:pt x="3734" y="17027"/>
                      <a:pt x="10381" y="10381"/>
                    </a:cubicBezTo>
                    <a:cubicBezTo>
                      <a:pt x="17027" y="3734"/>
                      <a:pt x="26042" y="0"/>
                      <a:pt x="3544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0" y="9525"/>
                <a:ext cx="5461000" cy="13874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732"/>
                  </a:lnSpc>
                </a:pPr>
                <a:r>
                  <a:rPr lang="en-US" sz="1575" b="true">
                    <a:solidFill>
                      <a:srgbClr val="101828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Milestones completed</a:t>
                </a:r>
              </a:p>
            </p:txBody>
          </p:sp>
        </p:grpSp>
      </p:grpSp>
      <p:grpSp>
        <p:nvGrpSpPr>
          <p:cNvPr name="Group 47" id="47"/>
          <p:cNvGrpSpPr/>
          <p:nvPr/>
        </p:nvGrpSpPr>
        <p:grpSpPr>
          <a:xfrm rot="0">
            <a:off x="857250" y="6238875"/>
            <a:ext cx="4972050" cy="1047750"/>
            <a:chOff x="0" y="0"/>
            <a:chExt cx="6629400" cy="1397000"/>
          </a:xfrm>
        </p:grpSpPr>
        <p:grpSp>
          <p:nvGrpSpPr>
            <p:cNvPr name="Group 48" id="48"/>
            <p:cNvGrpSpPr/>
            <p:nvPr/>
          </p:nvGrpSpPr>
          <p:grpSpPr>
            <a:xfrm rot="0">
              <a:off x="0" y="228600"/>
              <a:ext cx="914400" cy="914400"/>
              <a:chOff x="0" y="0"/>
              <a:chExt cx="914400" cy="914400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914400" cy="914400"/>
              </a:xfrm>
              <a:custGeom>
                <a:avLst/>
                <a:gdLst/>
                <a:ahLst/>
                <a:cxnLst/>
                <a:rect r="r" b="b" t="t" l="l"/>
                <a:pathLst>
                  <a:path h="914400" w="914400">
                    <a:moveTo>
                      <a:pt x="457200" y="0"/>
                    </a:moveTo>
                    <a:cubicBezTo>
                      <a:pt x="709705" y="0"/>
                      <a:pt x="914400" y="204695"/>
                      <a:pt x="914400" y="457200"/>
                    </a:cubicBezTo>
                    <a:cubicBezTo>
                      <a:pt x="914400" y="709705"/>
                      <a:pt x="709705" y="914400"/>
                      <a:pt x="457200" y="914400"/>
                    </a:cubicBezTo>
                    <a:cubicBezTo>
                      <a:pt x="204695" y="914400"/>
                      <a:pt x="0" y="709705"/>
                      <a:pt x="0" y="457200"/>
                    </a:cubicBezTo>
                    <a:cubicBezTo>
                      <a:pt x="0" y="204695"/>
                      <a:pt x="204695" y="0"/>
                      <a:pt x="457200" y="0"/>
                    </a:cubicBezTo>
                    <a:close/>
                  </a:path>
                </a:pathLst>
              </a:custGeom>
              <a:solidFill>
                <a:srgbClr val="10182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0" y="-38100"/>
                <a:ext cx="914400" cy="952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  <a:r>
                  <a:rPr lang="en-US" sz="1800" b="true">
                    <a:solidFill>
                      <a:srgbClr val="FFFFFF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7</a:t>
                </a:r>
              </a:p>
            </p:txBody>
          </p:sp>
        </p:grpSp>
        <p:grpSp>
          <p:nvGrpSpPr>
            <p:cNvPr name="Group 51" id="51"/>
            <p:cNvGrpSpPr/>
            <p:nvPr/>
          </p:nvGrpSpPr>
          <p:grpSpPr>
            <a:xfrm rot="0">
              <a:off x="1168400" y="0"/>
              <a:ext cx="5461000" cy="1397000"/>
              <a:chOff x="0" y="0"/>
              <a:chExt cx="5461000" cy="1397000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5461000" cy="1397000"/>
              </a:xfrm>
              <a:custGeom>
                <a:avLst/>
                <a:gdLst/>
                <a:ahLst/>
                <a:cxnLst/>
                <a:rect r="r" b="b" t="t" l="l"/>
                <a:pathLst>
                  <a:path h="1397000" w="5461000">
                    <a:moveTo>
                      <a:pt x="35442" y="0"/>
                    </a:moveTo>
                    <a:lnTo>
                      <a:pt x="5425558" y="0"/>
                    </a:lnTo>
                    <a:cubicBezTo>
                      <a:pt x="5434958" y="0"/>
                      <a:pt x="5443973" y="3734"/>
                      <a:pt x="5450619" y="10381"/>
                    </a:cubicBezTo>
                    <a:cubicBezTo>
                      <a:pt x="5457266" y="17027"/>
                      <a:pt x="5461000" y="26042"/>
                      <a:pt x="5461000" y="35442"/>
                    </a:cubicBezTo>
                    <a:lnTo>
                      <a:pt x="5461000" y="1361558"/>
                    </a:lnTo>
                    <a:cubicBezTo>
                      <a:pt x="5461000" y="1370958"/>
                      <a:pt x="5457266" y="1379973"/>
                      <a:pt x="5450619" y="1386619"/>
                    </a:cubicBezTo>
                    <a:cubicBezTo>
                      <a:pt x="5443973" y="1393266"/>
                      <a:pt x="5434958" y="1397000"/>
                      <a:pt x="5425558" y="1397000"/>
                    </a:cubicBezTo>
                    <a:lnTo>
                      <a:pt x="35442" y="1397000"/>
                    </a:lnTo>
                    <a:cubicBezTo>
                      <a:pt x="26042" y="1397000"/>
                      <a:pt x="17027" y="1393266"/>
                      <a:pt x="10381" y="1386619"/>
                    </a:cubicBezTo>
                    <a:cubicBezTo>
                      <a:pt x="3734" y="1379973"/>
                      <a:pt x="0" y="1370958"/>
                      <a:pt x="0" y="1361558"/>
                    </a:cubicBezTo>
                    <a:lnTo>
                      <a:pt x="0" y="35442"/>
                    </a:lnTo>
                    <a:cubicBezTo>
                      <a:pt x="0" y="26042"/>
                      <a:pt x="3734" y="17027"/>
                      <a:pt x="10381" y="10381"/>
                    </a:cubicBezTo>
                    <a:cubicBezTo>
                      <a:pt x="17027" y="3734"/>
                      <a:pt x="26042" y="0"/>
                      <a:pt x="3544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9525"/>
                <a:ext cx="5461000" cy="13874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732"/>
                  </a:lnSpc>
                </a:pPr>
                <a:r>
                  <a:rPr lang="en-US" sz="1575" b="true">
                    <a:solidFill>
                      <a:srgbClr val="101828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Returning users</a:t>
                </a:r>
              </a:p>
            </p:txBody>
          </p:sp>
        </p:grpSp>
      </p:grpSp>
      <p:grpSp>
        <p:nvGrpSpPr>
          <p:cNvPr name="Group 54" id="54"/>
          <p:cNvGrpSpPr/>
          <p:nvPr/>
        </p:nvGrpSpPr>
        <p:grpSpPr>
          <a:xfrm rot="0">
            <a:off x="6477000" y="6238875"/>
            <a:ext cx="4972050" cy="1047750"/>
            <a:chOff x="0" y="0"/>
            <a:chExt cx="6629400" cy="1397000"/>
          </a:xfrm>
        </p:grpSpPr>
        <p:grpSp>
          <p:nvGrpSpPr>
            <p:cNvPr name="Group 55" id="55"/>
            <p:cNvGrpSpPr/>
            <p:nvPr/>
          </p:nvGrpSpPr>
          <p:grpSpPr>
            <a:xfrm rot="0">
              <a:off x="0" y="228600"/>
              <a:ext cx="914400" cy="914400"/>
              <a:chOff x="0" y="0"/>
              <a:chExt cx="914400" cy="914400"/>
            </a:xfrm>
          </p:grpSpPr>
          <p:sp>
            <p:nvSpPr>
              <p:cNvPr name="Freeform 56" id="56"/>
              <p:cNvSpPr/>
              <p:nvPr/>
            </p:nvSpPr>
            <p:spPr>
              <a:xfrm flipH="false" flipV="false" rot="0">
                <a:off x="0" y="0"/>
                <a:ext cx="914400" cy="914400"/>
              </a:xfrm>
              <a:custGeom>
                <a:avLst/>
                <a:gdLst/>
                <a:ahLst/>
                <a:cxnLst/>
                <a:rect r="r" b="b" t="t" l="l"/>
                <a:pathLst>
                  <a:path h="914400" w="914400">
                    <a:moveTo>
                      <a:pt x="457200" y="0"/>
                    </a:moveTo>
                    <a:cubicBezTo>
                      <a:pt x="709705" y="0"/>
                      <a:pt x="914400" y="204695"/>
                      <a:pt x="914400" y="457200"/>
                    </a:cubicBezTo>
                    <a:cubicBezTo>
                      <a:pt x="914400" y="709705"/>
                      <a:pt x="709705" y="914400"/>
                      <a:pt x="457200" y="914400"/>
                    </a:cubicBezTo>
                    <a:cubicBezTo>
                      <a:pt x="204695" y="914400"/>
                      <a:pt x="0" y="709705"/>
                      <a:pt x="0" y="457200"/>
                    </a:cubicBezTo>
                    <a:cubicBezTo>
                      <a:pt x="0" y="204695"/>
                      <a:pt x="204695" y="0"/>
                      <a:pt x="457200" y="0"/>
                    </a:cubicBezTo>
                    <a:close/>
                  </a:path>
                </a:pathLst>
              </a:custGeom>
              <a:solidFill>
                <a:srgbClr val="10182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7" id="57"/>
              <p:cNvSpPr txBox="true"/>
              <p:nvPr/>
            </p:nvSpPr>
            <p:spPr>
              <a:xfrm>
                <a:off x="0" y="-38100"/>
                <a:ext cx="914400" cy="952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  <a:r>
                  <a:rPr lang="en-US" sz="1800" b="true">
                    <a:solidFill>
                      <a:srgbClr val="FFFFFF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8</a:t>
                </a:r>
              </a:p>
            </p:txBody>
          </p:sp>
        </p:grpSp>
        <p:grpSp>
          <p:nvGrpSpPr>
            <p:cNvPr name="Group 58" id="58"/>
            <p:cNvGrpSpPr/>
            <p:nvPr/>
          </p:nvGrpSpPr>
          <p:grpSpPr>
            <a:xfrm rot="0">
              <a:off x="1168400" y="0"/>
              <a:ext cx="5461000" cy="1397000"/>
              <a:chOff x="0" y="0"/>
              <a:chExt cx="5461000" cy="1397000"/>
            </a:xfrm>
          </p:grpSpPr>
          <p:sp>
            <p:nvSpPr>
              <p:cNvPr name="Freeform 59" id="59"/>
              <p:cNvSpPr/>
              <p:nvPr/>
            </p:nvSpPr>
            <p:spPr>
              <a:xfrm flipH="false" flipV="false" rot="0">
                <a:off x="0" y="0"/>
                <a:ext cx="5461000" cy="1397000"/>
              </a:xfrm>
              <a:custGeom>
                <a:avLst/>
                <a:gdLst/>
                <a:ahLst/>
                <a:cxnLst/>
                <a:rect r="r" b="b" t="t" l="l"/>
                <a:pathLst>
                  <a:path h="1397000" w="5461000">
                    <a:moveTo>
                      <a:pt x="35442" y="0"/>
                    </a:moveTo>
                    <a:lnTo>
                      <a:pt x="5425558" y="0"/>
                    </a:lnTo>
                    <a:cubicBezTo>
                      <a:pt x="5434958" y="0"/>
                      <a:pt x="5443973" y="3734"/>
                      <a:pt x="5450619" y="10381"/>
                    </a:cubicBezTo>
                    <a:cubicBezTo>
                      <a:pt x="5457266" y="17027"/>
                      <a:pt x="5461000" y="26042"/>
                      <a:pt x="5461000" y="35442"/>
                    </a:cubicBezTo>
                    <a:lnTo>
                      <a:pt x="5461000" y="1361558"/>
                    </a:lnTo>
                    <a:cubicBezTo>
                      <a:pt x="5461000" y="1370958"/>
                      <a:pt x="5457266" y="1379973"/>
                      <a:pt x="5450619" y="1386619"/>
                    </a:cubicBezTo>
                    <a:cubicBezTo>
                      <a:pt x="5443973" y="1393266"/>
                      <a:pt x="5434958" y="1397000"/>
                      <a:pt x="5425558" y="1397000"/>
                    </a:cubicBezTo>
                    <a:lnTo>
                      <a:pt x="35442" y="1397000"/>
                    </a:lnTo>
                    <a:cubicBezTo>
                      <a:pt x="26042" y="1397000"/>
                      <a:pt x="17027" y="1393266"/>
                      <a:pt x="10381" y="1386619"/>
                    </a:cubicBezTo>
                    <a:cubicBezTo>
                      <a:pt x="3734" y="1379973"/>
                      <a:pt x="0" y="1370958"/>
                      <a:pt x="0" y="1361558"/>
                    </a:cubicBezTo>
                    <a:lnTo>
                      <a:pt x="0" y="35442"/>
                    </a:lnTo>
                    <a:cubicBezTo>
                      <a:pt x="0" y="26042"/>
                      <a:pt x="3734" y="17027"/>
                      <a:pt x="10381" y="10381"/>
                    </a:cubicBezTo>
                    <a:cubicBezTo>
                      <a:pt x="17027" y="3734"/>
                      <a:pt x="26042" y="0"/>
                      <a:pt x="3544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0" id="60"/>
              <p:cNvSpPr txBox="true"/>
              <p:nvPr/>
            </p:nvSpPr>
            <p:spPr>
              <a:xfrm>
                <a:off x="0" y="9525"/>
                <a:ext cx="5461000" cy="13874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732"/>
                  </a:lnSpc>
                </a:pPr>
                <a:r>
                  <a:rPr lang="en-US" sz="1575" b="true">
                    <a:solidFill>
                      <a:srgbClr val="101828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Professor / mentor contributors</a:t>
                </a:r>
              </a:p>
            </p:txBody>
          </p:sp>
        </p:grpSp>
      </p:grpSp>
      <p:grpSp>
        <p:nvGrpSpPr>
          <p:cNvPr name="Group 61" id="61"/>
          <p:cNvGrpSpPr/>
          <p:nvPr/>
        </p:nvGrpSpPr>
        <p:grpSpPr>
          <a:xfrm rot="0">
            <a:off x="12096750" y="6238875"/>
            <a:ext cx="4972050" cy="1047750"/>
            <a:chOff x="0" y="0"/>
            <a:chExt cx="6629400" cy="1397000"/>
          </a:xfrm>
        </p:grpSpPr>
        <p:grpSp>
          <p:nvGrpSpPr>
            <p:cNvPr name="Group 62" id="62"/>
            <p:cNvGrpSpPr/>
            <p:nvPr/>
          </p:nvGrpSpPr>
          <p:grpSpPr>
            <a:xfrm rot="0">
              <a:off x="0" y="228600"/>
              <a:ext cx="914400" cy="914400"/>
              <a:chOff x="0" y="0"/>
              <a:chExt cx="914400" cy="914400"/>
            </a:xfrm>
          </p:grpSpPr>
          <p:sp>
            <p:nvSpPr>
              <p:cNvPr name="Freeform 63" id="63"/>
              <p:cNvSpPr/>
              <p:nvPr/>
            </p:nvSpPr>
            <p:spPr>
              <a:xfrm flipH="false" flipV="false" rot="0">
                <a:off x="0" y="0"/>
                <a:ext cx="914400" cy="914400"/>
              </a:xfrm>
              <a:custGeom>
                <a:avLst/>
                <a:gdLst/>
                <a:ahLst/>
                <a:cxnLst/>
                <a:rect r="r" b="b" t="t" l="l"/>
                <a:pathLst>
                  <a:path h="914400" w="914400">
                    <a:moveTo>
                      <a:pt x="457200" y="0"/>
                    </a:moveTo>
                    <a:cubicBezTo>
                      <a:pt x="709705" y="0"/>
                      <a:pt x="914400" y="204695"/>
                      <a:pt x="914400" y="457200"/>
                    </a:cubicBezTo>
                    <a:cubicBezTo>
                      <a:pt x="914400" y="709705"/>
                      <a:pt x="709705" y="914400"/>
                      <a:pt x="457200" y="914400"/>
                    </a:cubicBezTo>
                    <a:cubicBezTo>
                      <a:pt x="204695" y="914400"/>
                      <a:pt x="0" y="709705"/>
                      <a:pt x="0" y="457200"/>
                    </a:cubicBezTo>
                    <a:cubicBezTo>
                      <a:pt x="0" y="204695"/>
                      <a:pt x="204695" y="0"/>
                      <a:pt x="457200" y="0"/>
                    </a:cubicBezTo>
                    <a:close/>
                  </a:path>
                </a:pathLst>
              </a:custGeom>
              <a:solidFill>
                <a:srgbClr val="10182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4" id="64"/>
              <p:cNvSpPr txBox="true"/>
              <p:nvPr/>
            </p:nvSpPr>
            <p:spPr>
              <a:xfrm>
                <a:off x="0" y="-38100"/>
                <a:ext cx="914400" cy="952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  <a:r>
                  <a:rPr lang="en-US" sz="1800" b="true">
                    <a:solidFill>
                      <a:srgbClr val="FFFFFF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9</a:t>
                </a:r>
              </a:p>
            </p:txBody>
          </p:sp>
        </p:grpSp>
        <p:grpSp>
          <p:nvGrpSpPr>
            <p:cNvPr name="Group 65" id="65"/>
            <p:cNvGrpSpPr/>
            <p:nvPr/>
          </p:nvGrpSpPr>
          <p:grpSpPr>
            <a:xfrm rot="0">
              <a:off x="1168400" y="0"/>
              <a:ext cx="5461000" cy="1397000"/>
              <a:chOff x="0" y="0"/>
              <a:chExt cx="5461000" cy="1397000"/>
            </a:xfrm>
          </p:grpSpPr>
          <p:sp>
            <p:nvSpPr>
              <p:cNvPr name="Freeform 66" id="66"/>
              <p:cNvSpPr/>
              <p:nvPr/>
            </p:nvSpPr>
            <p:spPr>
              <a:xfrm flipH="false" flipV="false" rot="0">
                <a:off x="0" y="0"/>
                <a:ext cx="5461000" cy="1397000"/>
              </a:xfrm>
              <a:custGeom>
                <a:avLst/>
                <a:gdLst/>
                <a:ahLst/>
                <a:cxnLst/>
                <a:rect r="r" b="b" t="t" l="l"/>
                <a:pathLst>
                  <a:path h="1397000" w="5461000">
                    <a:moveTo>
                      <a:pt x="35442" y="0"/>
                    </a:moveTo>
                    <a:lnTo>
                      <a:pt x="5425558" y="0"/>
                    </a:lnTo>
                    <a:cubicBezTo>
                      <a:pt x="5434958" y="0"/>
                      <a:pt x="5443973" y="3734"/>
                      <a:pt x="5450619" y="10381"/>
                    </a:cubicBezTo>
                    <a:cubicBezTo>
                      <a:pt x="5457266" y="17027"/>
                      <a:pt x="5461000" y="26042"/>
                      <a:pt x="5461000" y="35442"/>
                    </a:cubicBezTo>
                    <a:lnTo>
                      <a:pt x="5461000" y="1361558"/>
                    </a:lnTo>
                    <a:cubicBezTo>
                      <a:pt x="5461000" y="1370958"/>
                      <a:pt x="5457266" y="1379973"/>
                      <a:pt x="5450619" y="1386619"/>
                    </a:cubicBezTo>
                    <a:cubicBezTo>
                      <a:pt x="5443973" y="1393266"/>
                      <a:pt x="5434958" y="1397000"/>
                      <a:pt x="5425558" y="1397000"/>
                    </a:cubicBezTo>
                    <a:lnTo>
                      <a:pt x="35442" y="1397000"/>
                    </a:lnTo>
                    <a:cubicBezTo>
                      <a:pt x="26042" y="1397000"/>
                      <a:pt x="17027" y="1393266"/>
                      <a:pt x="10381" y="1386619"/>
                    </a:cubicBezTo>
                    <a:cubicBezTo>
                      <a:pt x="3734" y="1379973"/>
                      <a:pt x="0" y="1370958"/>
                      <a:pt x="0" y="1361558"/>
                    </a:cubicBezTo>
                    <a:lnTo>
                      <a:pt x="0" y="35442"/>
                    </a:lnTo>
                    <a:cubicBezTo>
                      <a:pt x="0" y="26042"/>
                      <a:pt x="3734" y="17027"/>
                      <a:pt x="10381" y="10381"/>
                    </a:cubicBezTo>
                    <a:cubicBezTo>
                      <a:pt x="17027" y="3734"/>
                      <a:pt x="26042" y="0"/>
                      <a:pt x="3544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7" id="67"/>
              <p:cNvSpPr txBox="true"/>
              <p:nvPr/>
            </p:nvSpPr>
            <p:spPr>
              <a:xfrm>
                <a:off x="0" y="9525"/>
                <a:ext cx="5461000" cy="13874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732"/>
                  </a:lnSpc>
                </a:pPr>
                <a:r>
                  <a:rPr lang="en-US" sz="1575" b="true">
                    <a:solidFill>
                      <a:srgbClr val="101828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Willingness to pay</a:t>
                </a:r>
              </a:p>
            </p:txBody>
          </p:sp>
        </p:grpSp>
      </p:grpSp>
      <p:sp>
        <p:nvSpPr>
          <p:cNvPr name="TextBox 68" id="68"/>
          <p:cNvSpPr txBox="true"/>
          <p:nvPr/>
        </p:nvSpPr>
        <p:spPr>
          <a:xfrm rot="0">
            <a:off x="5238750" y="8410575"/>
            <a:ext cx="7810500" cy="287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5"/>
              </a:lnSpc>
            </a:pPr>
            <a:r>
              <a:rPr lang="en-US" sz="2100" b="true">
                <a:solidFill>
                  <a:srgbClr val="10182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Track learning signals first — not vanity metrics.</a:t>
            </a:r>
          </a:p>
        </p:txBody>
      </p:sp>
      <p:sp>
        <p:nvSpPr>
          <p:cNvPr name="AutoShape 69" id="69"/>
          <p:cNvSpPr/>
          <p:nvPr/>
        </p:nvSpPr>
        <p:spPr>
          <a:xfrm>
            <a:off x="857250" y="9601200"/>
            <a:ext cx="16573500" cy="0"/>
          </a:xfrm>
          <a:prstGeom prst="line">
            <a:avLst/>
          </a:prstGeom>
          <a:ln cap="flat" w="9525">
            <a:solidFill>
              <a:srgbClr val="D9E1E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0" id="70"/>
          <p:cNvSpPr txBox="true"/>
          <p:nvPr/>
        </p:nvSpPr>
        <p:spPr>
          <a:xfrm rot="0">
            <a:off x="857250" y="9782175"/>
            <a:ext cx="2857500" cy="184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0"/>
              </a:lnSpc>
            </a:pPr>
            <a:r>
              <a:rPr lang="en-US" sz="1200">
                <a:solidFill>
                  <a:srgbClr val="667085"/>
                </a:solidFill>
                <a:latin typeface="Open Sans"/>
                <a:ea typeface="Open Sans"/>
                <a:cs typeface="Open Sans"/>
                <a:sym typeface="Open Sans"/>
              </a:rPr>
              <a:t>PROJECTSFORGE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6764000" y="9782175"/>
            <a:ext cx="666750" cy="184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60"/>
              </a:lnSpc>
            </a:pPr>
            <a:r>
              <a:rPr lang="en-US" sz="1200">
                <a:solidFill>
                  <a:srgbClr val="667085"/>
                </a:solidFill>
                <a:latin typeface="Open Sans"/>
                <a:ea typeface="Open Sans"/>
                <a:cs typeface="Open Sans"/>
                <a:sym typeface="Open San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39125" y="1095375"/>
            <a:ext cx="1809750" cy="857250"/>
            <a:chOff x="0" y="0"/>
            <a:chExt cx="2413000" cy="1143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13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2413000">
                  <a:moveTo>
                    <a:pt x="80211" y="0"/>
                  </a:moveTo>
                  <a:lnTo>
                    <a:pt x="2332789" y="0"/>
                  </a:lnTo>
                  <a:cubicBezTo>
                    <a:pt x="2354063" y="0"/>
                    <a:pt x="2374465" y="8451"/>
                    <a:pt x="2389507" y="23493"/>
                  </a:cubicBezTo>
                  <a:cubicBezTo>
                    <a:pt x="2404549" y="38536"/>
                    <a:pt x="2413000" y="58937"/>
                    <a:pt x="2413000" y="80211"/>
                  </a:cubicBezTo>
                  <a:lnTo>
                    <a:pt x="2413000" y="1062789"/>
                  </a:lnTo>
                  <a:cubicBezTo>
                    <a:pt x="2413000" y="1084063"/>
                    <a:pt x="2404549" y="1104464"/>
                    <a:pt x="2389507" y="1119507"/>
                  </a:cubicBezTo>
                  <a:cubicBezTo>
                    <a:pt x="2374465" y="1134549"/>
                    <a:pt x="2354063" y="1143000"/>
                    <a:pt x="2332789" y="1143000"/>
                  </a:cubicBezTo>
                  <a:lnTo>
                    <a:pt x="80211" y="1143000"/>
                  </a:lnTo>
                  <a:cubicBezTo>
                    <a:pt x="58937" y="1143000"/>
                    <a:pt x="38536" y="1134549"/>
                    <a:pt x="23493" y="1119507"/>
                  </a:cubicBezTo>
                  <a:cubicBezTo>
                    <a:pt x="8451" y="1104464"/>
                    <a:pt x="0" y="1084063"/>
                    <a:pt x="0" y="1062789"/>
                  </a:cubicBezTo>
                  <a:lnTo>
                    <a:pt x="0" y="80211"/>
                  </a:lnTo>
                  <a:cubicBezTo>
                    <a:pt x="0" y="58937"/>
                    <a:pt x="8451" y="38536"/>
                    <a:pt x="23493" y="23493"/>
                  </a:cubicBezTo>
                  <a:cubicBezTo>
                    <a:pt x="38536" y="8451"/>
                    <a:pt x="58937" y="0"/>
                    <a:pt x="80211" y="0"/>
                  </a:cubicBezTo>
                  <a:close/>
                </a:path>
              </a:pathLst>
            </a:custGeom>
            <a:solidFill>
              <a:srgbClr val="13243A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2413000" cy="1123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67"/>
                </a:lnSpc>
              </a:pPr>
              <a:r>
                <a:rPr lang="en-US" sz="142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Students</a:t>
              </a:r>
            </a:p>
          </p:txBody>
        </p:sp>
      </p:grpSp>
      <p:sp>
        <p:nvSpPr>
          <p:cNvPr name="AutoShape 5" id="5"/>
          <p:cNvSpPr/>
          <p:nvPr/>
        </p:nvSpPr>
        <p:spPr>
          <a:xfrm flipV="true">
            <a:off x="9144000" y="1524000"/>
            <a:ext cx="0" cy="3143250"/>
          </a:xfrm>
          <a:prstGeom prst="line">
            <a:avLst/>
          </a:prstGeom>
          <a:ln cap="rnd" w="38100">
            <a:solidFill>
              <a:srgbClr val="254A73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6" id="6"/>
          <p:cNvGrpSpPr/>
          <p:nvPr/>
        </p:nvGrpSpPr>
        <p:grpSpPr>
          <a:xfrm rot="0">
            <a:off x="11912656" y="1830756"/>
            <a:ext cx="1809750" cy="857250"/>
            <a:chOff x="0" y="0"/>
            <a:chExt cx="2413000" cy="1143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13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2413000">
                  <a:moveTo>
                    <a:pt x="80211" y="0"/>
                  </a:moveTo>
                  <a:lnTo>
                    <a:pt x="2332789" y="0"/>
                  </a:lnTo>
                  <a:cubicBezTo>
                    <a:pt x="2354063" y="0"/>
                    <a:pt x="2374465" y="8451"/>
                    <a:pt x="2389507" y="23493"/>
                  </a:cubicBezTo>
                  <a:cubicBezTo>
                    <a:pt x="2404549" y="38536"/>
                    <a:pt x="2413000" y="58937"/>
                    <a:pt x="2413000" y="80211"/>
                  </a:cubicBezTo>
                  <a:lnTo>
                    <a:pt x="2413000" y="1062789"/>
                  </a:lnTo>
                  <a:cubicBezTo>
                    <a:pt x="2413000" y="1084063"/>
                    <a:pt x="2404549" y="1104464"/>
                    <a:pt x="2389507" y="1119507"/>
                  </a:cubicBezTo>
                  <a:cubicBezTo>
                    <a:pt x="2374465" y="1134549"/>
                    <a:pt x="2354063" y="1143000"/>
                    <a:pt x="2332789" y="1143000"/>
                  </a:cubicBezTo>
                  <a:lnTo>
                    <a:pt x="80211" y="1143000"/>
                  </a:lnTo>
                  <a:cubicBezTo>
                    <a:pt x="58937" y="1143000"/>
                    <a:pt x="38536" y="1134549"/>
                    <a:pt x="23493" y="1119507"/>
                  </a:cubicBezTo>
                  <a:cubicBezTo>
                    <a:pt x="8451" y="1104464"/>
                    <a:pt x="0" y="1084063"/>
                    <a:pt x="0" y="1062789"/>
                  </a:cubicBezTo>
                  <a:lnTo>
                    <a:pt x="0" y="80211"/>
                  </a:lnTo>
                  <a:cubicBezTo>
                    <a:pt x="0" y="58937"/>
                    <a:pt x="8451" y="38536"/>
                    <a:pt x="23493" y="23493"/>
                  </a:cubicBezTo>
                  <a:cubicBezTo>
                    <a:pt x="38536" y="8451"/>
                    <a:pt x="58937" y="0"/>
                    <a:pt x="80211" y="0"/>
                  </a:cubicBezTo>
                  <a:close/>
                </a:path>
              </a:pathLst>
            </a:custGeom>
            <a:solidFill>
              <a:srgbClr val="13243A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19050"/>
              <a:ext cx="2413000" cy="1123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67"/>
                </a:lnSpc>
              </a:pPr>
              <a:r>
                <a:rPr lang="en-US" sz="142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Professors</a:t>
              </a:r>
            </a:p>
          </p:txBody>
        </p:sp>
      </p:grpSp>
      <p:sp>
        <p:nvSpPr>
          <p:cNvPr name="AutoShape 9" id="9"/>
          <p:cNvSpPr/>
          <p:nvPr/>
        </p:nvSpPr>
        <p:spPr>
          <a:xfrm flipV="true">
            <a:off x="9144000" y="2259381"/>
            <a:ext cx="3673531" cy="2407869"/>
          </a:xfrm>
          <a:prstGeom prst="line">
            <a:avLst/>
          </a:prstGeom>
          <a:ln cap="rnd" w="38100">
            <a:solidFill>
              <a:srgbClr val="254A73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0" id="10"/>
          <p:cNvGrpSpPr/>
          <p:nvPr/>
        </p:nvGrpSpPr>
        <p:grpSpPr>
          <a:xfrm rot="0">
            <a:off x="13867301" y="3692805"/>
            <a:ext cx="1809750" cy="857250"/>
            <a:chOff x="0" y="0"/>
            <a:chExt cx="2413000" cy="1143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13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2413000">
                  <a:moveTo>
                    <a:pt x="80211" y="0"/>
                  </a:moveTo>
                  <a:lnTo>
                    <a:pt x="2332789" y="0"/>
                  </a:lnTo>
                  <a:cubicBezTo>
                    <a:pt x="2354063" y="0"/>
                    <a:pt x="2374465" y="8451"/>
                    <a:pt x="2389507" y="23493"/>
                  </a:cubicBezTo>
                  <a:cubicBezTo>
                    <a:pt x="2404549" y="38536"/>
                    <a:pt x="2413000" y="58937"/>
                    <a:pt x="2413000" y="80211"/>
                  </a:cubicBezTo>
                  <a:lnTo>
                    <a:pt x="2413000" y="1062789"/>
                  </a:lnTo>
                  <a:cubicBezTo>
                    <a:pt x="2413000" y="1084063"/>
                    <a:pt x="2404549" y="1104464"/>
                    <a:pt x="2389507" y="1119507"/>
                  </a:cubicBezTo>
                  <a:cubicBezTo>
                    <a:pt x="2374465" y="1134549"/>
                    <a:pt x="2354063" y="1143000"/>
                    <a:pt x="2332789" y="1143000"/>
                  </a:cubicBezTo>
                  <a:lnTo>
                    <a:pt x="80211" y="1143000"/>
                  </a:lnTo>
                  <a:cubicBezTo>
                    <a:pt x="58937" y="1143000"/>
                    <a:pt x="38536" y="1134549"/>
                    <a:pt x="23493" y="1119507"/>
                  </a:cubicBezTo>
                  <a:cubicBezTo>
                    <a:pt x="8451" y="1104464"/>
                    <a:pt x="0" y="1084063"/>
                    <a:pt x="0" y="1062789"/>
                  </a:cubicBezTo>
                  <a:lnTo>
                    <a:pt x="0" y="80211"/>
                  </a:lnTo>
                  <a:cubicBezTo>
                    <a:pt x="0" y="58937"/>
                    <a:pt x="8451" y="38536"/>
                    <a:pt x="23493" y="23493"/>
                  </a:cubicBezTo>
                  <a:cubicBezTo>
                    <a:pt x="38536" y="8451"/>
                    <a:pt x="58937" y="0"/>
                    <a:pt x="80211" y="0"/>
                  </a:cubicBezTo>
                  <a:close/>
                </a:path>
              </a:pathLst>
            </a:custGeom>
            <a:solidFill>
              <a:srgbClr val="13243A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19050"/>
              <a:ext cx="2413000" cy="1123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67"/>
                </a:lnSpc>
              </a:pPr>
              <a:r>
                <a:rPr lang="en-US" sz="142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Mentors</a:t>
              </a:r>
            </a:p>
          </p:txBody>
        </p:sp>
      </p:grpSp>
      <p:sp>
        <p:nvSpPr>
          <p:cNvPr name="AutoShape 13" id="13"/>
          <p:cNvSpPr/>
          <p:nvPr/>
        </p:nvSpPr>
        <p:spPr>
          <a:xfrm flipV="true">
            <a:off x="9144000" y="4121430"/>
            <a:ext cx="5628176" cy="545820"/>
          </a:xfrm>
          <a:prstGeom prst="line">
            <a:avLst/>
          </a:prstGeom>
          <a:ln cap="rnd" w="38100">
            <a:solidFill>
              <a:srgbClr val="254A73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4" id="14"/>
          <p:cNvGrpSpPr/>
          <p:nvPr/>
        </p:nvGrpSpPr>
        <p:grpSpPr>
          <a:xfrm rot="0">
            <a:off x="13188460" y="5810250"/>
            <a:ext cx="1809750" cy="857250"/>
            <a:chOff x="0" y="0"/>
            <a:chExt cx="2413000" cy="1143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13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2413000">
                  <a:moveTo>
                    <a:pt x="80211" y="0"/>
                  </a:moveTo>
                  <a:lnTo>
                    <a:pt x="2332789" y="0"/>
                  </a:lnTo>
                  <a:cubicBezTo>
                    <a:pt x="2354063" y="0"/>
                    <a:pt x="2374465" y="8451"/>
                    <a:pt x="2389507" y="23493"/>
                  </a:cubicBezTo>
                  <a:cubicBezTo>
                    <a:pt x="2404549" y="38536"/>
                    <a:pt x="2413000" y="58937"/>
                    <a:pt x="2413000" y="80211"/>
                  </a:cubicBezTo>
                  <a:lnTo>
                    <a:pt x="2413000" y="1062789"/>
                  </a:lnTo>
                  <a:cubicBezTo>
                    <a:pt x="2413000" y="1084063"/>
                    <a:pt x="2404549" y="1104464"/>
                    <a:pt x="2389507" y="1119507"/>
                  </a:cubicBezTo>
                  <a:cubicBezTo>
                    <a:pt x="2374465" y="1134549"/>
                    <a:pt x="2354063" y="1143000"/>
                    <a:pt x="2332789" y="1143000"/>
                  </a:cubicBezTo>
                  <a:lnTo>
                    <a:pt x="80211" y="1143000"/>
                  </a:lnTo>
                  <a:cubicBezTo>
                    <a:pt x="58937" y="1143000"/>
                    <a:pt x="38536" y="1134549"/>
                    <a:pt x="23493" y="1119507"/>
                  </a:cubicBezTo>
                  <a:cubicBezTo>
                    <a:pt x="8451" y="1104464"/>
                    <a:pt x="0" y="1084063"/>
                    <a:pt x="0" y="1062789"/>
                  </a:cubicBezTo>
                  <a:lnTo>
                    <a:pt x="0" y="80211"/>
                  </a:lnTo>
                  <a:cubicBezTo>
                    <a:pt x="0" y="58937"/>
                    <a:pt x="8451" y="38536"/>
                    <a:pt x="23493" y="23493"/>
                  </a:cubicBezTo>
                  <a:cubicBezTo>
                    <a:pt x="38536" y="8451"/>
                    <a:pt x="58937" y="0"/>
                    <a:pt x="80211" y="0"/>
                  </a:cubicBezTo>
                  <a:close/>
                </a:path>
              </a:pathLst>
            </a:custGeom>
            <a:solidFill>
              <a:srgbClr val="13243A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19050"/>
              <a:ext cx="2413000" cy="1123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67"/>
                </a:lnSpc>
              </a:pPr>
              <a:r>
                <a:rPr lang="en-US" sz="142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Industry</a:t>
              </a:r>
            </a:p>
          </p:txBody>
        </p:sp>
      </p:grpSp>
      <p:sp>
        <p:nvSpPr>
          <p:cNvPr name="AutoShape 17" id="17"/>
          <p:cNvSpPr/>
          <p:nvPr/>
        </p:nvSpPr>
        <p:spPr>
          <a:xfrm>
            <a:off x="9144000" y="4667250"/>
            <a:ext cx="4949335" cy="1571625"/>
          </a:xfrm>
          <a:prstGeom prst="line">
            <a:avLst/>
          </a:prstGeom>
          <a:ln cap="rnd" w="38100">
            <a:solidFill>
              <a:srgbClr val="254A73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8" id="18"/>
          <p:cNvGrpSpPr/>
          <p:nvPr/>
        </p:nvGrpSpPr>
        <p:grpSpPr>
          <a:xfrm rot="0">
            <a:off x="10193770" y="7192314"/>
            <a:ext cx="1809750" cy="857250"/>
            <a:chOff x="0" y="0"/>
            <a:chExt cx="2413000" cy="1143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413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2413000">
                  <a:moveTo>
                    <a:pt x="80211" y="0"/>
                  </a:moveTo>
                  <a:lnTo>
                    <a:pt x="2332789" y="0"/>
                  </a:lnTo>
                  <a:cubicBezTo>
                    <a:pt x="2354063" y="0"/>
                    <a:pt x="2374465" y="8451"/>
                    <a:pt x="2389507" y="23493"/>
                  </a:cubicBezTo>
                  <a:cubicBezTo>
                    <a:pt x="2404549" y="38536"/>
                    <a:pt x="2413000" y="58937"/>
                    <a:pt x="2413000" y="80211"/>
                  </a:cubicBezTo>
                  <a:lnTo>
                    <a:pt x="2413000" y="1062789"/>
                  </a:lnTo>
                  <a:cubicBezTo>
                    <a:pt x="2413000" y="1084063"/>
                    <a:pt x="2404549" y="1104464"/>
                    <a:pt x="2389507" y="1119507"/>
                  </a:cubicBezTo>
                  <a:cubicBezTo>
                    <a:pt x="2374465" y="1134549"/>
                    <a:pt x="2354063" y="1143000"/>
                    <a:pt x="2332789" y="1143000"/>
                  </a:cubicBezTo>
                  <a:lnTo>
                    <a:pt x="80211" y="1143000"/>
                  </a:lnTo>
                  <a:cubicBezTo>
                    <a:pt x="58937" y="1143000"/>
                    <a:pt x="38536" y="1134549"/>
                    <a:pt x="23493" y="1119507"/>
                  </a:cubicBezTo>
                  <a:cubicBezTo>
                    <a:pt x="8451" y="1104464"/>
                    <a:pt x="0" y="1084063"/>
                    <a:pt x="0" y="1062789"/>
                  </a:cubicBezTo>
                  <a:lnTo>
                    <a:pt x="0" y="80211"/>
                  </a:lnTo>
                  <a:cubicBezTo>
                    <a:pt x="0" y="58937"/>
                    <a:pt x="8451" y="38536"/>
                    <a:pt x="23493" y="23493"/>
                  </a:cubicBezTo>
                  <a:cubicBezTo>
                    <a:pt x="38536" y="8451"/>
                    <a:pt x="58937" y="0"/>
                    <a:pt x="80211" y="0"/>
                  </a:cubicBezTo>
                  <a:close/>
                </a:path>
              </a:pathLst>
            </a:custGeom>
            <a:solidFill>
              <a:srgbClr val="0E315D"/>
            </a:soli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19050"/>
              <a:ext cx="2413000" cy="1123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67"/>
                </a:lnSpc>
              </a:pPr>
              <a:r>
                <a:rPr lang="en-US" sz="142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AI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>
            <a:off x="9144000" y="4667250"/>
            <a:ext cx="1954645" cy="2953689"/>
          </a:xfrm>
          <a:prstGeom prst="line">
            <a:avLst/>
          </a:prstGeom>
          <a:ln cap="rnd" w="38100">
            <a:solidFill>
              <a:srgbClr val="254A73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2" id="22"/>
          <p:cNvGrpSpPr/>
          <p:nvPr/>
        </p:nvGrpSpPr>
        <p:grpSpPr>
          <a:xfrm rot="0">
            <a:off x="6284480" y="7192314"/>
            <a:ext cx="1809750" cy="857250"/>
            <a:chOff x="0" y="0"/>
            <a:chExt cx="2413000" cy="1143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413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2413000">
                  <a:moveTo>
                    <a:pt x="80211" y="0"/>
                  </a:moveTo>
                  <a:lnTo>
                    <a:pt x="2332789" y="0"/>
                  </a:lnTo>
                  <a:cubicBezTo>
                    <a:pt x="2354063" y="0"/>
                    <a:pt x="2374465" y="8451"/>
                    <a:pt x="2389507" y="23493"/>
                  </a:cubicBezTo>
                  <a:cubicBezTo>
                    <a:pt x="2404549" y="38536"/>
                    <a:pt x="2413000" y="58937"/>
                    <a:pt x="2413000" y="80211"/>
                  </a:cubicBezTo>
                  <a:lnTo>
                    <a:pt x="2413000" y="1062789"/>
                  </a:lnTo>
                  <a:cubicBezTo>
                    <a:pt x="2413000" y="1084063"/>
                    <a:pt x="2404549" y="1104464"/>
                    <a:pt x="2389507" y="1119507"/>
                  </a:cubicBezTo>
                  <a:cubicBezTo>
                    <a:pt x="2374465" y="1134549"/>
                    <a:pt x="2354063" y="1143000"/>
                    <a:pt x="2332789" y="1143000"/>
                  </a:cubicBezTo>
                  <a:lnTo>
                    <a:pt x="80211" y="1143000"/>
                  </a:lnTo>
                  <a:cubicBezTo>
                    <a:pt x="58937" y="1143000"/>
                    <a:pt x="38536" y="1134549"/>
                    <a:pt x="23493" y="1119507"/>
                  </a:cubicBezTo>
                  <a:cubicBezTo>
                    <a:pt x="8451" y="1104464"/>
                    <a:pt x="0" y="1084063"/>
                    <a:pt x="0" y="1062789"/>
                  </a:cubicBezTo>
                  <a:lnTo>
                    <a:pt x="0" y="80211"/>
                  </a:lnTo>
                  <a:cubicBezTo>
                    <a:pt x="0" y="58937"/>
                    <a:pt x="8451" y="38536"/>
                    <a:pt x="23493" y="23493"/>
                  </a:cubicBezTo>
                  <a:cubicBezTo>
                    <a:pt x="38536" y="8451"/>
                    <a:pt x="58937" y="0"/>
                    <a:pt x="80211" y="0"/>
                  </a:cubicBezTo>
                  <a:close/>
                </a:path>
              </a:pathLst>
            </a:custGeom>
            <a:solidFill>
              <a:srgbClr val="0E315D"/>
            </a:solidFill>
            <a:ln cap="sq">
              <a:noFill/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19050"/>
              <a:ext cx="2413000" cy="1123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67"/>
                </a:lnSpc>
              </a:pPr>
              <a:r>
                <a:rPr lang="en-US" sz="142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Projects</a:t>
              </a:r>
            </a:p>
          </p:txBody>
        </p:sp>
      </p:grpSp>
      <p:sp>
        <p:nvSpPr>
          <p:cNvPr name="AutoShape 25" id="25"/>
          <p:cNvSpPr/>
          <p:nvPr/>
        </p:nvSpPr>
        <p:spPr>
          <a:xfrm flipH="true">
            <a:off x="7189355" y="4667250"/>
            <a:ext cx="1954645" cy="2953689"/>
          </a:xfrm>
          <a:prstGeom prst="line">
            <a:avLst/>
          </a:prstGeom>
          <a:ln cap="rnd" w="38100">
            <a:solidFill>
              <a:srgbClr val="254A73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6" id="26"/>
          <p:cNvGrpSpPr/>
          <p:nvPr/>
        </p:nvGrpSpPr>
        <p:grpSpPr>
          <a:xfrm rot="0">
            <a:off x="3289790" y="5810250"/>
            <a:ext cx="1809750" cy="857250"/>
            <a:chOff x="0" y="0"/>
            <a:chExt cx="2413000" cy="1143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413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2413000">
                  <a:moveTo>
                    <a:pt x="80211" y="0"/>
                  </a:moveTo>
                  <a:lnTo>
                    <a:pt x="2332789" y="0"/>
                  </a:lnTo>
                  <a:cubicBezTo>
                    <a:pt x="2354063" y="0"/>
                    <a:pt x="2374465" y="8451"/>
                    <a:pt x="2389507" y="23493"/>
                  </a:cubicBezTo>
                  <a:cubicBezTo>
                    <a:pt x="2404549" y="38536"/>
                    <a:pt x="2413000" y="58937"/>
                    <a:pt x="2413000" y="80211"/>
                  </a:cubicBezTo>
                  <a:lnTo>
                    <a:pt x="2413000" y="1062789"/>
                  </a:lnTo>
                  <a:cubicBezTo>
                    <a:pt x="2413000" y="1084063"/>
                    <a:pt x="2404549" y="1104464"/>
                    <a:pt x="2389507" y="1119507"/>
                  </a:cubicBezTo>
                  <a:cubicBezTo>
                    <a:pt x="2374465" y="1134549"/>
                    <a:pt x="2354063" y="1143000"/>
                    <a:pt x="2332789" y="1143000"/>
                  </a:cubicBezTo>
                  <a:lnTo>
                    <a:pt x="80211" y="1143000"/>
                  </a:lnTo>
                  <a:cubicBezTo>
                    <a:pt x="58937" y="1143000"/>
                    <a:pt x="38536" y="1134549"/>
                    <a:pt x="23493" y="1119507"/>
                  </a:cubicBezTo>
                  <a:cubicBezTo>
                    <a:pt x="8451" y="1104464"/>
                    <a:pt x="0" y="1084063"/>
                    <a:pt x="0" y="1062789"/>
                  </a:cubicBezTo>
                  <a:lnTo>
                    <a:pt x="0" y="80211"/>
                  </a:lnTo>
                  <a:cubicBezTo>
                    <a:pt x="0" y="58937"/>
                    <a:pt x="8451" y="38536"/>
                    <a:pt x="23493" y="23493"/>
                  </a:cubicBezTo>
                  <a:cubicBezTo>
                    <a:pt x="38536" y="8451"/>
                    <a:pt x="58937" y="0"/>
                    <a:pt x="80211" y="0"/>
                  </a:cubicBezTo>
                  <a:close/>
                </a:path>
              </a:pathLst>
            </a:custGeom>
            <a:solidFill>
              <a:srgbClr val="0E315D"/>
            </a:solidFill>
            <a:ln cap="sq">
              <a:noFill/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19050"/>
              <a:ext cx="2413000" cy="1123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67"/>
                </a:lnSpc>
              </a:pPr>
              <a:r>
                <a:rPr lang="en-US" sz="142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GitHub</a:t>
              </a:r>
            </a:p>
          </p:txBody>
        </p:sp>
      </p:grpSp>
      <p:sp>
        <p:nvSpPr>
          <p:cNvPr name="AutoShape 29" id="29"/>
          <p:cNvSpPr/>
          <p:nvPr/>
        </p:nvSpPr>
        <p:spPr>
          <a:xfrm flipH="true">
            <a:off x="4194665" y="4667250"/>
            <a:ext cx="4949335" cy="1571625"/>
          </a:xfrm>
          <a:prstGeom prst="line">
            <a:avLst/>
          </a:prstGeom>
          <a:ln cap="rnd" w="38100">
            <a:solidFill>
              <a:srgbClr val="254A73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30" id="30"/>
          <p:cNvGrpSpPr/>
          <p:nvPr/>
        </p:nvGrpSpPr>
        <p:grpSpPr>
          <a:xfrm rot="0">
            <a:off x="2610949" y="3692805"/>
            <a:ext cx="1809750" cy="857250"/>
            <a:chOff x="0" y="0"/>
            <a:chExt cx="2413000" cy="11430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413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2413000">
                  <a:moveTo>
                    <a:pt x="80211" y="0"/>
                  </a:moveTo>
                  <a:lnTo>
                    <a:pt x="2332789" y="0"/>
                  </a:lnTo>
                  <a:cubicBezTo>
                    <a:pt x="2354063" y="0"/>
                    <a:pt x="2374465" y="8451"/>
                    <a:pt x="2389507" y="23493"/>
                  </a:cubicBezTo>
                  <a:cubicBezTo>
                    <a:pt x="2404549" y="38536"/>
                    <a:pt x="2413000" y="58937"/>
                    <a:pt x="2413000" y="80211"/>
                  </a:cubicBezTo>
                  <a:lnTo>
                    <a:pt x="2413000" y="1062789"/>
                  </a:lnTo>
                  <a:cubicBezTo>
                    <a:pt x="2413000" y="1084063"/>
                    <a:pt x="2404549" y="1104464"/>
                    <a:pt x="2389507" y="1119507"/>
                  </a:cubicBezTo>
                  <a:cubicBezTo>
                    <a:pt x="2374465" y="1134549"/>
                    <a:pt x="2354063" y="1143000"/>
                    <a:pt x="2332789" y="1143000"/>
                  </a:cubicBezTo>
                  <a:lnTo>
                    <a:pt x="80211" y="1143000"/>
                  </a:lnTo>
                  <a:cubicBezTo>
                    <a:pt x="58937" y="1143000"/>
                    <a:pt x="38536" y="1134549"/>
                    <a:pt x="23493" y="1119507"/>
                  </a:cubicBezTo>
                  <a:cubicBezTo>
                    <a:pt x="8451" y="1104464"/>
                    <a:pt x="0" y="1084063"/>
                    <a:pt x="0" y="1062789"/>
                  </a:cubicBezTo>
                  <a:lnTo>
                    <a:pt x="0" y="80211"/>
                  </a:lnTo>
                  <a:cubicBezTo>
                    <a:pt x="0" y="58937"/>
                    <a:pt x="8451" y="38536"/>
                    <a:pt x="23493" y="23493"/>
                  </a:cubicBezTo>
                  <a:cubicBezTo>
                    <a:pt x="38536" y="8451"/>
                    <a:pt x="58937" y="0"/>
                    <a:pt x="80211" y="0"/>
                  </a:cubicBezTo>
                  <a:close/>
                </a:path>
              </a:pathLst>
            </a:custGeom>
            <a:solidFill>
              <a:srgbClr val="0E315D"/>
            </a:solidFill>
            <a:ln cap="sq">
              <a:noFill/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19050"/>
              <a:ext cx="2413000" cy="1123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67"/>
                </a:lnSpc>
              </a:pPr>
              <a:r>
                <a:rPr lang="en-US" sz="142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Portfolios</a:t>
              </a:r>
            </a:p>
          </p:txBody>
        </p:sp>
      </p:grpSp>
      <p:sp>
        <p:nvSpPr>
          <p:cNvPr name="AutoShape 33" id="33"/>
          <p:cNvSpPr/>
          <p:nvPr/>
        </p:nvSpPr>
        <p:spPr>
          <a:xfrm flipH="true" flipV="true">
            <a:off x="3515824" y="4121430"/>
            <a:ext cx="5628176" cy="545820"/>
          </a:xfrm>
          <a:prstGeom prst="line">
            <a:avLst/>
          </a:prstGeom>
          <a:ln cap="rnd" w="38100">
            <a:solidFill>
              <a:srgbClr val="254A73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34" id="34"/>
          <p:cNvGrpSpPr/>
          <p:nvPr/>
        </p:nvGrpSpPr>
        <p:grpSpPr>
          <a:xfrm rot="0">
            <a:off x="4565594" y="1830756"/>
            <a:ext cx="1809750" cy="857250"/>
            <a:chOff x="0" y="0"/>
            <a:chExt cx="2413000" cy="1143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413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2413000">
                  <a:moveTo>
                    <a:pt x="80211" y="0"/>
                  </a:moveTo>
                  <a:lnTo>
                    <a:pt x="2332789" y="0"/>
                  </a:lnTo>
                  <a:cubicBezTo>
                    <a:pt x="2354063" y="0"/>
                    <a:pt x="2374465" y="8451"/>
                    <a:pt x="2389507" y="23493"/>
                  </a:cubicBezTo>
                  <a:cubicBezTo>
                    <a:pt x="2404549" y="38536"/>
                    <a:pt x="2413000" y="58937"/>
                    <a:pt x="2413000" y="80211"/>
                  </a:cubicBezTo>
                  <a:lnTo>
                    <a:pt x="2413000" y="1062789"/>
                  </a:lnTo>
                  <a:cubicBezTo>
                    <a:pt x="2413000" y="1084063"/>
                    <a:pt x="2404549" y="1104464"/>
                    <a:pt x="2389507" y="1119507"/>
                  </a:cubicBezTo>
                  <a:cubicBezTo>
                    <a:pt x="2374465" y="1134549"/>
                    <a:pt x="2354063" y="1143000"/>
                    <a:pt x="2332789" y="1143000"/>
                  </a:cubicBezTo>
                  <a:lnTo>
                    <a:pt x="80211" y="1143000"/>
                  </a:lnTo>
                  <a:cubicBezTo>
                    <a:pt x="58937" y="1143000"/>
                    <a:pt x="38536" y="1134549"/>
                    <a:pt x="23493" y="1119507"/>
                  </a:cubicBezTo>
                  <a:cubicBezTo>
                    <a:pt x="8451" y="1104464"/>
                    <a:pt x="0" y="1084063"/>
                    <a:pt x="0" y="1062789"/>
                  </a:cubicBezTo>
                  <a:lnTo>
                    <a:pt x="0" y="80211"/>
                  </a:lnTo>
                  <a:cubicBezTo>
                    <a:pt x="0" y="58937"/>
                    <a:pt x="8451" y="38536"/>
                    <a:pt x="23493" y="23493"/>
                  </a:cubicBezTo>
                  <a:cubicBezTo>
                    <a:pt x="38536" y="8451"/>
                    <a:pt x="58937" y="0"/>
                    <a:pt x="80211" y="0"/>
                  </a:cubicBezTo>
                  <a:close/>
                </a:path>
              </a:pathLst>
            </a:custGeom>
            <a:solidFill>
              <a:srgbClr val="0E315D"/>
            </a:solidFill>
            <a:ln cap="sq">
              <a:noFill/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19050"/>
              <a:ext cx="2413000" cy="1123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67"/>
                </a:lnSpc>
              </a:pPr>
              <a:r>
                <a:rPr lang="en-US" sz="142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Internships</a:t>
              </a:r>
            </a:p>
          </p:txBody>
        </p:sp>
      </p:grpSp>
      <p:sp>
        <p:nvSpPr>
          <p:cNvPr name="AutoShape 37" id="37"/>
          <p:cNvSpPr/>
          <p:nvPr/>
        </p:nvSpPr>
        <p:spPr>
          <a:xfrm flipH="true" flipV="true">
            <a:off x="5470469" y="2259381"/>
            <a:ext cx="3673531" cy="2407869"/>
          </a:xfrm>
          <a:prstGeom prst="line">
            <a:avLst/>
          </a:prstGeom>
          <a:ln cap="rnd" w="38100">
            <a:solidFill>
              <a:srgbClr val="254A73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38" id="38"/>
          <p:cNvGrpSpPr/>
          <p:nvPr/>
        </p:nvGrpSpPr>
        <p:grpSpPr>
          <a:xfrm rot="0">
            <a:off x="7239000" y="2762250"/>
            <a:ext cx="3810000" cy="3810000"/>
            <a:chOff x="0" y="0"/>
            <a:chExt cx="5080000" cy="50800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080000" cy="5080000"/>
            </a:xfrm>
            <a:custGeom>
              <a:avLst/>
              <a:gdLst/>
              <a:ahLst/>
              <a:cxnLst/>
              <a:rect r="r" b="b" t="t" l="l"/>
              <a:pathLst>
                <a:path h="5080000" w="5080000">
                  <a:moveTo>
                    <a:pt x="2540000" y="0"/>
                  </a:moveTo>
                  <a:cubicBezTo>
                    <a:pt x="3942803" y="0"/>
                    <a:pt x="5080000" y="1137197"/>
                    <a:pt x="5080000" y="2540000"/>
                  </a:cubicBezTo>
                  <a:cubicBezTo>
                    <a:pt x="5080000" y="3942803"/>
                    <a:pt x="3942803" y="5080000"/>
                    <a:pt x="2540000" y="5080000"/>
                  </a:cubicBezTo>
                  <a:cubicBezTo>
                    <a:pt x="1137197" y="5080000"/>
                    <a:pt x="0" y="3942803"/>
                    <a:pt x="0" y="2540000"/>
                  </a:cubicBezTo>
                  <a:cubicBezTo>
                    <a:pt x="0" y="1137197"/>
                    <a:pt x="1137197" y="0"/>
                    <a:pt x="2540000" y="0"/>
                  </a:cubicBezTo>
                  <a:close/>
                </a:path>
              </a:pathLst>
            </a:custGeom>
            <a:solidFill>
              <a:srgbClr val="2F7DF6"/>
            </a:solidFill>
            <a:ln cap="sq">
              <a:noFill/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-66675"/>
              <a:ext cx="5080000" cy="5146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830"/>
                </a:lnSpc>
              </a:pPr>
              <a:r>
                <a:rPr lang="en-US" sz="345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PROJECTS</a:t>
              </a:r>
            </a:p>
            <a:p>
              <a:pPr algn="ctr">
                <a:lnSpc>
                  <a:spcPts val="4830"/>
                </a:lnSpc>
              </a:pPr>
              <a:r>
                <a:rPr lang="en-US" sz="345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FORGE</a:t>
              </a: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2857500" y="7800975"/>
            <a:ext cx="12573000" cy="441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7"/>
              </a:lnSpc>
            </a:pPr>
            <a:r>
              <a:rPr lang="en-US" sz="31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From project discovery to career development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3810000" y="8448675"/>
            <a:ext cx="10668000" cy="307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31"/>
              </a:lnSpc>
            </a:pPr>
            <a:r>
              <a:rPr lang="en-US" sz="1875">
                <a:solidFill>
                  <a:srgbClr val="B9C8DB"/>
                </a:solidFill>
                <a:latin typeface="Open Sans"/>
                <a:ea typeface="Open Sans"/>
                <a:cs typeface="Open Sans"/>
                <a:sym typeface="Open Sans"/>
              </a:rPr>
              <a:t>Helping engineering students turn project ideas into real skills and career evidence.</a:t>
            </a:r>
          </a:p>
        </p:txBody>
      </p:sp>
      <p:sp>
        <p:nvSpPr>
          <p:cNvPr name="AutoShape 43" id="43"/>
          <p:cNvSpPr/>
          <p:nvPr/>
        </p:nvSpPr>
        <p:spPr>
          <a:xfrm>
            <a:off x="857250" y="9601200"/>
            <a:ext cx="16573500" cy="0"/>
          </a:xfrm>
          <a:prstGeom prst="line">
            <a:avLst/>
          </a:prstGeom>
          <a:ln cap="flat" w="9525">
            <a:solidFill>
              <a:srgbClr val="26364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4" id="44"/>
          <p:cNvSpPr txBox="true"/>
          <p:nvPr/>
        </p:nvSpPr>
        <p:spPr>
          <a:xfrm rot="0">
            <a:off x="857250" y="9772650"/>
            <a:ext cx="2857500" cy="196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PROJECTSFORGE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6764000" y="9772650"/>
            <a:ext cx="666750" cy="196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DAHW4Gfze1U</dc:identifier>
  <dcterms:modified xsi:type="dcterms:W3CDTF">2011-08-01T06:04:30Z</dcterms:modified>
  <cp:revision>1</cp:revision>
  <dc:title>ProjectsForge Startup Pitch</dc:title>
</cp:coreProperties>
</file>